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83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126480"/>
            <a:ext cx="51193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Release Update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2534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Covered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294640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UI Architecture Overhaul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3275584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Functional Improvements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360476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Quality &amp; Prevention Gates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54880" y="3933952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Security Hardening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TraceLM Engineering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183112" y="914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83112" y="91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03504"/>
            <a:ext cx="12188952" cy="384048"/>
          </a:xfrm>
          <a:prstGeom prst="rect">
            <a:avLst/>
          </a:prstGeom>
          <a:solidFill>
            <a:srgbClr val="E4EEF8"/>
          </a:solidFill>
          <a:ln w="12700">
            <a:solidFill>
              <a:srgbClr val="E4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03504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and outcomes delivered in TraceLM v0.0.5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v0.0.5  |  CONFIDENTIAL  |  June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AAAAAA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97280"/>
            <a:ext cx="21031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188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" y="1851660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Tab Modules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1 monolith)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0972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2700000" algn="bl" rotWithShape="0">
              <a:srgbClr val="AAAAAA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097280"/>
            <a:ext cx="21031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188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60320" y="1851660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(13 test suites)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2700000" algn="bl" rotWithShape="0">
              <a:srgbClr val="AAAAAA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97280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46320" y="1851660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Gaps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10972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2700000" algn="bl" rotWithShape="0">
              <a:srgbClr val="AAAAAA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0" y="1097280"/>
            <a:ext cx="210312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188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32320" y="1851660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Added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18320" y="10972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AAAAAA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418320" y="1097280"/>
            <a:ext cx="2468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1188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 KB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418320" y="1851660"/>
            <a:ext cx="246888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Bundle Size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(-22 KB from prior build)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743200"/>
            <a:ext cx="68580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743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Status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017520"/>
            <a:ext cx="6858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3017520"/>
            <a:ext cx="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01752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UI Architecture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26080" y="30175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App.tsx → 6 tabs, 4 components, 1 hook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310896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31089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438144"/>
            <a:ext cx="685800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3438144"/>
            <a:ext cx="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43814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UI Improvements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26080" y="343814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StepStepper, collapsible cards, priority cards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3529584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35295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858768"/>
            <a:ext cx="6858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0" y="3858768"/>
            <a:ext cx="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8587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Productivity Polish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26080" y="38587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filter, copy buttons, tab badges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223760" y="3950208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39502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279392"/>
            <a:ext cx="685800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4279392"/>
            <a:ext cx="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2793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Gap Fixes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926080" y="427939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Scenarios, staged files, export filter, add/delete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23760" y="4370832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43708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4700016"/>
            <a:ext cx="6858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32320" y="4700016"/>
            <a:ext cx="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70001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Strategy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926080" y="470001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+ TypeCheck in build + 73 smoke tests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223760" y="4791456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2376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74320" y="5120640"/>
            <a:ext cx="685800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32320" y="5120640"/>
            <a:ext cx="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512064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Hardening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926080" y="512064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nonce + batch config clamping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223760" y="521208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23760" y="52120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Architecture Overhaul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183112" y="914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83112" y="91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03504"/>
            <a:ext cx="12188952" cy="384048"/>
          </a:xfrm>
          <a:prstGeom prst="rect">
            <a:avLst/>
          </a:prstGeom>
          <a:solidFill>
            <a:srgbClr val="E4EEF8"/>
          </a:solidFill>
          <a:ln w="12700">
            <a:solidFill>
              <a:srgbClr val="E4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03504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1–3: From monolithic 1,115-line component to a clean, modular architecture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v0.0.5  |  CONFIDENTIAL  |  June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3742944" cy="5120640"/>
          </a:xfrm>
          <a:prstGeom prst="roundRect">
            <a:avLst>
              <a:gd name="adj" fmla="val 2443"/>
            </a:avLst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188720"/>
            <a:ext cx="374294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188720"/>
            <a:ext cx="3742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Decomposition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73736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645920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App.tsx: 1,115 → 290 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212140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029968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tab components (memo)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250545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414016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shared components (memo)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28895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798064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message hook (extracted)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327355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182112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types.ts + utils.ts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365760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566160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stable callbacks via ref pattern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54424" y="1188720"/>
            <a:ext cx="3742944" cy="5120640"/>
          </a:xfrm>
          <a:prstGeom prst="roundRect">
            <a:avLst>
              <a:gd name="adj" fmla="val 2443"/>
            </a:avLst>
          </a:prstGeom>
          <a:solidFill>
            <a:srgbClr val="E4EEF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54424" y="1188720"/>
            <a:ext cx="3742944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4424" y="1188720"/>
            <a:ext cx="3742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UI Improvements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19016" y="173736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47032" y="1645920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StepStepper: 4-step pipeline indicator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19016" y="2121408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7032" y="2029968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All-green completion flash (2s)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19016" y="2505456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47032" y="2414016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Collapsible enhancement cards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19016" y="2889504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7032" y="2798064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count badges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19016" y="3273552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47032" y="3182112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priority cards (ROI)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19016" y="365760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3566160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candidates (dashed style)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34528" y="1188720"/>
            <a:ext cx="3742944" cy="5120640"/>
          </a:xfrm>
          <a:prstGeom prst="roundRect">
            <a:avLst>
              <a:gd name="adj" fmla="val 2443"/>
            </a:avLst>
          </a:prstGeom>
          <a:solidFill>
            <a:srgbClr val="FEF3E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34528" y="1188720"/>
            <a:ext cx="3742944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34528" y="1188720"/>
            <a:ext cx="3742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Productivity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99120" y="1737360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7136" y="1645920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filter chips (Unit/API/UI)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99120" y="2121408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7136" y="2029968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guard: min 1 layer active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199120" y="2505456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7136" y="2414016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always respects filter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99120" y="2889504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7136" y="2798064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Clipboard copy on Gherkin blocks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99120" y="3273552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27136" y="3182112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on enhancement card items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99120" y="3657600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7136" y="3566160"/>
            <a:ext cx="337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count badges (auto-hide at 0)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Improvements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183112" y="914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83112" y="91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03504"/>
            <a:ext cx="12188952" cy="384048"/>
          </a:xfrm>
          <a:prstGeom prst="rect">
            <a:avLst/>
          </a:prstGeom>
          <a:solidFill>
            <a:srgbClr val="E4EEF8"/>
          </a:solidFill>
          <a:ln w="12700">
            <a:solidFill>
              <a:srgbClr val="E4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03504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gaps identified and resolved — every feature now works as intended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v0.0.5  |  CONFIDENTIAL  |  June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5728716" cy="258318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16128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18872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Respects Layer Filter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5408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874520"/>
            <a:ext cx="54086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.feature and CSV now export only the visible test cases — not everything.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13432"/>
            <a:ext cx="5408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496312"/>
            <a:ext cx="5408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filtered to "Unit" only but their export contained all 47 test cases.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5916" y="1051560"/>
            <a:ext cx="5728716" cy="258318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23076" y="1161288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3076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17436" y="118872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File Visibility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8796" y="1691640"/>
            <a:ext cx="5408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68796" y="1874520"/>
            <a:ext cx="54086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selected for upload are now shown as chips before parsing begins.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8796" y="2313432"/>
            <a:ext cx="5408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68796" y="2496312"/>
            <a:ext cx="5408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"Parse Selected Files" button was enabled with nothing visible — confusing UX.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71900"/>
            <a:ext cx="5728716" cy="258318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881628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8816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90906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Scenarios: Add &amp; Delete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411980"/>
            <a:ext cx="5408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594860"/>
            <a:ext cx="54086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add a blank scenario or delete an existing one directly in the UI.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5033772"/>
            <a:ext cx="5408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216652"/>
            <a:ext cx="5408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scenarios required regeneration to add a new entry — no manual option.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5916" y="3771900"/>
            <a:ext cx="5728716" cy="258318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23076" y="3881628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3076" y="38816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17436" y="390906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Scenarios: JSON &amp; CSV Export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68796" y="4411980"/>
            <a:ext cx="5408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68796" y="4594860"/>
            <a:ext cx="54086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all test scenarios as structured JSON or tabular CSV with one click.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68796" y="5033772"/>
            <a:ext cx="54086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68796" y="5216652"/>
            <a:ext cx="5408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had no export path — data was stuck inside the extension.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Prevention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183112" y="914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83112" y="91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03504"/>
            <a:ext cx="12188952" cy="384048"/>
          </a:xfrm>
          <a:prstGeom prst="rect">
            <a:avLst/>
          </a:prstGeom>
          <a:solidFill>
            <a:srgbClr val="E4EEF8"/>
          </a:solidFill>
          <a:ln w="12700">
            <a:solidFill>
              <a:srgbClr val="E4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03504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defence added after a runtime prop-reference bug reached production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v0.0.5  |  CONFIDENTIAL  |  June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11640312" cy="685800"/>
          </a:xfrm>
          <a:prstGeom prst="roundRect">
            <a:avLst>
              <a:gd name="adj" fmla="val 13333"/>
            </a:avLst>
          </a:prstGeom>
          <a:solidFill>
            <a:srgbClr val="FEF3E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8813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Root Cause (uploadDrafts runtime error)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362456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declared in TypeScript type but missing from destructure. Vite uses esbuild (transpile-only) — tsc never ran, ESLint had no rule for it, no render tests existed. Bug reached runtime silently.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828800"/>
            <a:ext cx="3788664" cy="466344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28800"/>
            <a:ext cx="3788664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28800"/>
            <a:ext cx="3788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1993392"/>
            <a:ext cx="3788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ESLint: no-unused-vars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244144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33172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props declared in type but not used in body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294436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3464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Configured: vars: "all", args: "after-used"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344728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3756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build on violation (not just warning)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" y="6053328"/>
            <a:ext cx="3459480" cy="27432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6053328"/>
            <a:ext cx="345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Zero violations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00144" y="1828800"/>
            <a:ext cx="3788664" cy="466344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0144" y="1828800"/>
            <a:ext cx="3788664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0144" y="1828800"/>
            <a:ext cx="3788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00144" y="1993392"/>
            <a:ext cx="3788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in Every Build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64736" y="2441448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2752" y="233172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 --noEmit added to build:parallel pipeline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64736" y="2944368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2752" y="283464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both extension + webview on every npm run build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64736" y="3447288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2752" y="333756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uploadDrafts bug: would block build with TS2304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64736" y="6053328"/>
            <a:ext cx="3459480" cy="27432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64736" y="6053328"/>
            <a:ext cx="345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 build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25968" y="1828800"/>
            <a:ext cx="3788664" cy="466344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25968" y="1828800"/>
            <a:ext cx="3788664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25968" y="1828800"/>
            <a:ext cx="3788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25968" y="1993392"/>
            <a:ext cx="3788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Smoke Tests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90560" y="2441448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8576" y="233172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suites for React components (jsdom environment)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90560" y="2944368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8576" y="283464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RequirementsTab test: exercises uploadDrafts prop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90560" y="3447288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8576" y="3337560"/>
            <a:ext cx="3377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existing extension suites (Jest, node environment)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90560" y="6053328"/>
            <a:ext cx="3459480" cy="27432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0560" y="6053328"/>
            <a:ext cx="345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73 tests pass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Technical Hardening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183112" y="914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83112" y="91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03504"/>
            <a:ext cx="12188952" cy="384048"/>
          </a:xfrm>
          <a:prstGeom prst="rect">
            <a:avLst/>
          </a:prstGeom>
          <a:solidFill>
            <a:srgbClr val="E4EEF8"/>
          </a:solidFill>
          <a:ln w="12700">
            <a:solidFill>
              <a:srgbClr val="E4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03504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nonce upgrade and runtime input clamping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v0.0.5  |  CONFIDENTIAL  |  June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5486400" cy="53035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97280"/>
            <a:ext cx="54864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097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Nonce Upgrade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1554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EF3E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47088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Math.random().toString(36).substr(2,16)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Not cryptographically secure (PRNG)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52928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crypto.randomBytes(16).toString('hex')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128-bit CSPRNG — unpredictable nonce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addressed: a predictable nonce could be guessed to bypass the Content Security Policy, enabling script injection in the webview.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5806440" cy="53035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097280"/>
            <a:ext cx="58064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097280"/>
            <a:ext cx="5806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Config Runtime Clamping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53619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User-supplied Xray batch settings are now validated and clamped at runtime before use, preventing accidental or crafted misconfiguration.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194560"/>
            <a:ext cx="1371600" cy="2743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2194560"/>
            <a:ext cx="914400" cy="2743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2194560"/>
            <a:ext cx="914400" cy="2743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09760" y="2194560"/>
            <a:ext cx="914400" cy="2743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2468880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2468880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xrayBatchSize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2468880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54112" y="2468880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95360" y="2468880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68512" y="2468880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09760" y="2468880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82912" y="2468880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2907792"/>
            <a:ext cx="137160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2907792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xrayBatchDelayMs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80960" y="2907792"/>
            <a:ext cx="91440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54112" y="2907792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95360" y="2907792"/>
            <a:ext cx="91440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68512" y="2907792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509760" y="2907792"/>
            <a:ext cx="914400" cy="420624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82912" y="2907792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ms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3346704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3346704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xrayMaxRetries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680960" y="3346704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54112" y="3346704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595360" y="3346704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68512" y="3346704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509760" y="3346704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82912" y="3346704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09360" y="3913632"/>
            <a:ext cx="5212080" cy="329184"/>
          </a:xfrm>
          <a:prstGeom prst="roundRect">
            <a:avLst>
              <a:gd name="adj" fmla="val 16667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391363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Invalid values are silently corrected at runtime — no crashes, no unexpected API calls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the Business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183112" y="914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83112" y="91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03504"/>
            <a:ext cx="12188952" cy="384048"/>
          </a:xfrm>
          <a:prstGeom prst="rect">
            <a:avLst/>
          </a:prstGeom>
          <a:solidFill>
            <a:srgbClr val="E4EEF8"/>
          </a:solidFill>
          <a:ln w="12700">
            <a:solidFill>
              <a:srgbClr val="E4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03504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aligned to delivery quality, team velocity, and operational confidence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v0.0.5  |  CONFIDENTIAL  |  June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5728716" cy="2628900"/>
          </a:xfrm>
          <a:prstGeom prst="roundRect">
            <a:avLst>
              <a:gd name="adj" fmla="val 3478"/>
            </a:avLst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143000"/>
            <a:ext cx="5454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Faster Delivery Cycles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" y="171907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627632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codebase: features added in isolation without risking regressions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219456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103120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automated tests catch breaks before they reach QA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" y="267004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578608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build gate prevents silent prop bugs from reaching users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5916" y="1051560"/>
            <a:ext cx="5728716" cy="2628900"/>
          </a:xfrm>
          <a:prstGeom prst="roundRect">
            <a:avLst>
              <a:gd name="adj" fmla="val 3478"/>
            </a:avLst>
          </a:prstGeom>
          <a:solidFill>
            <a:srgbClr val="E4EEF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3076" y="1143000"/>
            <a:ext cx="5454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Accurate Test Exports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87084" y="1719072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4244" y="1627632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now reflects exactly what the user sees — no hidden extras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87084" y="219456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4244" y="2103120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file chips confirm files before parsing begins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87084" y="2670048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4244" y="2578608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can be added, deleted, and exported without regeneration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817620"/>
            <a:ext cx="5728716" cy="2628900"/>
          </a:xfrm>
          <a:prstGeom prst="roundRect">
            <a:avLst>
              <a:gd name="adj" fmla="val 3478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09060"/>
            <a:ext cx="5454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Security Confidence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4485132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4393692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nonce eliminates CSP bypass risk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" y="496062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4869180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config clamping prevents out-of-bounds API calls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" y="5436108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5344668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/TraceAudit skill gives on-demand security + type checks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85916" y="3817620"/>
            <a:ext cx="5728716" cy="2628900"/>
          </a:xfrm>
          <a:prstGeom prst="roundRect">
            <a:avLst>
              <a:gd name="adj" fmla="val 3478"/>
            </a:avLst>
          </a:prstGeom>
          <a:solidFill>
            <a:srgbClr val="FEF3E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3076" y="3909060"/>
            <a:ext cx="5454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Operational Visibility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87084" y="4485132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4244" y="4393692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StepStepper shows real-time pipeline progress (4 steps)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87084" y="4960620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4244" y="4869180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count badges surface data volume at a glance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87084" y="5436108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4244" y="5344668"/>
            <a:ext cx="52257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filter lets teams focus on the test tier that matters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183112" y="914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83112" y="91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03504"/>
            <a:ext cx="12188952" cy="384048"/>
          </a:xfrm>
          <a:prstGeom prst="rect">
            <a:avLst/>
          </a:prstGeom>
          <a:solidFill>
            <a:srgbClr val="E4EEF8"/>
          </a:solidFill>
          <a:ln w="12700">
            <a:solidFill>
              <a:srgbClr val="E4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03504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priorities following the v0.0.5 release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v0.0.5  |  CONFIDENTIAL  |  June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3770376" cy="5422392"/>
          </a:xfrm>
          <a:prstGeom prst="roundRect">
            <a:avLst>
              <a:gd name="adj" fmla="val 2425"/>
            </a:avLst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51560"/>
            <a:ext cx="3770376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051560"/>
            <a:ext cx="3770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150876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58191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tracelm-0.0.5.vsix via Extensions → Install from VSIX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7919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a live Jira/Xray project to confirm end-to-end push 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70332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77647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/TraceAudit after installation to baseline security posture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9288" y="1051560"/>
            <a:ext cx="3770376" cy="5422392"/>
          </a:xfrm>
          <a:prstGeom prst="roundRect">
            <a:avLst>
              <a:gd name="adj" fmla="val 2425"/>
            </a:avLst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9288" y="1051560"/>
            <a:ext cx="3770376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9288" y="1051560"/>
            <a:ext cx="3770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(v0.0.6)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6448" y="150876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0456" y="158191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Jira connection test button (validates credentials in real time)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6448" y="260604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0456" y="267919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test coverage to 40%+ with integration-level tests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46448" y="370332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0456" y="377647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Xray test-run push (push test execution results, not just definitions)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44256" y="1051560"/>
            <a:ext cx="3770376" cy="5422392"/>
          </a:xfrm>
          <a:prstGeom prst="roundRect">
            <a:avLst>
              <a:gd name="adj" fmla="val 2425"/>
            </a:avLst>
          </a:prstGeom>
          <a:solidFill>
            <a:srgbClr val="E4EEF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44256" y="1051560"/>
            <a:ext cx="3770376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4256" y="1051560"/>
            <a:ext cx="3770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81416" y="150876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5424" y="158191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parsing upgrade (replace pdf-parse to resolve dev vulnerability)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81416" y="260604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5424" y="267919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 Jira support (switch project key from a dropdown)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81416" y="3703320"/>
            <a:ext cx="349605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45424" y="3776472"/>
            <a:ext cx="336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scenario editing (in-place LLM rewrite of a single scenario)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28016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v0.0.5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&amp; 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66160" y="4297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Modules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4297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Fixed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869680" y="4297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Layers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502920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TraceLM Engineering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1141</Words>
  <Application>Microsoft Office PowerPoint</Application>
  <PresentationFormat>Widescreen</PresentationFormat>
  <Paragraphs>213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Ariel Cesar Abaoag</cp:lastModifiedBy>
  <cp:revision>2</cp:revision>
  <dcterms:created xsi:type="dcterms:W3CDTF">2026-06-20T13:23:44Z</dcterms:created>
  <dcterms:modified xsi:type="dcterms:W3CDTF">2026-06-20T13:27:26Z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b519c6-9f13-416b-ad6c-a79673c31c3f_Enabled">
    <vt:lpwstr>true</vt:lpwstr>
  </property>
  <property fmtid="{D5CDD505-2E9C-101B-9397-08002B2CF9AE}" pid="3" name="MSIP_Label_1ab519c6-9f13-416b-ad6c-a79673c31c3f_SetDate">
    <vt:lpwstr>2026-06-20T13:25:58Z</vt:lpwstr>
  </property>
  <property fmtid="{D5CDD505-2E9C-101B-9397-08002B2CF9AE}" pid="4" name="MSIP_Label_1ab519c6-9f13-416b-ad6c-a79673c31c3f_Method">
    <vt:lpwstr>Privileged</vt:lpwstr>
  </property>
  <property fmtid="{D5CDD505-2E9C-101B-9397-08002B2CF9AE}" pid="5" name="MSIP_Label_1ab519c6-9f13-416b-ad6c-a79673c31c3f_Name">
    <vt:lpwstr>Company Confidential External Use</vt:lpwstr>
  </property>
  <property fmtid="{D5CDD505-2E9C-101B-9397-08002B2CF9AE}" pid="6" name="MSIP_Label_1ab519c6-9f13-416b-ad6c-a79673c31c3f_SiteId">
    <vt:lpwstr>edf442f5-b994-4c86-a131-b42b03a16c95</vt:lpwstr>
  </property>
  <property fmtid="{D5CDD505-2E9C-101B-9397-08002B2CF9AE}" pid="7" name="MSIP_Label_1ab519c6-9f13-416b-ad6c-a79673c31c3f_ActionId">
    <vt:lpwstr>e70657c2-16c2-4d72-957a-92024287fa4f</vt:lpwstr>
  </property>
  <property fmtid="{D5CDD505-2E9C-101B-9397-08002B2CF9AE}" pid="8" name="MSIP_Label_1ab519c6-9f13-416b-ad6c-a79673c31c3f_ContentBits">
    <vt:lpwstr>0</vt:lpwstr>
  </property>
</Properties>
</file>