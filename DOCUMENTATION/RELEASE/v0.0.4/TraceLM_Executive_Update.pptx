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TraceLM Executive Project Update. This deck covers current status, business impact, risks, and roadmap. Version 0.0.4 has been released and merged to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time cost of manual test writing. The traceability gap is a compliance risk in regulated industries. Highlight that TraceLM does not require leaving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TraceLM sits inside VS Code — the tool every developer already has open. It chains 6 capabilities in one panel. Stress the 'single workflow'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 All button chains Enhancement → Scenarios → Test Cases → Automation in sequence. Each step feeds its output directly into the next. Progress is shown live: '(1/4)... (2/4)...'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ROI story: time saved per sprint multiplied by team size. Even two hours saved per QA engineer per sprint computes quickly. The deduplication story resonates with ops managers who've dealt with Xray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v0.0.4 was delivered via PR #6 which passed all automated CI checks before merge. The sequential generation fix was the most impactful — the prior version had a stale state bug that caused cascading generation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TraceLM is LLM-agnostic by design. Teams can switch providers based on cost, performance, or compliance without any code changes. Jira uses Basic Auth; Xray uses OAuth 2.0 client credentials — a fresh token per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story is important for enterprise and regulated environments. Key message: credentials never leave the developer's local OS keychain. No TraceLM server ever receives or stores API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enforces zero-warning lint and strict TypeScript on every PR. No code reaches main without passing all gates. The release workflow additionally packages and publishes the VSIX automatically on tag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risk profile is low. No production blockers. The medium-rated item (fixed prompts) is a convenience gap, not a functionality gap. All mitigations are documented and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action for any team member with VS Code: pull the latest main branch, press F5, and run the full Generate All workflow. This is the fastest way to see the v0.0.4 changes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TraceLM is built with sustainable AI consumption as a design principle, not an afterthought. Every architectural decision — fingerprint dedup, LLM caching, validation gates, selective context — reduces token spend and compute load. This aligns our AI journey with responsible and cost-efficient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call to action: any stakeholder who wants a live demo can schedule a session. The extension installs from a single VSIX file — no server, no deployment, no infrastructure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583680" y="-1097280"/>
            <a:ext cx="5029200" cy="5029200"/>
          </a:xfrm>
          <a:prstGeom prst="ellipse">
            <a:avLst/>
          </a:prstGeom>
          <a:solidFill>
            <a:srgbClr val="028090">
              <a:alpha val="18000"/>
            </a:srgbClr>
          </a:solidFill>
          <a:ln w="12700">
            <a:solidFill>
              <a:srgbClr val="028090">
                <a:alpha val="18000"/>
              </a:srgbClr>
            </a:solidFill>
            <a:prstDash val="solid"/>
          </a:ln>
        </p:spPr>
      </p:sp>
      <p:sp>
        <p:nvSpPr>
          <p:cNvPr id="3" name="Shape 1"/>
          <p:cNvSpPr/>
          <p:nvPr/>
        </p:nvSpPr>
        <p:spPr>
          <a:xfrm>
            <a:off x="7772400" y="2560320"/>
            <a:ext cx="2743200" cy="2743200"/>
          </a:xfrm>
          <a:prstGeom prst="ellipse">
            <a:avLst/>
          </a:prstGeom>
          <a:solidFill>
            <a:srgbClr val="02A8BC">
              <a:alpha val="12000"/>
            </a:srgbClr>
          </a:solidFill>
          <a:ln w="12700">
            <a:solidFill>
              <a:srgbClr val="02A8BC">
                <a:alpha val="12000"/>
              </a:srgbClr>
            </a:solidFill>
            <a:prstDash val="solid"/>
          </a:ln>
        </p:spPr>
      </p:sp>
      <p:sp>
        <p:nvSpPr>
          <p:cNvPr id="4" name="Shape 2"/>
          <p:cNvSpPr/>
          <p:nvPr/>
        </p:nvSpPr>
        <p:spPr>
          <a:xfrm>
            <a:off x="548640" y="1325880"/>
            <a:ext cx="1371600" cy="256032"/>
          </a:xfrm>
          <a:prstGeom prst="roundRect">
            <a:avLst>
              <a:gd name="adj" fmla="val 21429"/>
            </a:avLst>
          </a:prstGeom>
          <a:solidFill>
            <a:srgbClr val="028090"/>
          </a:solidFill>
          <a:ln w="12700">
            <a:solidFill>
              <a:srgbClr val="028090"/>
            </a:solidFill>
            <a:prstDash val="solid"/>
          </a:ln>
        </p:spPr>
      </p:sp>
      <p:sp>
        <p:nvSpPr>
          <p:cNvPr id="5" name="Text 3"/>
          <p:cNvSpPr/>
          <p:nvPr/>
        </p:nvSpPr>
        <p:spPr>
          <a:xfrm>
            <a:off x="548640" y="132588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EXECUTIVE UPDATE</a:t>
            </a:r>
            <a:endParaRPr lang="en-US" sz="800" dirty="0"/>
          </a:p>
        </p:txBody>
      </p:sp>
      <p:sp>
        <p:nvSpPr>
          <p:cNvPr id="6" name="Text 4"/>
          <p:cNvSpPr/>
          <p:nvPr/>
        </p:nvSpPr>
        <p:spPr>
          <a:xfrm>
            <a:off x="548640" y="1691640"/>
            <a:ext cx="7772400" cy="1005840"/>
          </a:xfrm>
          <a:prstGeom prst="rect">
            <a:avLst/>
          </a:prstGeom>
          <a:noFill/>
          <a:ln/>
        </p:spPr>
        <p:txBody>
          <a:bodyPr wrap="square"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TraceLM</a:t>
            </a:r>
            <a:endParaRPr lang="en-US" sz="6400" dirty="0"/>
          </a:p>
        </p:txBody>
      </p:sp>
      <p:sp>
        <p:nvSpPr>
          <p:cNvPr id="7" name="Text 5"/>
          <p:cNvSpPr/>
          <p:nvPr/>
        </p:nvSpPr>
        <p:spPr>
          <a:xfrm>
            <a:off x="548640" y="2651760"/>
            <a:ext cx="7315200" cy="457200"/>
          </a:xfrm>
          <a:prstGeom prst="rect">
            <a:avLst/>
          </a:prstGeom>
          <a:noFill/>
          <a:ln/>
        </p:spPr>
        <p:txBody>
          <a:bodyPr wrap="square" rtlCol="0" anchor="ctr"/>
          <a:lstStyle/>
          <a:p>
            <a:pPr indent="0" marL="0">
              <a:buNone/>
            </a:pPr>
            <a:r>
              <a:rPr lang="en-US" sz="1800" i="1" dirty="0">
                <a:solidFill>
                  <a:srgbClr val="A0BDD8"/>
                </a:solidFill>
                <a:latin typeface="Arial" pitchFamily="34" charset="0"/>
                <a:ea typeface="Arial" pitchFamily="34" charset="-122"/>
                <a:cs typeface="Arial" pitchFamily="34" charset="-120"/>
              </a:rPr>
              <a:t>AI-Powered Test Generation &amp; Jira/Xray Automation</a:t>
            </a:r>
            <a:endParaRPr lang="en-US" sz="1800" dirty="0"/>
          </a:p>
        </p:txBody>
      </p:sp>
      <p:sp>
        <p:nvSpPr>
          <p:cNvPr id="8" name="Shape 6"/>
          <p:cNvSpPr/>
          <p:nvPr/>
        </p:nvSpPr>
        <p:spPr>
          <a:xfrm>
            <a:off x="548640" y="3246120"/>
            <a:ext cx="4114800" cy="0"/>
          </a:xfrm>
          <a:prstGeom prst="line">
            <a:avLst/>
          </a:prstGeom>
          <a:noFill/>
          <a:ln w="25400">
            <a:solidFill>
              <a:srgbClr val="028090"/>
            </a:solidFill>
            <a:prstDash val="solid"/>
          </a:ln>
        </p:spPr>
      </p:sp>
      <p:sp>
        <p:nvSpPr>
          <p:cNvPr id="9" name="Text 7"/>
          <p:cNvSpPr/>
          <p:nvPr/>
        </p:nvSpPr>
        <p:spPr>
          <a:xfrm>
            <a:off x="548640" y="3429000"/>
            <a:ext cx="7772400" cy="320040"/>
          </a:xfrm>
          <a:prstGeom prst="rect">
            <a:avLst/>
          </a:prstGeom>
          <a:noFill/>
          <a:ln/>
        </p:spPr>
        <p:txBody>
          <a:bodyPr wrap="square" rtlCol="0" anchor="ctr"/>
          <a:lstStyle/>
          <a:p>
            <a:pPr indent="0" marL="0">
              <a:buNone/>
            </a:pPr>
            <a:r>
              <a:rPr lang="en-US" sz="1100" b="1" dirty="0">
                <a:solidFill>
                  <a:srgbClr val="8BAEC8"/>
                </a:solidFill>
                <a:latin typeface="Arial" pitchFamily="34" charset="0"/>
                <a:ea typeface="Arial" pitchFamily="34" charset="-122"/>
                <a:cs typeface="Arial" pitchFamily="34" charset="-120"/>
              </a:rPr>
              <a:t>Version 0.0.4</a:t>
            </a:r>
            <a:pPr indent="0" marL="0">
              <a:buNone/>
            </a:pPr>
            <a:r>
              <a:rPr lang="en-US" sz="1100" dirty="0">
                <a:solidFill>
                  <a:srgbClr val="8BAEC8"/>
                </a:solidFill>
                <a:latin typeface="Arial" pitchFamily="34" charset="0"/>
                <a:ea typeface="Arial" pitchFamily="34" charset="-122"/>
                <a:cs typeface="Arial" pitchFamily="34" charset="-120"/>
              </a:rPr>
              <a:t>  ·  June 2026  ·  Confidential  ·  </a:t>
            </a:r>
            <a:pPr indent="0" marL="0">
              <a:buNone/>
            </a:pPr>
            <a:r>
              <a:rPr lang="en-US" sz="1100" dirty="0">
                <a:solidFill>
                  <a:srgbClr val="02A8BC"/>
                </a:solidFill>
                <a:latin typeface="Arial" pitchFamily="34" charset="0"/>
                <a:ea typeface="Arial" pitchFamily="34" charset="-122"/>
                <a:cs typeface="Arial" pitchFamily="34" charset="-120"/>
              </a:rPr>
              <a:t>github.com/ArielCesarMA/TraceLM</a:t>
            </a:r>
            <a:endParaRPr lang="en-US" sz="1100" dirty="0"/>
          </a:p>
        </p:txBody>
      </p:sp>
      <p:sp>
        <p:nvSpPr>
          <p:cNvPr id="10" name="Shape 8"/>
          <p:cNvSpPr/>
          <p:nvPr/>
        </p:nvSpPr>
        <p:spPr>
          <a:xfrm>
            <a:off x="548640" y="4069080"/>
            <a:ext cx="1234440" cy="237744"/>
          </a:xfrm>
          <a:prstGeom prst="roundRect">
            <a:avLst>
              <a:gd name="adj" fmla="val 46154"/>
            </a:avLst>
          </a:prstGeom>
          <a:solidFill>
            <a:srgbClr val="1F3A5F"/>
          </a:solidFill>
          <a:ln w="12700">
            <a:solidFill>
              <a:srgbClr val="1F3A5F"/>
            </a:solidFill>
            <a:prstDash val="solid"/>
          </a:ln>
        </p:spPr>
      </p:sp>
      <p:sp>
        <p:nvSpPr>
          <p:cNvPr id="11" name="Text 9"/>
          <p:cNvSpPr/>
          <p:nvPr/>
        </p:nvSpPr>
        <p:spPr>
          <a:xfrm>
            <a:off x="548640" y="4069080"/>
            <a:ext cx="1234440" cy="237744"/>
          </a:xfrm>
          <a:prstGeom prst="rect">
            <a:avLst/>
          </a:prstGeom>
          <a:noFill/>
          <a:ln/>
        </p:spPr>
        <p:txBody>
          <a:bodyPr wrap="square" lIns="0" tIns="0" rIns="0" bIns="0" rtlCol="0" anchor="ctr"/>
          <a:lstStyle/>
          <a:p>
            <a:pPr algn="ctr" indent="0" marL="0">
              <a:buNone/>
            </a:pPr>
            <a:r>
              <a:rPr lang="en-US" sz="900" b="1" dirty="0">
                <a:solidFill>
                  <a:srgbClr val="A8C8E8"/>
                </a:solidFill>
                <a:latin typeface="Arial" pitchFamily="34" charset="0"/>
                <a:ea typeface="Arial" pitchFamily="34" charset="-122"/>
                <a:cs typeface="Arial" pitchFamily="34" charset="-120"/>
              </a:rPr>
              <a:t>Operational Managers</a:t>
            </a:r>
            <a:endParaRPr lang="en-US" sz="900" dirty="0"/>
          </a:p>
        </p:txBody>
      </p:sp>
      <p:sp>
        <p:nvSpPr>
          <p:cNvPr id="12" name="Shape 10"/>
          <p:cNvSpPr/>
          <p:nvPr/>
        </p:nvSpPr>
        <p:spPr>
          <a:xfrm>
            <a:off x="1920240" y="4069080"/>
            <a:ext cx="1234440" cy="237744"/>
          </a:xfrm>
          <a:prstGeom prst="roundRect">
            <a:avLst>
              <a:gd name="adj" fmla="val 46154"/>
            </a:avLst>
          </a:prstGeom>
          <a:solidFill>
            <a:srgbClr val="1F3A5F"/>
          </a:solidFill>
          <a:ln w="12700">
            <a:solidFill>
              <a:srgbClr val="1F3A5F"/>
            </a:solidFill>
            <a:prstDash val="solid"/>
          </a:ln>
        </p:spPr>
      </p:sp>
      <p:sp>
        <p:nvSpPr>
          <p:cNvPr id="13" name="Text 11"/>
          <p:cNvSpPr/>
          <p:nvPr/>
        </p:nvSpPr>
        <p:spPr>
          <a:xfrm>
            <a:off x="1920240" y="4069080"/>
            <a:ext cx="1234440" cy="237744"/>
          </a:xfrm>
          <a:prstGeom prst="rect">
            <a:avLst/>
          </a:prstGeom>
          <a:noFill/>
          <a:ln/>
        </p:spPr>
        <p:txBody>
          <a:bodyPr wrap="square" lIns="0" tIns="0" rIns="0" bIns="0" rtlCol="0" anchor="ctr"/>
          <a:lstStyle/>
          <a:p>
            <a:pPr algn="ctr" indent="0" marL="0">
              <a:buNone/>
            </a:pPr>
            <a:r>
              <a:rPr lang="en-US" sz="900" b="1" dirty="0">
                <a:solidFill>
                  <a:srgbClr val="A8C8E8"/>
                </a:solidFill>
                <a:latin typeface="Arial" pitchFamily="34" charset="0"/>
                <a:ea typeface="Arial" pitchFamily="34" charset="-122"/>
                <a:cs typeface="Arial" pitchFamily="34" charset="-120"/>
              </a:rPr>
              <a:t>Directors</a:t>
            </a:r>
            <a:endParaRPr lang="en-US" sz="900" dirty="0"/>
          </a:p>
        </p:txBody>
      </p:sp>
      <p:sp>
        <p:nvSpPr>
          <p:cNvPr id="14" name="Shape 12"/>
          <p:cNvSpPr/>
          <p:nvPr/>
        </p:nvSpPr>
        <p:spPr>
          <a:xfrm>
            <a:off x="3291840" y="4069080"/>
            <a:ext cx="1234440" cy="237744"/>
          </a:xfrm>
          <a:prstGeom prst="roundRect">
            <a:avLst>
              <a:gd name="adj" fmla="val 46154"/>
            </a:avLst>
          </a:prstGeom>
          <a:solidFill>
            <a:srgbClr val="1F3A5F"/>
          </a:solidFill>
          <a:ln w="12700">
            <a:solidFill>
              <a:srgbClr val="1F3A5F"/>
            </a:solidFill>
            <a:prstDash val="solid"/>
          </a:ln>
        </p:spPr>
      </p:sp>
      <p:sp>
        <p:nvSpPr>
          <p:cNvPr id="15" name="Text 13"/>
          <p:cNvSpPr/>
          <p:nvPr/>
        </p:nvSpPr>
        <p:spPr>
          <a:xfrm>
            <a:off x="3291840" y="4069080"/>
            <a:ext cx="1234440" cy="237744"/>
          </a:xfrm>
          <a:prstGeom prst="rect">
            <a:avLst/>
          </a:prstGeom>
          <a:noFill/>
          <a:ln/>
        </p:spPr>
        <p:txBody>
          <a:bodyPr wrap="square" lIns="0" tIns="0" rIns="0" bIns="0" rtlCol="0" anchor="ctr"/>
          <a:lstStyle/>
          <a:p>
            <a:pPr algn="ctr" indent="0" marL="0">
              <a:buNone/>
            </a:pPr>
            <a:r>
              <a:rPr lang="en-US" sz="900" b="1" dirty="0">
                <a:solidFill>
                  <a:srgbClr val="A8C8E8"/>
                </a:solidFill>
                <a:latin typeface="Arial" pitchFamily="34" charset="0"/>
                <a:ea typeface="Arial" pitchFamily="34" charset="-122"/>
                <a:cs typeface="Arial" pitchFamily="34" charset="-120"/>
              </a:rPr>
              <a:t>Country Managers</a:t>
            </a:r>
            <a:endParaRPr lang="en-US" sz="900" dirty="0"/>
          </a:p>
        </p:txBody>
      </p:sp>
      <p:sp>
        <p:nvSpPr>
          <p:cNvPr id="16" name="Shape 14"/>
          <p:cNvSpPr/>
          <p:nvPr/>
        </p:nvSpPr>
        <p:spPr>
          <a:xfrm>
            <a:off x="4663440" y="4069080"/>
            <a:ext cx="1234440" cy="237744"/>
          </a:xfrm>
          <a:prstGeom prst="roundRect">
            <a:avLst>
              <a:gd name="adj" fmla="val 46154"/>
            </a:avLst>
          </a:prstGeom>
          <a:solidFill>
            <a:srgbClr val="1F3A5F"/>
          </a:solidFill>
          <a:ln w="12700">
            <a:solidFill>
              <a:srgbClr val="1F3A5F"/>
            </a:solidFill>
            <a:prstDash val="solid"/>
          </a:ln>
        </p:spPr>
      </p:sp>
      <p:sp>
        <p:nvSpPr>
          <p:cNvPr id="17" name="Text 15"/>
          <p:cNvSpPr/>
          <p:nvPr/>
        </p:nvSpPr>
        <p:spPr>
          <a:xfrm>
            <a:off x="4663440" y="4069080"/>
            <a:ext cx="1234440" cy="237744"/>
          </a:xfrm>
          <a:prstGeom prst="rect">
            <a:avLst/>
          </a:prstGeom>
          <a:noFill/>
          <a:ln/>
        </p:spPr>
        <p:txBody>
          <a:bodyPr wrap="square" lIns="0" tIns="0" rIns="0" bIns="0" rtlCol="0" anchor="ctr"/>
          <a:lstStyle/>
          <a:p>
            <a:pPr algn="ctr" indent="0" marL="0">
              <a:buNone/>
            </a:pPr>
            <a:r>
              <a:rPr lang="en-US" sz="900" b="1" dirty="0">
                <a:solidFill>
                  <a:srgbClr val="A8C8E8"/>
                </a:solidFill>
                <a:latin typeface="Arial" pitchFamily="34" charset="0"/>
                <a:ea typeface="Arial" pitchFamily="34" charset="-122"/>
                <a:cs typeface="Arial" pitchFamily="34" charset="-120"/>
              </a:rPr>
              <a:t>Regional Leadership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2</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CONTEXT</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Problem We Are Solving</a:t>
            </a:r>
            <a:endParaRPr lang="en-US" sz="3000" dirty="0"/>
          </a:p>
        </p:txBody>
      </p:sp>
      <p:sp>
        <p:nvSpPr>
          <p:cNvPr id="6" name="Shape 4"/>
          <p:cNvSpPr/>
          <p:nvPr/>
        </p:nvSpPr>
        <p:spPr>
          <a:xfrm>
            <a:off x="457200" y="1325880"/>
            <a:ext cx="3977640" cy="3429000"/>
          </a:xfrm>
          <a:prstGeom prst="roundRect">
            <a:avLst>
              <a:gd name="adj" fmla="val 2667"/>
            </a:avLst>
          </a:prstGeom>
          <a:solidFill>
            <a:srgbClr val="1B2A4A"/>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7" name="Text 5"/>
          <p:cNvSpPr/>
          <p:nvPr/>
        </p:nvSpPr>
        <p:spPr>
          <a:xfrm>
            <a:off x="640080" y="1508760"/>
            <a:ext cx="356616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Today's Manual Reality</a:t>
            </a:r>
            <a:endParaRPr lang="en-US" sz="1500" dirty="0"/>
          </a:p>
        </p:txBody>
      </p:sp>
      <p:sp>
        <p:nvSpPr>
          <p:cNvPr id="8" name="Shape 6"/>
          <p:cNvSpPr/>
          <p:nvPr/>
        </p:nvSpPr>
        <p:spPr>
          <a:xfrm>
            <a:off x="640080" y="2057400"/>
            <a:ext cx="292608" cy="292608"/>
          </a:xfrm>
          <a:prstGeom prst="ellipse">
            <a:avLst/>
          </a:prstGeom>
          <a:solidFill>
            <a:srgbClr val="028090"/>
          </a:solidFill>
          <a:ln w="12700">
            <a:solidFill>
              <a:srgbClr val="028090"/>
            </a:solidFill>
            <a:prstDash val="solid"/>
          </a:ln>
        </p:spPr>
      </p:sp>
      <p:sp>
        <p:nvSpPr>
          <p:cNvPr id="9" name="Text 7"/>
          <p:cNvSpPr/>
          <p:nvPr/>
        </p:nvSpPr>
        <p:spPr>
          <a:xfrm>
            <a:off x="640080" y="2039112"/>
            <a:ext cx="292608" cy="292608"/>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10" name="Text 8"/>
          <p:cNvSpPr/>
          <p:nvPr/>
        </p:nvSpPr>
        <p:spPr>
          <a:xfrm>
            <a:off x="1042416" y="2029968"/>
            <a:ext cx="3246120" cy="347472"/>
          </a:xfrm>
          <a:prstGeom prst="rect">
            <a:avLst/>
          </a:prstGeom>
          <a:noFill/>
          <a:ln/>
        </p:spPr>
        <p:txBody>
          <a:bodyPr wrap="square" rtlCol="0" anchor="ctr"/>
          <a:lstStyle/>
          <a:p>
            <a:pPr indent="0" marL="0">
              <a:buNone/>
            </a:pPr>
            <a:r>
              <a:rPr lang="en-US" sz="1100" dirty="0">
                <a:solidFill>
                  <a:srgbClr val="CBD8E8"/>
                </a:solidFill>
                <a:latin typeface="Arial" pitchFamily="34" charset="0"/>
                <a:ea typeface="Arial" pitchFamily="34" charset="-122"/>
                <a:cs typeface="Arial" pitchFamily="34" charset="-120"/>
              </a:rPr>
              <a:t>Hours spent manually writing test scenarios from requirements</a:t>
            </a:r>
            <a:endParaRPr lang="en-US" sz="1100" dirty="0"/>
          </a:p>
        </p:txBody>
      </p:sp>
      <p:sp>
        <p:nvSpPr>
          <p:cNvPr id="11" name="Shape 9"/>
          <p:cNvSpPr/>
          <p:nvPr/>
        </p:nvSpPr>
        <p:spPr>
          <a:xfrm>
            <a:off x="640080" y="2596896"/>
            <a:ext cx="292608" cy="292608"/>
          </a:xfrm>
          <a:prstGeom prst="ellipse">
            <a:avLst/>
          </a:prstGeom>
          <a:solidFill>
            <a:srgbClr val="028090"/>
          </a:solidFill>
          <a:ln w="12700">
            <a:solidFill>
              <a:srgbClr val="028090"/>
            </a:solidFill>
            <a:prstDash val="solid"/>
          </a:ln>
        </p:spPr>
      </p:sp>
      <p:sp>
        <p:nvSpPr>
          <p:cNvPr id="12" name="Text 10"/>
          <p:cNvSpPr/>
          <p:nvPr/>
        </p:nvSpPr>
        <p:spPr>
          <a:xfrm>
            <a:off x="640080" y="2578608"/>
            <a:ext cx="292608" cy="292608"/>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13" name="Text 11"/>
          <p:cNvSpPr/>
          <p:nvPr/>
        </p:nvSpPr>
        <p:spPr>
          <a:xfrm>
            <a:off x="1042416" y="2569464"/>
            <a:ext cx="3246120" cy="347472"/>
          </a:xfrm>
          <a:prstGeom prst="rect">
            <a:avLst/>
          </a:prstGeom>
          <a:noFill/>
          <a:ln/>
        </p:spPr>
        <p:txBody>
          <a:bodyPr wrap="square" rtlCol="0" anchor="ctr"/>
          <a:lstStyle/>
          <a:p>
            <a:pPr indent="0" marL="0">
              <a:buNone/>
            </a:pPr>
            <a:r>
              <a:rPr lang="en-US" sz="1100" dirty="0">
                <a:solidFill>
                  <a:srgbClr val="CBD8E8"/>
                </a:solidFill>
                <a:latin typeface="Arial" pitchFamily="34" charset="0"/>
                <a:ea typeface="Arial" pitchFamily="34" charset="-122"/>
                <a:cs typeface="Arial" pitchFamily="34" charset="-120"/>
              </a:rPr>
              <a:t>Traceability between requirements and test cases is lost or inconsistent</a:t>
            </a:r>
            <a:endParaRPr lang="en-US" sz="1100" dirty="0"/>
          </a:p>
        </p:txBody>
      </p:sp>
      <p:sp>
        <p:nvSpPr>
          <p:cNvPr id="14" name="Shape 12"/>
          <p:cNvSpPr/>
          <p:nvPr/>
        </p:nvSpPr>
        <p:spPr>
          <a:xfrm>
            <a:off x="640080" y="3136392"/>
            <a:ext cx="292608" cy="292608"/>
          </a:xfrm>
          <a:prstGeom prst="ellipse">
            <a:avLst/>
          </a:prstGeom>
          <a:solidFill>
            <a:srgbClr val="028090"/>
          </a:solidFill>
          <a:ln w="12700">
            <a:solidFill>
              <a:srgbClr val="028090"/>
            </a:solidFill>
            <a:prstDash val="solid"/>
          </a:ln>
        </p:spPr>
      </p:sp>
      <p:sp>
        <p:nvSpPr>
          <p:cNvPr id="15" name="Text 13"/>
          <p:cNvSpPr/>
          <p:nvPr/>
        </p:nvSpPr>
        <p:spPr>
          <a:xfrm>
            <a:off x="640080" y="3118104"/>
            <a:ext cx="292608" cy="292608"/>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16" name="Text 14"/>
          <p:cNvSpPr/>
          <p:nvPr/>
        </p:nvSpPr>
        <p:spPr>
          <a:xfrm>
            <a:off x="1042416" y="3108960"/>
            <a:ext cx="3246120" cy="347472"/>
          </a:xfrm>
          <a:prstGeom prst="rect">
            <a:avLst/>
          </a:prstGeom>
          <a:noFill/>
          <a:ln/>
        </p:spPr>
        <p:txBody>
          <a:bodyPr wrap="square" rtlCol="0" anchor="ctr"/>
          <a:lstStyle/>
          <a:p>
            <a:pPr indent="0" marL="0">
              <a:buNone/>
            </a:pPr>
            <a:r>
              <a:rPr lang="en-US" sz="1100" dirty="0">
                <a:solidFill>
                  <a:srgbClr val="CBD8E8"/>
                </a:solidFill>
                <a:latin typeface="Arial" pitchFamily="34" charset="0"/>
                <a:ea typeface="Arial" pitchFamily="34" charset="-122"/>
                <a:cs typeface="Arial" pitchFamily="34" charset="-120"/>
              </a:rPr>
              <a:t>Same test cases re-pushed to Xray causing duplicates</a:t>
            </a:r>
            <a:endParaRPr lang="en-US" sz="1100" dirty="0"/>
          </a:p>
        </p:txBody>
      </p:sp>
      <p:sp>
        <p:nvSpPr>
          <p:cNvPr id="17" name="Shape 15"/>
          <p:cNvSpPr/>
          <p:nvPr/>
        </p:nvSpPr>
        <p:spPr>
          <a:xfrm>
            <a:off x="640080" y="3675888"/>
            <a:ext cx="292608" cy="292608"/>
          </a:xfrm>
          <a:prstGeom prst="ellipse">
            <a:avLst/>
          </a:prstGeom>
          <a:solidFill>
            <a:srgbClr val="028090"/>
          </a:solidFill>
          <a:ln w="12700">
            <a:solidFill>
              <a:srgbClr val="028090"/>
            </a:solidFill>
            <a:prstDash val="solid"/>
          </a:ln>
        </p:spPr>
      </p:sp>
      <p:sp>
        <p:nvSpPr>
          <p:cNvPr id="18" name="Text 16"/>
          <p:cNvSpPr/>
          <p:nvPr/>
        </p:nvSpPr>
        <p:spPr>
          <a:xfrm>
            <a:off x="640080" y="3657600"/>
            <a:ext cx="292608" cy="292608"/>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19" name="Text 17"/>
          <p:cNvSpPr/>
          <p:nvPr/>
        </p:nvSpPr>
        <p:spPr>
          <a:xfrm>
            <a:off x="1042416" y="3648456"/>
            <a:ext cx="3246120" cy="347472"/>
          </a:xfrm>
          <a:prstGeom prst="rect">
            <a:avLst/>
          </a:prstGeom>
          <a:noFill/>
          <a:ln/>
        </p:spPr>
        <p:txBody>
          <a:bodyPr wrap="square" rtlCol="0" anchor="ctr"/>
          <a:lstStyle/>
          <a:p>
            <a:pPr indent="0" marL="0">
              <a:buNone/>
            </a:pPr>
            <a:r>
              <a:rPr lang="en-US" sz="1100" dirty="0">
                <a:solidFill>
                  <a:srgbClr val="CBD8E8"/>
                </a:solidFill>
                <a:latin typeface="Arial" pitchFamily="34" charset="0"/>
                <a:ea typeface="Arial" pitchFamily="34" charset="-122"/>
                <a:cs typeface="Arial" pitchFamily="34" charset="-120"/>
              </a:rPr>
              <a:t>Context switching between docs, Jira, and Xray slows teams down</a:t>
            </a:r>
            <a:endParaRPr lang="en-US" sz="1100" dirty="0"/>
          </a:p>
        </p:txBody>
      </p:sp>
      <p:sp>
        <p:nvSpPr>
          <p:cNvPr id="20" name="Shape 18"/>
          <p:cNvSpPr/>
          <p:nvPr/>
        </p:nvSpPr>
        <p:spPr>
          <a:xfrm>
            <a:off x="640080" y="4215384"/>
            <a:ext cx="292608" cy="292608"/>
          </a:xfrm>
          <a:prstGeom prst="ellipse">
            <a:avLst/>
          </a:prstGeom>
          <a:solidFill>
            <a:srgbClr val="028090"/>
          </a:solidFill>
          <a:ln w="12700">
            <a:solidFill>
              <a:srgbClr val="028090"/>
            </a:solidFill>
            <a:prstDash val="solid"/>
          </a:ln>
        </p:spPr>
      </p:sp>
      <p:sp>
        <p:nvSpPr>
          <p:cNvPr id="21" name="Text 19"/>
          <p:cNvSpPr/>
          <p:nvPr/>
        </p:nvSpPr>
        <p:spPr>
          <a:xfrm>
            <a:off x="640080" y="4197096"/>
            <a:ext cx="292608" cy="292608"/>
          </a:xfrm>
          <a:prstGeom prst="rect">
            <a:avLst/>
          </a:prstGeom>
          <a:noFill/>
          <a:ln/>
        </p:spPr>
        <p:txBody>
          <a:bodyPr wrap="square" lIns="0" tIns="0" rIns="0" bIns="0" rtlCol="0" anchor="ctr"/>
          <a:lstStyle/>
          <a:p>
            <a:pPr algn="ctr" indent="0" marL="0">
              <a:buNone/>
            </a:pPr>
            <a:r>
              <a:rPr lang="en-US" sz="1100" dirty="0">
                <a:solidFill>
                  <a:srgbClr val="000000"/>
                </a:solidFill>
              </a:rPr>
              <a:t>📉</a:t>
            </a:r>
            <a:endParaRPr lang="en-US" sz="1100" dirty="0"/>
          </a:p>
        </p:txBody>
      </p:sp>
      <p:sp>
        <p:nvSpPr>
          <p:cNvPr id="22" name="Text 20"/>
          <p:cNvSpPr/>
          <p:nvPr/>
        </p:nvSpPr>
        <p:spPr>
          <a:xfrm>
            <a:off x="1042416" y="4187952"/>
            <a:ext cx="3246120" cy="347472"/>
          </a:xfrm>
          <a:prstGeom prst="rect">
            <a:avLst/>
          </a:prstGeom>
          <a:noFill/>
          <a:ln/>
        </p:spPr>
        <p:txBody>
          <a:bodyPr wrap="square" rtlCol="0" anchor="ctr"/>
          <a:lstStyle/>
          <a:p>
            <a:pPr indent="0" marL="0">
              <a:buNone/>
            </a:pPr>
            <a:r>
              <a:rPr lang="en-US" sz="1100" dirty="0">
                <a:solidFill>
                  <a:srgbClr val="CBD8E8"/>
                </a:solidFill>
                <a:latin typeface="Arial" pitchFamily="34" charset="0"/>
                <a:ea typeface="Arial" pitchFamily="34" charset="-122"/>
                <a:cs typeface="Arial" pitchFamily="34" charset="-120"/>
              </a:rPr>
              <a:t>Automation candidates chosen subjectively — no feasibility or ROI framework</a:t>
            </a:r>
            <a:endParaRPr lang="en-US" sz="1100" dirty="0"/>
          </a:p>
        </p:txBody>
      </p:sp>
      <p:sp>
        <p:nvSpPr>
          <p:cNvPr id="23" name="Shape 21"/>
          <p:cNvSpPr/>
          <p:nvPr/>
        </p:nvSpPr>
        <p:spPr>
          <a:xfrm>
            <a:off x="4663440" y="1325880"/>
            <a:ext cx="3977640" cy="3429000"/>
          </a:xfrm>
          <a:prstGeom prst="roundRect">
            <a:avLst>
              <a:gd name="adj" fmla="val 266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4" name="Text 22"/>
          <p:cNvSpPr/>
          <p:nvPr/>
        </p:nvSpPr>
        <p:spPr>
          <a:xfrm>
            <a:off x="4846320" y="1508760"/>
            <a:ext cx="3566160" cy="365760"/>
          </a:xfrm>
          <a:prstGeom prst="rect">
            <a:avLst/>
          </a:prstGeom>
          <a:noFill/>
          <a:ln/>
        </p:spPr>
        <p:txBody>
          <a:bodyPr wrap="square" rtlCol="0" anchor="ctr"/>
          <a:lstStyle/>
          <a:p>
            <a:pPr indent="0" marL="0">
              <a:buNone/>
            </a:pPr>
            <a:r>
              <a:rPr lang="en-US" sz="1500" b="1" dirty="0">
                <a:solidFill>
                  <a:srgbClr val="1B2A4A"/>
                </a:solidFill>
                <a:latin typeface="Arial" pitchFamily="34" charset="0"/>
                <a:ea typeface="Arial" pitchFamily="34" charset="-122"/>
                <a:cs typeface="Arial" pitchFamily="34" charset="-120"/>
              </a:rPr>
              <a:t>TraceLM Changes This</a:t>
            </a:r>
            <a:endParaRPr lang="en-US" sz="1500" dirty="0"/>
          </a:p>
        </p:txBody>
      </p:sp>
      <p:sp>
        <p:nvSpPr>
          <p:cNvPr id="25" name="Shape 23"/>
          <p:cNvSpPr/>
          <p:nvPr/>
        </p:nvSpPr>
        <p:spPr>
          <a:xfrm>
            <a:off x="4846320" y="2057400"/>
            <a:ext cx="292608" cy="292608"/>
          </a:xfrm>
          <a:prstGeom prst="ellipse">
            <a:avLst/>
          </a:prstGeom>
          <a:solidFill>
            <a:srgbClr val="27AE60"/>
          </a:solidFill>
          <a:ln w="12700">
            <a:solidFill>
              <a:srgbClr val="27AE60"/>
            </a:solidFill>
            <a:prstDash val="solid"/>
          </a:ln>
        </p:spPr>
      </p:sp>
      <p:sp>
        <p:nvSpPr>
          <p:cNvPr id="26" name="Text 24"/>
          <p:cNvSpPr/>
          <p:nvPr/>
        </p:nvSpPr>
        <p:spPr>
          <a:xfrm>
            <a:off x="4846320" y="20391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7" name="Text 25"/>
          <p:cNvSpPr/>
          <p:nvPr/>
        </p:nvSpPr>
        <p:spPr>
          <a:xfrm>
            <a:off x="5248656" y="2029968"/>
            <a:ext cx="3246120" cy="347472"/>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Requirement-to-Xray in one session</a:t>
            </a:r>
            <a:endParaRPr lang="en-US" sz="1100" dirty="0"/>
          </a:p>
        </p:txBody>
      </p:sp>
      <p:sp>
        <p:nvSpPr>
          <p:cNvPr id="28" name="Shape 26"/>
          <p:cNvSpPr/>
          <p:nvPr/>
        </p:nvSpPr>
        <p:spPr>
          <a:xfrm>
            <a:off x="4846320" y="2596896"/>
            <a:ext cx="292608" cy="292608"/>
          </a:xfrm>
          <a:prstGeom prst="ellipse">
            <a:avLst/>
          </a:prstGeom>
          <a:solidFill>
            <a:srgbClr val="27AE60"/>
          </a:solidFill>
          <a:ln w="12700">
            <a:solidFill>
              <a:srgbClr val="27AE60"/>
            </a:solidFill>
            <a:prstDash val="solid"/>
          </a:ln>
        </p:spPr>
      </p:sp>
      <p:sp>
        <p:nvSpPr>
          <p:cNvPr id="29" name="Text 27"/>
          <p:cNvSpPr/>
          <p:nvPr/>
        </p:nvSpPr>
        <p:spPr>
          <a:xfrm>
            <a:off x="4846320" y="2578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0" name="Text 28"/>
          <p:cNvSpPr/>
          <p:nvPr/>
        </p:nvSpPr>
        <p:spPr>
          <a:xfrm>
            <a:off x="5248656" y="2569464"/>
            <a:ext cx="3246120" cy="347472"/>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Full traceability: requirement → scenario → test case</a:t>
            </a:r>
            <a:endParaRPr lang="en-US" sz="1100" dirty="0"/>
          </a:p>
        </p:txBody>
      </p:sp>
      <p:sp>
        <p:nvSpPr>
          <p:cNvPr id="31" name="Shape 29"/>
          <p:cNvSpPr/>
          <p:nvPr/>
        </p:nvSpPr>
        <p:spPr>
          <a:xfrm>
            <a:off x="4846320" y="3136392"/>
            <a:ext cx="292608" cy="292608"/>
          </a:xfrm>
          <a:prstGeom prst="ellipse">
            <a:avLst/>
          </a:prstGeom>
          <a:solidFill>
            <a:srgbClr val="27AE60"/>
          </a:solidFill>
          <a:ln w="12700">
            <a:solidFill>
              <a:srgbClr val="27AE60"/>
            </a:solidFill>
            <a:prstDash val="solid"/>
          </a:ln>
        </p:spPr>
      </p:sp>
      <p:sp>
        <p:nvSpPr>
          <p:cNvPr id="32" name="Text 30"/>
          <p:cNvSpPr/>
          <p:nvPr/>
        </p:nvSpPr>
        <p:spPr>
          <a:xfrm>
            <a:off x="4846320" y="31181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3" name="Text 31"/>
          <p:cNvSpPr/>
          <p:nvPr/>
        </p:nvSpPr>
        <p:spPr>
          <a:xfrm>
            <a:off x="5248656" y="3108960"/>
            <a:ext cx="3246120" cy="347472"/>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SHA-256 fingerprinting eliminates duplicate pushes</a:t>
            </a:r>
            <a:endParaRPr lang="en-US" sz="1100" dirty="0"/>
          </a:p>
        </p:txBody>
      </p:sp>
      <p:sp>
        <p:nvSpPr>
          <p:cNvPr id="34" name="Shape 32"/>
          <p:cNvSpPr/>
          <p:nvPr/>
        </p:nvSpPr>
        <p:spPr>
          <a:xfrm>
            <a:off x="4846320" y="3675888"/>
            <a:ext cx="292608" cy="292608"/>
          </a:xfrm>
          <a:prstGeom prst="ellipse">
            <a:avLst/>
          </a:prstGeom>
          <a:solidFill>
            <a:srgbClr val="27AE60"/>
          </a:solidFill>
          <a:ln w="12700">
            <a:solidFill>
              <a:srgbClr val="27AE60"/>
            </a:solidFill>
            <a:prstDash val="solid"/>
          </a:ln>
        </p:spPr>
      </p:sp>
      <p:sp>
        <p:nvSpPr>
          <p:cNvPr id="35" name="Text 33"/>
          <p:cNvSpPr/>
          <p:nvPr/>
        </p:nvSpPr>
        <p:spPr>
          <a:xfrm>
            <a:off x="4846320" y="3657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6" name="Text 34"/>
          <p:cNvSpPr/>
          <p:nvPr/>
        </p:nvSpPr>
        <p:spPr>
          <a:xfrm>
            <a:off x="5248656" y="3648456"/>
            <a:ext cx="3246120" cy="347472"/>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Single VS Code panel replaces all context switching</a:t>
            </a:r>
            <a:endParaRPr lang="en-US" sz="1100" dirty="0"/>
          </a:p>
        </p:txBody>
      </p:sp>
      <p:sp>
        <p:nvSpPr>
          <p:cNvPr id="37" name="Shape 35"/>
          <p:cNvSpPr/>
          <p:nvPr/>
        </p:nvSpPr>
        <p:spPr>
          <a:xfrm>
            <a:off x="4846320" y="4215384"/>
            <a:ext cx="292608" cy="292608"/>
          </a:xfrm>
          <a:prstGeom prst="ellipse">
            <a:avLst/>
          </a:prstGeom>
          <a:solidFill>
            <a:srgbClr val="27AE60"/>
          </a:solidFill>
          <a:ln w="12700">
            <a:solidFill>
              <a:srgbClr val="27AE60"/>
            </a:solidFill>
            <a:prstDash val="solid"/>
          </a:ln>
        </p:spPr>
      </p:sp>
      <p:sp>
        <p:nvSpPr>
          <p:cNvPr id="38" name="Text 36"/>
          <p:cNvSpPr/>
          <p:nvPr/>
        </p:nvSpPr>
        <p:spPr>
          <a:xfrm>
            <a:off x="4846320" y="41970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9" name="Text 37"/>
          <p:cNvSpPr/>
          <p:nvPr/>
        </p:nvSpPr>
        <p:spPr>
          <a:xfrm>
            <a:off x="5248656" y="4187952"/>
            <a:ext cx="3246120" cy="347472"/>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Structured A–F automation scoring: feasibility + ROI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3</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SOLUTION OVERVIEW</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What is TraceLM?</a:t>
            </a:r>
            <a:endParaRPr lang="en-US" sz="3000" dirty="0"/>
          </a:p>
        </p:txBody>
      </p:sp>
      <p:sp>
        <p:nvSpPr>
          <p:cNvPr id="6" name="Text 4"/>
          <p:cNvSpPr/>
          <p:nvPr/>
        </p:nvSpPr>
        <p:spPr>
          <a:xfrm>
            <a:off x="457200" y="1170432"/>
            <a:ext cx="8229600" cy="457200"/>
          </a:xfrm>
          <a:prstGeom prst="rect">
            <a:avLst/>
          </a:prstGeom>
          <a:noFill/>
          <a:ln/>
        </p:spPr>
        <p:txBody>
          <a:bodyPr wrap="square" rtlCol="0" anchor="ctr"/>
          <a:lstStyle/>
          <a:p>
            <a:pPr indent="0" marL="0">
              <a:buNone/>
            </a:pPr>
            <a:r>
              <a:rPr lang="en-US" sz="1300" i="1" dirty="0">
                <a:solidFill>
                  <a:srgbClr val="4A5568"/>
                </a:solidFill>
                <a:latin typeface="Arial" pitchFamily="34" charset="0"/>
                <a:ea typeface="Arial" pitchFamily="34" charset="-122"/>
                <a:cs typeface="Arial" pitchFamily="34" charset="-120"/>
              </a:rPr>
              <a:t>A VS Code extension that transforms raw requirements into structured, traceable, Xray-ready test assets using AI — without leaving the development environment.</a:t>
            </a:r>
            <a:endParaRPr lang="en-US" sz="1300" dirty="0"/>
          </a:p>
        </p:txBody>
      </p:sp>
      <p:sp>
        <p:nvSpPr>
          <p:cNvPr id="7" name="Shape 5"/>
          <p:cNvSpPr/>
          <p:nvPr/>
        </p:nvSpPr>
        <p:spPr>
          <a:xfrm>
            <a:off x="457200" y="1737360"/>
            <a:ext cx="2651760" cy="1353312"/>
          </a:xfrm>
          <a:prstGeom prst="roundRect">
            <a:avLst>
              <a:gd name="adj" fmla="val 675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8" name="Shape 6"/>
          <p:cNvSpPr/>
          <p:nvPr/>
        </p:nvSpPr>
        <p:spPr>
          <a:xfrm>
            <a:off x="621792" y="1938528"/>
            <a:ext cx="457200" cy="457200"/>
          </a:xfrm>
          <a:prstGeom prst="ellipse">
            <a:avLst/>
          </a:prstGeom>
          <a:solidFill>
            <a:srgbClr val="E4EEF8"/>
          </a:solidFill>
          <a:ln w="12700">
            <a:solidFill>
              <a:srgbClr val="E4EEF8"/>
            </a:solidFill>
            <a:prstDash val="solid"/>
          </a:ln>
        </p:spPr>
      </p:sp>
      <p:sp>
        <p:nvSpPr>
          <p:cNvPr id="9" name="Text 7"/>
          <p:cNvSpPr/>
          <p:nvPr/>
        </p:nvSpPr>
        <p:spPr>
          <a:xfrm>
            <a:off x="621792" y="1920240"/>
            <a:ext cx="457200" cy="45720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0" name="Text 8"/>
          <p:cNvSpPr/>
          <p:nvPr/>
        </p:nvSpPr>
        <p:spPr>
          <a:xfrm>
            <a:off x="1188720" y="1938528"/>
            <a:ext cx="1828800" cy="320040"/>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Requirements Ingestion</a:t>
            </a:r>
            <a:endParaRPr lang="en-US" sz="1100" dirty="0"/>
          </a:p>
        </p:txBody>
      </p:sp>
      <p:sp>
        <p:nvSpPr>
          <p:cNvPr id="11" name="Text 9"/>
          <p:cNvSpPr/>
          <p:nvPr/>
        </p:nvSpPr>
        <p:spPr>
          <a:xfrm>
            <a:off x="621792" y="2395728"/>
            <a:ext cx="2377440" cy="5943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Free text, file upload (.txt .md .docx .pdf), Jira pull, or story picker</a:t>
            </a:r>
            <a:endParaRPr lang="en-US" sz="1000" dirty="0"/>
          </a:p>
        </p:txBody>
      </p:sp>
      <p:sp>
        <p:nvSpPr>
          <p:cNvPr id="12" name="Shape 10"/>
          <p:cNvSpPr/>
          <p:nvPr/>
        </p:nvSpPr>
        <p:spPr>
          <a:xfrm>
            <a:off x="3291840" y="1737360"/>
            <a:ext cx="2651760" cy="1353312"/>
          </a:xfrm>
          <a:prstGeom prst="roundRect">
            <a:avLst>
              <a:gd name="adj" fmla="val 675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3" name="Shape 11"/>
          <p:cNvSpPr/>
          <p:nvPr/>
        </p:nvSpPr>
        <p:spPr>
          <a:xfrm>
            <a:off x="3456432" y="1938528"/>
            <a:ext cx="457200" cy="457200"/>
          </a:xfrm>
          <a:prstGeom prst="ellipse">
            <a:avLst/>
          </a:prstGeom>
          <a:solidFill>
            <a:srgbClr val="E4EEF8"/>
          </a:solidFill>
          <a:ln w="12700">
            <a:solidFill>
              <a:srgbClr val="E4EEF8"/>
            </a:solidFill>
            <a:prstDash val="solid"/>
          </a:ln>
        </p:spPr>
      </p:sp>
      <p:sp>
        <p:nvSpPr>
          <p:cNvPr id="14" name="Text 12"/>
          <p:cNvSpPr/>
          <p:nvPr/>
        </p:nvSpPr>
        <p:spPr>
          <a:xfrm>
            <a:off x="3456432" y="1920240"/>
            <a:ext cx="457200" cy="45720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5" name="Text 13"/>
          <p:cNvSpPr/>
          <p:nvPr/>
        </p:nvSpPr>
        <p:spPr>
          <a:xfrm>
            <a:off x="4023360" y="1938528"/>
            <a:ext cx="1828800" cy="320040"/>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Requirement Enhancement</a:t>
            </a:r>
            <a:endParaRPr lang="en-US" sz="1100" dirty="0"/>
          </a:p>
        </p:txBody>
      </p:sp>
      <p:sp>
        <p:nvSpPr>
          <p:cNvPr id="16" name="Text 14"/>
          <p:cNvSpPr/>
          <p:nvPr/>
        </p:nvSpPr>
        <p:spPr>
          <a:xfrm>
            <a:off x="3456432" y="2395728"/>
            <a:ext cx="2377440" cy="5943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AI analysis: gaps, NFRs, risks, benchmarks, clarifying questions</a:t>
            </a:r>
            <a:endParaRPr lang="en-US" sz="1000" dirty="0"/>
          </a:p>
        </p:txBody>
      </p:sp>
      <p:sp>
        <p:nvSpPr>
          <p:cNvPr id="17" name="Shape 15"/>
          <p:cNvSpPr/>
          <p:nvPr/>
        </p:nvSpPr>
        <p:spPr>
          <a:xfrm>
            <a:off x="6126480" y="1737360"/>
            <a:ext cx="2651760" cy="1353312"/>
          </a:xfrm>
          <a:prstGeom prst="roundRect">
            <a:avLst>
              <a:gd name="adj" fmla="val 675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8" name="Shape 16"/>
          <p:cNvSpPr/>
          <p:nvPr/>
        </p:nvSpPr>
        <p:spPr>
          <a:xfrm>
            <a:off x="6291072" y="1938528"/>
            <a:ext cx="457200" cy="457200"/>
          </a:xfrm>
          <a:prstGeom prst="ellipse">
            <a:avLst/>
          </a:prstGeom>
          <a:solidFill>
            <a:srgbClr val="E4EEF8"/>
          </a:solidFill>
          <a:ln w="12700">
            <a:solidFill>
              <a:srgbClr val="E4EEF8"/>
            </a:solidFill>
            <a:prstDash val="solid"/>
          </a:ln>
        </p:spPr>
      </p:sp>
      <p:sp>
        <p:nvSpPr>
          <p:cNvPr id="19" name="Text 17"/>
          <p:cNvSpPr/>
          <p:nvPr/>
        </p:nvSpPr>
        <p:spPr>
          <a:xfrm>
            <a:off x="6291072" y="1920240"/>
            <a:ext cx="457200" cy="45720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0" name="Text 18"/>
          <p:cNvSpPr/>
          <p:nvPr/>
        </p:nvSpPr>
        <p:spPr>
          <a:xfrm>
            <a:off x="6858000" y="1938528"/>
            <a:ext cx="1828800" cy="320040"/>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Test Scenario Generation</a:t>
            </a:r>
            <a:endParaRPr lang="en-US" sz="1100" dirty="0"/>
          </a:p>
        </p:txBody>
      </p:sp>
      <p:sp>
        <p:nvSpPr>
          <p:cNvPr id="21" name="Text 19"/>
          <p:cNvSpPr/>
          <p:nvPr/>
        </p:nvSpPr>
        <p:spPr>
          <a:xfrm>
            <a:off x="6291072" y="2395728"/>
            <a:ext cx="2377440" cy="5943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Structured scenarios with traceability to source requirements</a:t>
            </a:r>
            <a:endParaRPr lang="en-US" sz="1000" dirty="0"/>
          </a:p>
        </p:txBody>
      </p:sp>
      <p:sp>
        <p:nvSpPr>
          <p:cNvPr id="22" name="Shape 20"/>
          <p:cNvSpPr/>
          <p:nvPr/>
        </p:nvSpPr>
        <p:spPr>
          <a:xfrm>
            <a:off x="457200" y="3246120"/>
            <a:ext cx="2651760" cy="1353312"/>
          </a:xfrm>
          <a:prstGeom prst="roundRect">
            <a:avLst>
              <a:gd name="adj" fmla="val 675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3" name="Shape 21"/>
          <p:cNvSpPr/>
          <p:nvPr/>
        </p:nvSpPr>
        <p:spPr>
          <a:xfrm>
            <a:off x="621792" y="3447288"/>
            <a:ext cx="457200" cy="457200"/>
          </a:xfrm>
          <a:prstGeom prst="ellipse">
            <a:avLst/>
          </a:prstGeom>
          <a:solidFill>
            <a:srgbClr val="E8F5F0"/>
          </a:solidFill>
          <a:ln w="12700">
            <a:solidFill>
              <a:srgbClr val="E8F5F0"/>
            </a:solidFill>
            <a:prstDash val="solid"/>
          </a:ln>
        </p:spPr>
      </p:sp>
      <p:sp>
        <p:nvSpPr>
          <p:cNvPr id="24" name="Text 22"/>
          <p:cNvSpPr/>
          <p:nvPr/>
        </p:nvSpPr>
        <p:spPr>
          <a:xfrm>
            <a:off x="621792" y="3429000"/>
            <a:ext cx="457200" cy="45720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5" name="Text 23"/>
          <p:cNvSpPr/>
          <p:nvPr/>
        </p:nvSpPr>
        <p:spPr>
          <a:xfrm>
            <a:off x="1188720" y="3447288"/>
            <a:ext cx="1828800" cy="320040"/>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Test Case Generation</a:t>
            </a:r>
            <a:endParaRPr lang="en-US" sz="1100" dirty="0"/>
          </a:p>
        </p:txBody>
      </p:sp>
      <p:sp>
        <p:nvSpPr>
          <p:cNvPr id="26" name="Text 24"/>
          <p:cNvSpPr/>
          <p:nvPr/>
        </p:nvSpPr>
        <p:spPr>
          <a:xfrm>
            <a:off x="621792" y="3904488"/>
            <a:ext cx="2377440" cy="5943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Executable cases with Gherkin BDD, layer, and priority assignment</a:t>
            </a:r>
            <a:endParaRPr lang="en-US" sz="1000" dirty="0"/>
          </a:p>
        </p:txBody>
      </p:sp>
      <p:sp>
        <p:nvSpPr>
          <p:cNvPr id="27" name="Shape 25"/>
          <p:cNvSpPr/>
          <p:nvPr/>
        </p:nvSpPr>
        <p:spPr>
          <a:xfrm>
            <a:off x="3291840" y="3246120"/>
            <a:ext cx="2651760" cy="1353312"/>
          </a:xfrm>
          <a:prstGeom prst="roundRect">
            <a:avLst>
              <a:gd name="adj" fmla="val 675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8" name="Shape 26"/>
          <p:cNvSpPr/>
          <p:nvPr/>
        </p:nvSpPr>
        <p:spPr>
          <a:xfrm>
            <a:off x="3456432" y="3447288"/>
            <a:ext cx="457200" cy="457200"/>
          </a:xfrm>
          <a:prstGeom prst="ellipse">
            <a:avLst/>
          </a:prstGeom>
          <a:solidFill>
            <a:srgbClr val="E8F5F0"/>
          </a:solidFill>
          <a:ln w="12700">
            <a:solidFill>
              <a:srgbClr val="E8F5F0"/>
            </a:solidFill>
            <a:prstDash val="solid"/>
          </a:ln>
        </p:spPr>
      </p:sp>
      <p:sp>
        <p:nvSpPr>
          <p:cNvPr id="29" name="Text 27"/>
          <p:cNvSpPr/>
          <p:nvPr/>
        </p:nvSpPr>
        <p:spPr>
          <a:xfrm>
            <a:off x="3456432" y="3429000"/>
            <a:ext cx="457200" cy="45720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4023360" y="3447288"/>
            <a:ext cx="1828800" cy="320040"/>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Automation Analysis</a:t>
            </a:r>
            <a:endParaRPr lang="en-US" sz="1100" dirty="0"/>
          </a:p>
        </p:txBody>
      </p:sp>
      <p:sp>
        <p:nvSpPr>
          <p:cNvPr id="31" name="Text 29"/>
          <p:cNvSpPr/>
          <p:nvPr/>
        </p:nvSpPr>
        <p:spPr>
          <a:xfrm>
            <a:off x="3456432" y="3904488"/>
            <a:ext cx="2377440" cy="5943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A–F assessment: feasibility (1–5) + ROI score (1–10) per case</a:t>
            </a:r>
            <a:endParaRPr lang="en-US" sz="1000" dirty="0"/>
          </a:p>
        </p:txBody>
      </p:sp>
      <p:sp>
        <p:nvSpPr>
          <p:cNvPr id="32" name="Shape 30"/>
          <p:cNvSpPr/>
          <p:nvPr/>
        </p:nvSpPr>
        <p:spPr>
          <a:xfrm>
            <a:off x="6126480" y="3246120"/>
            <a:ext cx="2651760" cy="1353312"/>
          </a:xfrm>
          <a:prstGeom prst="roundRect">
            <a:avLst>
              <a:gd name="adj" fmla="val 6757"/>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3" name="Shape 31"/>
          <p:cNvSpPr/>
          <p:nvPr/>
        </p:nvSpPr>
        <p:spPr>
          <a:xfrm>
            <a:off x="6291072" y="3447288"/>
            <a:ext cx="457200" cy="457200"/>
          </a:xfrm>
          <a:prstGeom prst="ellipse">
            <a:avLst/>
          </a:prstGeom>
          <a:solidFill>
            <a:srgbClr val="E8F5F0"/>
          </a:solidFill>
          <a:ln w="12700">
            <a:solidFill>
              <a:srgbClr val="E8F5F0"/>
            </a:solidFill>
            <a:prstDash val="solid"/>
          </a:ln>
        </p:spPr>
      </p:sp>
      <p:sp>
        <p:nvSpPr>
          <p:cNvPr id="34" name="Text 32"/>
          <p:cNvSpPr/>
          <p:nvPr/>
        </p:nvSpPr>
        <p:spPr>
          <a:xfrm>
            <a:off x="6291072" y="3429000"/>
            <a:ext cx="457200" cy="45720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5" name="Text 33"/>
          <p:cNvSpPr/>
          <p:nvPr/>
        </p:nvSpPr>
        <p:spPr>
          <a:xfrm>
            <a:off x="6858000" y="3447288"/>
            <a:ext cx="1828800" cy="320040"/>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Xray Push + Export</a:t>
            </a:r>
            <a:endParaRPr lang="en-US" sz="1100" dirty="0"/>
          </a:p>
        </p:txBody>
      </p:sp>
      <p:sp>
        <p:nvSpPr>
          <p:cNvPr id="36" name="Text 34"/>
          <p:cNvSpPr/>
          <p:nvPr/>
        </p:nvSpPr>
        <p:spPr>
          <a:xfrm>
            <a:off x="6291072" y="3904488"/>
            <a:ext cx="2377440" cy="594360"/>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Batch push with deduplication, retry, and 4 export formats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4</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HOW IT WORKS</a:t>
            </a:r>
            <a:endParaRPr lang="en-US" sz="800" dirty="0"/>
          </a:p>
        </p:txBody>
      </p:sp>
      <p:sp>
        <p:nvSpPr>
          <p:cNvPr id="5" name="Text 3"/>
          <p:cNvSpPr/>
          <p:nvPr/>
        </p:nvSpPr>
        <p:spPr>
          <a:xfrm>
            <a:off x="457200" y="594360"/>
            <a:ext cx="822960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End-to-End Workflow</a:t>
            </a:r>
            <a:endParaRPr lang="en-US" sz="3000" dirty="0"/>
          </a:p>
        </p:txBody>
      </p:sp>
      <p:sp>
        <p:nvSpPr>
          <p:cNvPr id="6" name="Shape 4"/>
          <p:cNvSpPr/>
          <p:nvPr/>
        </p:nvSpPr>
        <p:spPr>
          <a:xfrm>
            <a:off x="347472"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7" name="Shape 5"/>
          <p:cNvSpPr/>
          <p:nvPr/>
        </p:nvSpPr>
        <p:spPr>
          <a:xfrm>
            <a:off x="694944" y="1563624"/>
            <a:ext cx="384048" cy="384048"/>
          </a:xfrm>
          <a:prstGeom prst="ellipse">
            <a:avLst/>
          </a:prstGeom>
          <a:solidFill>
            <a:srgbClr val="028090"/>
          </a:solidFill>
          <a:ln w="12700">
            <a:solidFill>
              <a:srgbClr val="028090"/>
            </a:solidFill>
            <a:prstDash val="solid"/>
          </a:ln>
        </p:spPr>
      </p:sp>
      <p:sp>
        <p:nvSpPr>
          <p:cNvPr id="8" name="Text 6"/>
          <p:cNvSpPr/>
          <p:nvPr/>
        </p:nvSpPr>
        <p:spPr>
          <a:xfrm>
            <a:off x="694944"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347472"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Configure</a:t>
            </a:r>
            <a:endParaRPr lang="en-US" sz="1050" dirty="0"/>
          </a:p>
        </p:txBody>
      </p:sp>
      <p:sp>
        <p:nvSpPr>
          <p:cNvPr id="10" name="Text 8"/>
          <p:cNvSpPr/>
          <p:nvPr/>
        </p:nvSpPr>
        <p:spPr>
          <a:xfrm>
            <a:off x="347472"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Set LLM provider</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&amp; Jira/Xray keys</a:t>
            </a:r>
            <a:endParaRPr lang="en-US" sz="900" dirty="0"/>
          </a:p>
        </p:txBody>
      </p:sp>
      <p:sp>
        <p:nvSpPr>
          <p:cNvPr id="11" name="Shape 9"/>
          <p:cNvSpPr/>
          <p:nvPr/>
        </p:nvSpPr>
        <p:spPr>
          <a:xfrm>
            <a:off x="1444752" y="2423160"/>
            <a:ext cx="128016" cy="0"/>
          </a:xfrm>
          <a:prstGeom prst="line">
            <a:avLst/>
          </a:prstGeom>
          <a:noFill/>
          <a:ln w="19050">
            <a:solidFill>
              <a:srgbClr val="028090"/>
            </a:solidFill>
            <a:prstDash val="solid"/>
          </a:ln>
        </p:spPr>
      </p:sp>
      <p:sp>
        <p:nvSpPr>
          <p:cNvPr id="12" name="Shape 10"/>
          <p:cNvSpPr/>
          <p:nvPr/>
        </p:nvSpPr>
        <p:spPr>
          <a:xfrm>
            <a:off x="1591056"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13" name="Shape 11"/>
          <p:cNvSpPr/>
          <p:nvPr/>
        </p:nvSpPr>
        <p:spPr>
          <a:xfrm>
            <a:off x="1938528" y="1563624"/>
            <a:ext cx="384048" cy="384048"/>
          </a:xfrm>
          <a:prstGeom prst="ellipse">
            <a:avLst/>
          </a:prstGeom>
          <a:solidFill>
            <a:srgbClr val="028090"/>
          </a:solidFill>
          <a:ln w="12700">
            <a:solidFill>
              <a:srgbClr val="028090"/>
            </a:solidFill>
            <a:prstDash val="solid"/>
          </a:ln>
        </p:spPr>
      </p:sp>
      <p:sp>
        <p:nvSpPr>
          <p:cNvPr id="14" name="Text 12"/>
          <p:cNvSpPr/>
          <p:nvPr/>
        </p:nvSpPr>
        <p:spPr>
          <a:xfrm>
            <a:off x="1938528"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591056"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Requirements</a:t>
            </a:r>
            <a:endParaRPr lang="en-US" sz="1050" dirty="0"/>
          </a:p>
        </p:txBody>
      </p:sp>
      <p:sp>
        <p:nvSpPr>
          <p:cNvPr id="16" name="Text 14"/>
          <p:cNvSpPr/>
          <p:nvPr/>
        </p:nvSpPr>
        <p:spPr>
          <a:xfrm>
            <a:off x="1591056"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Paste, upload,</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or pull from Jira</a:t>
            </a:r>
            <a:endParaRPr lang="en-US" sz="900" dirty="0"/>
          </a:p>
        </p:txBody>
      </p:sp>
      <p:sp>
        <p:nvSpPr>
          <p:cNvPr id="17" name="Shape 15"/>
          <p:cNvSpPr/>
          <p:nvPr/>
        </p:nvSpPr>
        <p:spPr>
          <a:xfrm>
            <a:off x="2688336" y="2423160"/>
            <a:ext cx="128016" cy="0"/>
          </a:xfrm>
          <a:prstGeom prst="line">
            <a:avLst/>
          </a:prstGeom>
          <a:noFill/>
          <a:ln w="19050">
            <a:solidFill>
              <a:srgbClr val="028090"/>
            </a:solidFill>
            <a:prstDash val="solid"/>
          </a:ln>
        </p:spPr>
      </p:sp>
      <p:sp>
        <p:nvSpPr>
          <p:cNvPr id="18" name="Shape 16"/>
          <p:cNvSpPr/>
          <p:nvPr/>
        </p:nvSpPr>
        <p:spPr>
          <a:xfrm>
            <a:off x="2834640"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19" name="Shape 17"/>
          <p:cNvSpPr/>
          <p:nvPr/>
        </p:nvSpPr>
        <p:spPr>
          <a:xfrm>
            <a:off x="3182112" y="1563624"/>
            <a:ext cx="384048" cy="384048"/>
          </a:xfrm>
          <a:prstGeom prst="ellipse">
            <a:avLst/>
          </a:prstGeom>
          <a:solidFill>
            <a:srgbClr val="02A8BC"/>
          </a:solidFill>
          <a:ln w="12700">
            <a:solidFill>
              <a:srgbClr val="02A8BC"/>
            </a:solidFill>
            <a:prstDash val="solid"/>
          </a:ln>
        </p:spPr>
      </p:sp>
      <p:sp>
        <p:nvSpPr>
          <p:cNvPr id="20" name="Text 18"/>
          <p:cNvSpPr/>
          <p:nvPr/>
        </p:nvSpPr>
        <p:spPr>
          <a:xfrm>
            <a:off x="3182112"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p:nvPr/>
        </p:nvSpPr>
        <p:spPr>
          <a:xfrm>
            <a:off x="2834640"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Enhance</a:t>
            </a:r>
            <a:endParaRPr lang="en-US" sz="1050" dirty="0"/>
          </a:p>
        </p:txBody>
      </p:sp>
      <p:sp>
        <p:nvSpPr>
          <p:cNvPr id="22" name="Text 20"/>
          <p:cNvSpPr/>
          <p:nvPr/>
        </p:nvSpPr>
        <p:spPr>
          <a:xfrm>
            <a:off x="2834640"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AI identifies gaps,</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risks &amp; NFRs</a:t>
            </a:r>
            <a:endParaRPr lang="en-US" sz="900" dirty="0"/>
          </a:p>
        </p:txBody>
      </p:sp>
      <p:sp>
        <p:nvSpPr>
          <p:cNvPr id="23" name="Shape 21"/>
          <p:cNvSpPr/>
          <p:nvPr/>
        </p:nvSpPr>
        <p:spPr>
          <a:xfrm>
            <a:off x="3931920" y="2423160"/>
            <a:ext cx="128016" cy="0"/>
          </a:xfrm>
          <a:prstGeom prst="line">
            <a:avLst/>
          </a:prstGeom>
          <a:noFill/>
          <a:ln w="19050">
            <a:solidFill>
              <a:srgbClr val="028090"/>
            </a:solidFill>
            <a:prstDash val="solid"/>
          </a:ln>
        </p:spPr>
      </p:sp>
      <p:sp>
        <p:nvSpPr>
          <p:cNvPr id="24" name="Shape 22"/>
          <p:cNvSpPr/>
          <p:nvPr/>
        </p:nvSpPr>
        <p:spPr>
          <a:xfrm>
            <a:off x="4078224"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25" name="Shape 23"/>
          <p:cNvSpPr/>
          <p:nvPr/>
        </p:nvSpPr>
        <p:spPr>
          <a:xfrm>
            <a:off x="4425696" y="1563624"/>
            <a:ext cx="384048" cy="384048"/>
          </a:xfrm>
          <a:prstGeom prst="ellipse">
            <a:avLst/>
          </a:prstGeom>
          <a:solidFill>
            <a:srgbClr val="02A8BC"/>
          </a:solidFill>
          <a:ln w="12700">
            <a:solidFill>
              <a:srgbClr val="02A8BC"/>
            </a:solidFill>
            <a:prstDash val="solid"/>
          </a:ln>
        </p:spPr>
      </p:sp>
      <p:sp>
        <p:nvSpPr>
          <p:cNvPr id="26" name="Text 24"/>
          <p:cNvSpPr/>
          <p:nvPr/>
        </p:nvSpPr>
        <p:spPr>
          <a:xfrm>
            <a:off x="4425696"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7" name="Text 25"/>
          <p:cNvSpPr/>
          <p:nvPr/>
        </p:nvSpPr>
        <p:spPr>
          <a:xfrm>
            <a:off x="4078224"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Scenarios</a:t>
            </a:r>
            <a:endParaRPr lang="en-US" sz="1050" dirty="0"/>
          </a:p>
        </p:txBody>
      </p:sp>
      <p:sp>
        <p:nvSpPr>
          <p:cNvPr id="28" name="Text 26"/>
          <p:cNvSpPr/>
          <p:nvPr/>
        </p:nvSpPr>
        <p:spPr>
          <a:xfrm>
            <a:off x="4078224"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Traceable test</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scenarios generated</a:t>
            </a:r>
            <a:endParaRPr lang="en-US" sz="900" dirty="0"/>
          </a:p>
        </p:txBody>
      </p:sp>
      <p:sp>
        <p:nvSpPr>
          <p:cNvPr id="29" name="Shape 27"/>
          <p:cNvSpPr/>
          <p:nvPr/>
        </p:nvSpPr>
        <p:spPr>
          <a:xfrm>
            <a:off x="5175504" y="2423160"/>
            <a:ext cx="128016" cy="0"/>
          </a:xfrm>
          <a:prstGeom prst="line">
            <a:avLst/>
          </a:prstGeom>
          <a:noFill/>
          <a:ln w="19050">
            <a:solidFill>
              <a:srgbClr val="028090"/>
            </a:solidFill>
            <a:prstDash val="solid"/>
          </a:ln>
        </p:spPr>
      </p:sp>
      <p:sp>
        <p:nvSpPr>
          <p:cNvPr id="30" name="Shape 28"/>
          <p:cNvSpPr/>
          <p:nvPr/>
        </p:nvSpPr>
        <p:spPr>
          <a:xfrm>
            <a:off x="5321808"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31" name="Shape 29"/>
          <p:cNvSpPr/>
          <p:nvPr/>
        </p:nvSpPr>
        <p:spPr>
          <a:xfrm>
            <a:off x="5669280" y="1563624"/>
            <a:ext cx="384048" cy="384048"/>
          </a:xfrm>
          <a:prstGeom prst="ellipse">
            <a:avLst/>
          </a:prstGeom>
          <a:solidFill>
            <a:srgbClr val="028090"/>
          </a:solidFill>
          <a:ln w="12700">
            <a:solidFill>
              <a:srgbClr val="028090"/>
            </a:solidFill>
            <a:prstDash val="solid"/>
          </a:ln>
        </p:spPr>
      </p:sp>
      <p:sp>
        <p:nvSpPr>
          <p:cNvPr id="32" name="Text 30"/>
          <p:cNvSpPr/>
          <p:nvPr/>
        </p:nvSpPr>
        <p:spPr>
          <a:xfrm>
            <a:off x="5669280"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3" name="Text 31"/>
          <p:cNvSpPr/>
          <p:nvPr/>
        </p:nvSpPr>
        <p:spPr>
          <a:xfrm>
            <a:off x="5321808"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Test Cases</a:t>
            </a:r>
            <a:endParaRPr lang="en-US" sz="1050" dirty="0"/>
          </a:p>
        </p:txBody>
      </p:sp>
      <p:sp>
        <p:nvSpPr>
          <p:cNvPr id="34" name="Text 32"/>
          <p:cNvSpPr/>
          <p:nvPr/>
        </p:nvSpPr>
        <p:spPr>
          <a:xfrm>
            <a:off x="5321808"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Gherkin BDD cases</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with layer &amp; priority</a:t>
            </a:r>
            <a:endParaRPr lang="en-US" sz="900" dirty="0"/>
          </a:p>
        </p:txBody>
      </p:sp>
      <p:sp>
        <p:nvSpPr>
          <p:cNvPr id="35" name="Shape 33"/>
          <p:cNvSpPr/>
          <p:nvPr/>
        </p:nvSpPr>
        <p:spPr>
          <a:xfrm>
            <a:off x="6419088" y="2423160"/>
            <a:ext cx="128016" cy="0"/>
          </a:xfrm>
          <a:prstGeom prst="line">
            <a:avLst/>
          </a:prstGeom>
          <a:noFill/>
          <a:ln w="19050">
            <a:solidFill>
              <a:srgbClr val="028090"/>
            </a:solidFill>
            <a:prstDash val="solid"/>
          </a:ln>
        </p:spPr>
      </p:sp>
      <p:sp>
        <p:nvSpPr>
          <p:cNvPr id="36" name="Shape 34"/>
          <p:cNvSpPr/>
          <p:nvPr/>
        </p:nvSpPr>
        <p:spPr>
          <a:xfrm>
            <a:off x="6565392"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37" name="Shape 35"/>
          <p:cNvSpPr/>
          <p:nvPr/>
        </p:nvSpPr>
        <p:spPr>
          <a:xfrm>
            <a:off x="6912864" y="1563624"/>
            <a:ext cx="384048" cy="384048"/>
          </a:xfrm>
          <a:prstGeom prst="ellipse">
            <a:avLst/>
          </a:prstGeom>
          <a:solidFill>
            <a:srgbClr val="028090"/>
          </a:solidFill>
          <a:ln w="12700">
            <a:solidFill>
              <a:srgbClr val="028090"/>
            </a:solidFill>
            <a:prstDash val="solid"/>
          </a:ln>
        </p:spPr>
      </p:sp>
      <p:sp>
        <p:nvSpPr>
          <p:cNvPr id="38" name="Text 36"/>
          <p:cNvSpPr/>
          <p:nvPr/>
        </p:nvSpPr>
        <p:spPr>
          <a:xfrm>
            <a:off x="6912864"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9" name="Text 37"/>
          <p:cNvSpPr/>
          <p:nvPr/>
        </p:nvSpPr>
        <p:spPr>
          <a:xfrm>
            <a:off x="6565392"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Automation</a:t>
            </a:r>
            <a:endParaRPr lang="en-US" sz="1050" dirty="0"/>
          </a:p>
        </p:txBody>
      </p:sp>
      <p:sp>
        <p:nvSpPr>
          <p:cNvPr id="40" name="Text 38"/>
          <p:cNvSpPr/>
          <p:nvPr/>
        </p:nvSpPr>
        <p:spPr>
          <a:xfrm>
            <a:off x="6565392"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A–F analysis:</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feasibility &amp; ROI</a:t>
            </a:r>
            <a:endParaRPr lang="en-US" sz="900" dirty="0"/>
          </a:p>
        </p:txBody>
      </p:sp>
      <p:sp>
        <p:nvSpPr>
          <p:cNvPr id="41" name="Shape 39"/>
          <p:cNvSpPr/>
          <p:nvPr/>
        </p:nvSpPr>
        <p:spPr>
          <a:xfrm>
            <a:off x="7662672" y="2423160"/>
            <a:ext cx="128016" cy="0"/>
          </a:xfrm>
          <a:prstGeom prst="line">
            <a:avLst/>
          </a:prstGeom>
          <a:noFill/>
          <a:ln w="19050">
            <a:solidFill>
              <a:srgbClr val="028090"/>
            </a:solidFill>
            <a:prstDash val="solid"/>
          </a:ln>
        </p:spPr>
      </p:sp>
      <p:sp>
        <p:nvSpPr>
          <p:cNvPr id="42" name="Shape 40"/>
          <p:cNvSpPr/>
          <p:nvPr/>
        </p:nvSpPr>
        <p:spPr>
          <a:xfrm>
            <a:off x="7808976" y="1417320"/>
            <a:ext cx="1078992" cy="2011680"/>
          </a:xfrm>
          <a:prstGeom prst="roundRect">
            <a:avLst>
              <a:gd name="adj" fmla="val 8475"/>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43" name="Shape 41"/>
          <p:cNvSpPr/>
          <p:nvPr/>
        </p:nvSpPr>
        <p:spPr>
          <a:xfrm>
            <a:off x="8156448" y="1563624"/>
            <a:ext cx="384048" cy="384048"/>
          </a:xfrm>
          <a:prstGeom prst="ellipse">
            <a:avLst/>
          </a:prstGeom>
          <a:solidFill>
            <a:srgbClr val="E67E22"/>
          </a:solidFill>
          <a:ln w="12700">
            <a:solidFill>
              <a:srgbClr val="E67E22"/>
            </a:solidFill>
            <a:prstDash val="solid"/>
          </a:ln>
        </p:spPr>
      </p:sp>
      <p:sp>
        <p:nvSpPr>
          <p:cNvPr id="44" name="Text 42"/>
          <p:cNvSpPr/>
          <p:nvPr/>
        </p:nvSpPr>
        <p:spPr>
          <a:xfrm>
            <a:off x="8156448"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45" name="Text 43"/>
          <p:cNvSpPr/>
          <p:nvPr/>
        </p:nvSpPr>
        <p:spPr>
          <a:xfrm>
            <a:off x="7808976" y="2039112"/>
            <a:ext cx="1078992"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Push to Xray</a:t>
            </a:r>
            <a:endParaRPr lang="en-US" sz="1050" dirty="0"/>
          </a:p>
        </p:txBody>
      </p:sp>
      <p:sp>
        <p:nvSpPr>
          <p:cNvPr id="46" name="Text 44"/>
          <p:cNvSpPr/>
          <p:nvPr/>
        </p:nvSpPr>
        <p:spPr>
          <a:xfrm>
            <a:off x="7808976" y="2350008"/>
            <a:ext cx="1078992" cy="868680"/>
          </a:xfrm>
          <a:prstGeom prst="rect">
            <a:avLst/>
          </a:prstGeom>
          <a:noFill/>
          <a:ln/>
        </p:spPr>
        <p:txBody>
          <a:bodyPr wrap="square"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Batch push with</a:t>
            </a:r>
            <a:endParaRPr lang="en-US" sz="900" dirty="0"/>
          </a:p>
          <a:p>
            <a:pPr algn="ctr" indent="0" marL="0">
              <a:buNone/>
            </a:pPr>
            <a:r>
              <a:rPr lang="en-US" sz="900" dirty="0">
                <a:solidFill>
                  <a:srgbClr val="8BAEC8"/>
                </a:solidFill>
                <a:latin typeface="Arial" pitchFamily="34" charset="0"/>
                <a:ea typeface="Arial" pitchFamily="34" charset="-122"/>
                <a:cs typeface="Arial" pitchFamily="34" charset="-120"/>
              </a:rPr>
              <a:t>dedup &amp; retry</a:t>
            </a:r>
            <a:endParaRPr lang="en-US" sz="900" dirty="0"/>
          </a:p>
        </p:txBody>
      </p:sp>
      <p:sp>
        <p:nvSpPr>
          <p:cNvPr id="47" name="Shape 45"/>
          <p:cNvSpPr/>
          <p:nvPr/>
        </p:nvSpPr>
        <p:spPr>
          <a:xfrm>
            <a:off x="347472" y="3703320"/>
            <a:ext cx="8449056" cy="475488"/>
          </a:xfrm>
          <a:prstGeom prst="roundRect">
            <a:avLst>
              <a:gd name="adj" fmla="val 15385"/>
            </a:avLst>
          </a:prstGeom>
          <a:solidFill>
            <a:srgbClr val="0D3B5E"/>
          </a:solidFill>
          <a:ln w="12700">
            <a:solidFill>
              <a:srgbClr val="02A8BC"/>
            </a:solidFill>
            <a:prstDash val="solid"/>
          </a:ln>
        </p:spPr>
      </p:sp>
      <p:sp>
        <p:nvSpPr>
          <p:cNvPr id="48" name="Text 46"/>
          <p:cNvSpPr/>
          <p:nvPr/>
        </p:nvSpPr>
        <p:spPr>
          <a:xfrm>
            <a:off x="457200" y="3730752"/>
            <a:ext cx="8229600" cy="402336"/>
          </a:xfrm>
          <a:prstGeom prst="rect">
            <a:avLst/>
          </a:prstGeom>
          <a:noFill/>
          <a:ln/>
        </p:spPr>
        <p:txBody>
          <a:bodyPr wrap="square" rtlCol="0" anchor="ctr"/>
          <a:lstStyle/>
          <a:p>
            <a:pPr indent="0" marL="0">
              <a:buNone/>
            </a:pPr>
            <a:r>
              <a:rPr lang="en-US" sz="1100" b="1" dirty="0">
                <a:solidFill>
                  <a:srgbClr val="02A8BC"/>
                </a:solidFill>
                <a:latin typeface="Arial" pitchFamily="34" charset="0"/>
                <a:ea typeface="Arial" pitchFamily="34" charset="-122"/>
                <a:cs typeface="Arial" pitchFamily="34" charset="-120"/>
              </a:rPr>
              <a:t>⚡  "Generate All Artifacts" — triggers steps 2–6 sequentially in one click, with live progress display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5</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BUSINESS VALUE</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Key Metrics &amp; Business Impact</a:t>
            </a:r>
            <a:endParaRPr lang="en-US" sz="3000" dirty="0"/>
          </a:p>
        </p:txBody>
      </p:sp>
      <p:sp>
        <p:nvSpPr>
          <p:cNvPr id="6" name="Shape 4"/>
          <p:cNvSpPr/>
          <p:nvPr/>
        </p:nvSpPr>
        <p:spPr>
          <a:xfrm>
            <a:off x="457200" y="1234440"/>
            <a:ext cx="1965960" cy="1298448"/>
          </a:xfrm>
          <a:prstGeom prst="roundRect">
            <a:avLst>
              <a:gd name="adj" fmla="val 7042"/>
            </a:avLst>
          </a:prstGeom>
          <a:solidFill>
            <a:srgbClr val="1B2A4A"/>
          </a:solidFill>
          <a:ln w="12700">
            <a:solidFill>
              <a:srgbClr val="1B2A4A"/>
            </a:solidFill>
            <a:prstDash val="solid"/>
          </a:ln>
          <a:effectLst>
            <a:outerShdw sx="100000" sy="100000" kx="0" ky="0" algn="bl" rotWithShape="0" blurRad="177800" dist="50800" dir="2700000">
              <a:srgbClr val="000000">
                <a:alpha val="10000"/>
              </a:srgbClr>
            </a:outerShdw>
          </a:effectLst>
        </p:spPr>
      </p:sp>
      <p:sp>
        <p:nvSpPr>
          <p:cNvPr id="7" name="Text 5"/>
          <p:cNvSpPr/>
          <p:nvPr/>
        </p:nvSpPr>
        <p:spPr>
          <a:xfrm>
            <a:off x="457200" y="1399032"/>
            <a:ext cx="19659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v0.0.4</a:t>
            </a:r>
            <a:endParaRPr lang="en-US" sz="3800" dirty="0"/>
          </a:p>
        </p:txBody>
      </p:sp>
      <p:sp>
        <p:nvSpPr>
          <p:cNvPr id="8" name="Text 6"/>
          <p:cNvSpPr/>
          <p:nvPr/>
        </p:nvSpPr>
        <p:spPr>
          <a:xfrm>
            <a:off x="457200" y="1984248"/>
            <a:ext cx="1965960" cy="228600"/>
          </a:xfrm>
          <a:prstGeom prst="rect">
            <a:avLst/>
          </a:prstGeom>
          <a:noFill/>
          <a:ln/>
        </p:spPr>
        <p:txBody>
          <a:bodyPr wrap="square" lIns="0" tIns="0" rIns="0" bIns="0" rtlCol="0" anchor="ctr"/>
          <a:lstStyle/>
          <a:p>
            <a:pPr algn="ctr" indent="0" marL="0">
              <a:buNone/>
            </a:pPr>
            <a:r>
              <a:rPr lang="en-US" sz="1100" b="1" dirty="0">
                <a:solidFill>
                  <a:srgbClr val="8BAEC8"/>
                </a:solidFill>
                <a:latin typeface="Arial" pitchFamily="34" charset="0"/>
                <a:ea typeface="Arial" pitchFamily="34" charset="-122"/>
                <a:cs typeface="Arial" pitchFamily="34" charset="-120"/>
              </a:rPr>
              <a:t>Current Release</a:t>
            </a:r>
            <a:endParaRPr lang="en-US" sz="1100" dirty="0"/>
          </a:p>
        </p:txBody>
      </p:sp>
      <p:sp>
        <p:nvSpPr>
          <p:cNvPr id="9" name="Text 7"/>
          <p:cNvSpPr/>
          <p:nvPr/>
        </p:nvSpPr>
        <p:spPr>
          <a:xfrm>
            <a:off x="457200" y="2203704"/>
            <a:ext cx="1965960" cy="182880"/>
          </a:xfrm>
          <a:prstGeom prst="rect">
            <a:avLst/>
          </a:prstGeom>
          <a:noFill/>
          <a:ln/>
        </p:spPr>
        <p:txBody>
          <a:bodyPr wrap="square" lIns="0" tIns="0" rIns="0" bIns="0" rtlCol="0" anchor="ctr"/>
          <a:lstStyle/>
          <a:p>
            <a:pPr algn="ctr" indent="0" marL="0">
              <a:buNone/>
            </a:pPr>
            <a:r>
              <a:rPr lang="en-US" sz="900" dirty="0">
                <a:solidFill>
                  <a:srgbClr val="8BAEC8"/>
                </a:solidFill>
                <a:latin typeface="Arial" pitchFamily="34" charset="0"/>
                <a:ea typeface="Arial" pitchFamily="34" charset="-122"/>
                <a:cs typeface="Arial" pitchFamily="34" charset="-120"/>
              </a:rPr>
              <a:t>Live on GitHub</a:t>
            </a:r>
            <a:endParaRPr lang="en-US" sz="900" dirty="0"/>
          </a:p>
        </p:txBody>
      </p:sp>
      <p:sp>
        <p:nvSpPr>
          <p:cNvPr id="10" name="Shape 8"/>
          <p:cNvSpPr/>
          <p:nvPr/>
        </p:nvSpPr>
        <p:spPr>
          <a:xfrm>
            <a:off x="2651760" y="1234440"/>
            <a:ext cx="1965960" cy="1298448"/>
          </a:xfrm>
          <a:prstGeom prst="roundRect">
            <a:avLst>
              <a:gd name="adj" fmla="val 7042"/>
            </a:avLst>
          </a:prstGeom>
          <a:solidFill>
            <a:srgbClr val="028090"/>
          </a:solidFill>
          <a:ln w="12700">
            <a:solidFill>
              <a:srgbClr val="028090"/>
            </a:solidFill>
            <a:prstDash val="solid"/>
          </a:ln>
          <a:effectLst>
            <a:outerShdw sx="100000" sy="100000" kx="0" ky="0" algn="bl" rotWithShape="0" blurRad="177800" dist="50800" dir="2700000">
              <a:srgbClr val="000000">
                <a:alpha val="10000"/>
              </a:srgbClr>
            </a:outerShdw>
          </a:effectLst>
        </p:spPr>
      </p:sp>
      <p:sp>
        <p:nvSpPr>
          <p:cNvPr id="11" name="Text 9"/>
          <p:cNvSpPr/>
          <p:nvPr/>
        </p:nvSpPr>
        <p:spPr>
          <a:xfrm>
            <a:off x="2651760" y="1399032"/>
            <a:ext cx="19659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3</a:t>
            </a:r>
            <a:endParaRPr lang="en-US" sz="3800" dirty="0"/>
          </a:p>
        </p:txBody>
      </p:sp>
      <p:sp>
        <p:nvSpPr>
          <p:cNvPr id="12" name="Text 10"/>
          <p:cNvSpPr/>
          <p:nvPr/>
        </p:nvSpPr>
        <p:spPr>
          <a:xfrm>
            <a:off x="2651760" y="1984248"/>
            <a:ext cx="1965960" cy="228600"/>
          </a:xfrm>
          <a:prstGeom prst="rect">
            <a:avLst/>
          </a:prstGeom>
          <a:noFill/>
          <a:ln/>
        </p:spPr>
        <p:txBody>
          <a:bodyPr wrap="square" lIns="0" tIns="0" rIns="0" bIns="0" rtlCol="0" anchor="ctr"/>
          <a:lstStyle/>
          <a:p>
            <a:pPr algn="ctr" indent="0" marL="0">
              <a:buNone/>
            </a:pPr>
            <a:r>
              <a:rPr lang="en-US" sz="1100" b="1" dirty="0">
                <a:solidFill>
                  <a:srgbClr val="A0D8D0"/>
                </a:solidFill>
                <a:latin typeface="Arial" pitchFamily="34" charset="0"/>
                <a:ea typeface="Arial" pitchFamily="34" charset="-122"/>
                <a:cs typeface="Arial" pitchFamily="34" charset="-120"/>
              </a:rPr>
              <a:t>LLM Providers</a:t>
            </a:r>
            <a:endParaRPr lang="en-US" sz="1100" dirty="0"/>
          </a:p>
        </p:txBody>
      </p:sp>
      <p:sp>
        <p:nvSpPr>
          <p:cNvPr id="13" name="Text 11"/>
          <p:cNvSpPr/>
          <p:nvPr/>
        </p:nvSpPr>
        <p:spPr>
          <a:xfrm>
            <a:off x="2651760" y="2203704"/>
            <a:ext cx="1965960" cy="182880"/>
          </a:xfrm>
          <a:prstGeom prst="rect">
            <a:avLst/>
          </a:prstGeom>
          <a:noFill/>
          <a:ln/>
        </p:spPr>
        <p:txBody>
          <a:bodyPr wrap="square" lIns="0" tIns="0" rIns="0" bIns="0" rtlCol="0" anchor="ctr"/>
          <a:lstStyle/>
          <a:p>
            <a:pPr algn="ctr" indent="0" marL="0">
              <a:buNone/>
            </a:pPr>
            <a:r>
              <a:rPr lang="en-US" sz="900" dirty="0">
                <a:solidFill>
                  <a:srgbClr val="A0D8D0"/>
                </a:solidFill>
                <a:latin typeface="Arial" pitchFamily="34" charset="0"/>
                <a:ea typeface="Arial" pitchFamily="34" charset="-122"/>
                <a:cs typeface="Arial" pitchFamily="34" charset="-120"/>
              </a:rPr>
              <a:t>OpenAI · Anthropic · Gemini</a:t>
            </a:r>
            <a:endParaRPr lang="en-US" sz="900" dirty="0"/>
          </a:p>
        </p:txBody>
      </p:sp>
      <p:sp>
        <p:nvSpPr>
          <p:cNvPr id="14" name="Shape 12"/>
          <p:cNvSpPr/>
          <p:nvPr/>
        </p:nvSpPr>
        <p:spPr>
          <a:xfrm>
            <a:off x="4846320" y="1234440"/>
            <a:ext cx="1965960" cy="1298448"/>
          </a:xfrm>
          <a:prstGeom prst="roundRect">
            <a:avLst>
              <a:gd name="adj" fmla="val 7042"/>
            </a:avLst>
          </a:prstGeom>
          <a:solidFill>
            <a:srgbClr val="1A6B3A"/>
          </a:solidFill>
          <a:ln w="12700">
            <a:solidFill>
              <a:srgbClr val="1A6B3A"/>
            </a:solidFill>
            <a:prstDash val="solid"/>
          </a:ln>
          <a:effectLst>
            <a:outerShdw sx="100000" sy="100000" kx="0" ky="0" algn="bl" rotWithShape="0" blurRad="177800" dist="50800" dir="2700000">
              <a:srgbClr val="000000">
                <a:alpha val="10000"/>
              </a:srgbClr>
            </a:outerShdw>
          </a:effectLst>
        </p:spPr>
      </p:sp>
      <p:sp>
        <p:nvSpPr>
          <p:cNvPr id="15" name="Text 13"/>
          <p:cNvSpPr/>
          <p:nvPr/>
        </p:nvSpPr>
        <p:spPr>
          <a:xfrm>
            <a:off x="4846320" y="1399032"/>
            <a:ext cx="19659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9</a:t>
            </a:r>
            <a:endParaRPr lang="en-US" sz="3800" dirty="0"/>
          </a:p>
        </p:txBody>
      </p:sp>
      <p:sp>
        <p:nvSpPr>
          <p:cNvPr id="16" name="Text 14"/>
          <p:cNvSpPr/>
          <p:nvPr/>
        </p:nvSpPr>
        <p:spPr>
          <a:xfrm>
            <a:off x="4846320" y="1984248"/>
            <a:ext cx="1965960" cy="228600"/>
          </a:xfrm>
          <a:prstGeom prst="rect">
            <a:avLst/>
          </a:prstGeom>
          <a:noFill/>
          <a:ln/>
        </p:spPr>
        <p:txBody>
          <a:bodyPr wrap="square" lIns="0" tIns="0" rIns="0" bIns="0" rtlCol="0" anchor="ctr"/>
          <a:lstStyle/>
          <a:p>
            <a:pPr algn="ctr" indent="0" marL="0">
              <a:buNone/>
            </a:pPr>
            <a:r>
              <a:rPr lang="en-US" sz="1100" b="1" dirty="0">
                <a:solidFill>
                  <a:srgbClr val="A0D8A0"/>
                </a:solidFill>
                <a:latin typeface="Arial" pitchFamily="34" charset="0"/>
                <a:ea typeface="Arial" pitchFamily="34" charset="-122"/>
                <a:cs typeface="Arial" pitchFamily="34" charset="-120"/>
              </a:rPr>
              <a:t>Workflow Steps</a:t>
            </a:r>
            <a:endParaRPr lang="en-US" sz="1100" dirty="0"/>
          </a:p>
        </p:txBody>
      </p:sp>
      <p:sp>
        <p:nvSpPr>
          <p:cNvPr id="17" name="Text 15"/>
          <p:cNvSpPr/>
          <p:nvPr/>
        </p:nvSpPr>
        <p:spPr>
          <a:xfrm>
            <a:off x="4846320" y="2203704"/>
            <a:ext cx="1965960" cy="182880"/>
          </a:xfrm>
          <a:prstGeom prst="rect">
            <a:avLst/>
          </a:prstGeom>
          <a:noFill/>
          <a:ln/>
        </p:spPr>
        <p:txBody>
          <a:bodyPr wrap="square" lIns="0" tIns="0" rIns="0" bIns="0" rtlCol="0" anchor="ctr"/>
          <a:lstStyle/>
          <a:p>
            <a:pPr algn="ctr" indent="0" marL="0">
              <a:buNone/>
            </a:pPr>
            <a:r>
              <a:rPr lang="en-US" sz="900" dirty="0">
                <a:solidFill>
                  <a:srgbClr val="A0D8A0"/>
                </a:solidFill>
                <a:latin typeface="Arial" pitchFamily="34" charset="0"/>
                <a:ea typeface="Arial" pitchFamily="34" charset="-122"/>
                <a:cs typeface="Arial" pitchFamily="34" charset="-120"/>
              </a:rPr>
              <a:t>Configure → Push to Xray</a:t>
            </a:r>
            <a:endParaRPr lang="en-US" sz="900" dirty="0"/>
          </a:p>
        </p:txBody>
      </p:sp>
      <p:sp>
        <p:nvSpPr>
          <p:cNvPr id="18" name="Shape 16"/>
          <p:cNvSpPr/>
          <p:nvPr/>
        </p:nvSpPr>
        <p:spPr>
          <a:xfrm>
            <a:off x="7040880" y="1234440"/>
            <a:ext cx="1965960" cy="1298448"/>
          </a:xfrm>
          <a:prstGeom prst="roundRect">
            <a:avLst>
              <a:gd name="adj" fmla="val 7042"/>
            </a:avLst>
          </a:prstGeom>
          <a:solidFill>
            <a:srgbClr val="E67E22"/>
          </a:solidFill>
          <a:ln w="12700">
            <a:solidFill>
              <a:srgbClr val="E67E22"/>
            </a:solidFill>
            <a:prstDash val="solid"/>
          </a:ln>
          <a:effectLst>
            <a:outerShdw sx="100000" sy="100000" kx="0" ky="0" algn="bl" rotWithShape="0" blurRad="177800" dist="50800" dir="2700000">
              <a:srgbClr val="000000">
                <a:alpha val="10000"/>
              </a:srgbClr>
            </a:outerShdw>
          </a:effectLst>
        </p:spPr>
      </p:sp>
      <p:sp>
        <p:nvSpPr>
          <p:cNvPr id="19" name="Text 17"/>
          <p:cNvSpPr/>
          <p:nvPr/>
        </p:nvSpPr>
        <p:spPr>
          <a:xfrm>
            <a:off x="7040880" y="1399032"/>
            <a:ext cx="1965960" cy="5943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4</a:t>
            </a:r>
            <a:endParaRPr lang="en-US" sz="3800" dirty="0"/>
          </a:p>
        </p:txBody>
      </p:sp>
      <p:sp>
        <p:nvSpPr>
          <p:cNvPr id="20" name="Text 18"/>
          <p:cNvSpPr/>
          <p:nvPr/>
        </p:nvSpPr>
        <p:spPr>
          <a:xfrm>
            <a:off x="7040880" y="1984248"/>
            <a:ext cx="1965960" cy="228600"/>
          </a:xfrm>
          <a:prstGeom prst="rect">
            <a:avLst/>
          </a:prstGeom>
          <a:noFill/>
          <a:ln/>
        </p:spPr>
        <p:txBody>
          <a:bodyPr wrap="square" lIns="0" tIns="0" rIns="0" bIns="0" rtlCol="0" anchor="ctr"/>
          <a:lstStyle/>
          <a:p>
            <a:pPr algn="ctr" indent="0" marL="0">
              <a:buNone/>
            </a:pPr>
            <a:r>
              <a:rPr lang="en-US" sz="1100" b="1" dirty="0">
                <a:solidFill>
                  <a:srgbClr val="F5CBA0"/>
                </a:solidFill>
                <a:latin typeface="Arial" pitchFamily="34" charset="0"/>
                <a:ea typeface="Arial" pitchFamily="34" charset="-122"/>
                <a:cs typeface="Arial" pitchFamily="34" charset="-120"/>
              </a:rPr>
              <a:t>Export Formats</a:t>
            </a:r>
            <a:endParaRPr lang="en-US" sz="1100" dirty="0"/>
          </a:p>
        </p:txBody>
      </p:sp>
      <p:sp>
        <p:nvSpPr>
          <p:cNvPr id="21" name="Text 19"/>
          <p:cNvSpPr/>
          <p:nvPr/>
        </p:nvSpPr>
        <p:spPr>
          <a:xfrm>
            <a:off x="7040880" y="2203704"/>
            <a:ext cx="1965960" cy="182880"/>
          </a:xfrm>
          <a:prstGeom prst="rect">
            <a:avLst/>
          </a:prstGeom>
          <a:noFill/>
          <a:ln/>
        </p:spPr>
        <p:txBody>
          <a:bodyPr wrap="square" lIns="0" tIns="0" rIns="0" bIns="0" rtlCol="0" anchor="ctr"/>
          <a:lstStyle/>
          <a:p>
            <a:pPr algn="ctr" indent="0" marL="0">
              <a:buNone/>
            </a:pPr>
            <a:r>
              <a:rPr lang="en-US" sz="900" dirty="0">
                <a:solidFill>
                  <a:srgbClr val="F5CBA0"/>
                </a:solidFill>
                <a:latin typeface="Arial" pitchFamily="34" charset="0"/>
                <a:ea typeface="Arial" pitchFamily="34" charset="-122"/>
                <a:cs typeface="Arial" pitchFamily="34" charset="-120"/>
              </a:rPr>
              <a:t>.feature · CSV · JSON</a:t>
            </a:r>
            <a:endParaRPr lang="en-US" sz="900" dirty="0"/>
          </a:p>
        </p:txBody>
      </p:sp>
      <p:sp>
        <p:nvSpPr>
          <p:cNvPr id="22" name="Shape 20"/>
          <p:cNvSpPr/>
          <p:nvPr/>
        </p:nvSpPr>
        <p:spPr>
          <a:xfrm>
            <a:off x="457200" y="2743200"/>
            <a:ext cx="4069080" cy="1051560"/>
          </a:xfrm>
          <a:prstGeom prst="roundRect">
            <a:avLst>
              <a:gd name="adj" fmla="val 8696"/>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3" name="Shape 21"/>
          <p:cNvSpPr/>
          <p:nvPr/>
        </p:nvSpPr>
        <p:spPr>
          <a:xfrm>
            <a:off x="621792" y="3035808"/>
            <a:ext cx="457200" cy="457200"/>
          </a:xfrm>
          <a:prstGeom prst="ellipse">
            <a:avLst/>
          </a:prstGeom>
          <a:solidFill>
            <a:srgbClr val="E4EEF8"/>
          </a:solidFill>
          <a:ln w="12700">
            <a:solidFill>
              <a:srgbClr val="E4EEF8"/>
            </a:solidFill>
            <a:prstDash val="solid"/>
          </a:ln>
        </p:spPr>
      </p:sp>
      <p:sp>
        <p:nvSpPr>
          <p:cNvPr id="24" name="Text 22"/>
          <p:cNvSpPr/>
          <p:nvPr/>
        </p:nvSpPr>
        <p:spPr>
          <a:xfrm>
            <a:off x="621792" y="301752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5" name="Text 23"/>
          <p:cNvSpPr/>
          <p:nvPr/>
        </p:nvSpPr>
        <p:spPr>
          <a:xfrm>
            <a:off x="1207008" y="2871216"/>
            <a:ext cx="3182112" cy="274320"/>
          </a:xfrm>
          <a:prstGeom prst="rect">
            <a:avLst/>
          </a:prstGeom>
          <a:noFill/>
          <a:ln/>
        </p:spPr>
        <p:txBody>
          <a:bodyPr wrap="square" rtlCol="0" anchor="ctr"/>
          <a:lstStyle/>
          <a:p>
            <a:pPr indent="0" marL="0">
              <a:buNone/>
            </a:pPr>
            <a:r>
              <a:rPr lang="en-US" sz="1200" b="1" dirty="0">
                <a:solidFill>
                  <a:srgbClr val="1B2A4A"/>
                </a:solidFill>
                <a:latin typeface="Arial" pitchFamily="34" charset="0"/>
                <a:ea typeface="Arial" pitchFamily="34" charset="-122"/>
                <a:cs typeface="Arial" pitchFamily="34" charset="-120"/>
              </a:rPr>
              <a:t>Zero Context Switching</a:t>
            </a:r>
            <a:endParaRPr lang="en-US" sz="1200" dirty="0"/>
          </a:p>
        </p:txBody>
      </p:sp>
      <p:sp>
        <p:nvSpPr>
          <p:cNvPr id="26" name="Text 24"/>
          <p:cNvSpPr/>
          <p:nvPr/>
        </p:nvSpPr>
        <p:spPr>
          <a:xfrm>
            <a:off x="1207008" y="3145536"/>
            <a:ext cx="3182112" cy="566928"/>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Requirements, generation, and Xray push all happen in one VS Code panel. No tab hopping, no copy-pasting between tools.</a:t>
            </a:r>
            <a:endParaRPr lang="en-US" sz="1000" dirty="0"/>
          </a:p>
        </p:txBody>
      </p:sp>
      <p:sp>
        <p:nvSpPr>
          <p:cNvPr id="27" name="Shape 25"/>
          <p:cNvSpPr/>
          <p:nvPr/>
        </p:nvSpPr>
        <p:spPr>
          <a:xfrm>
            <a:off x="4800600" y="2743200"/>
            <a:ext cx="4069080" cy="1051560"/>
          </a:xfrm>
          <a:prstGeom prst="roundRect">
            <a:avLst>
              <a:gd name="adj" fmla="val 8696"/>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8" name="Shape 26"/>
          <p:cNvSpPr/>
          <p:nvPr/>
        </p:nvSpPr>
        <p:spPr>
          <a:xfrm>
            <a:off x="4965192" y="3035808"/>
            <a:ext cx="457200" cy="457200"/>
          </a:xfrm>
          <a:prstGeom prst="ellipse">
            <a:avLst/>
          </a:prstGeom>
          <a:solidFill>
            <a:srgbClr val="E4EEF8"/>
          </a:solidFill>
          <a:ln w="12700">
            <a:solidFill>
              <a:srgbClr val="E4EEF8"/>
            </a:solidFill>
            <a:prstDash val="solid"/>
          </a:ln>
        </p:spPr>
      </p:sp>
      <p:sp>
        <p:nvSpPr>
          <p:cNvPr id="29" name="Text 27"/>
          <p:cNvSpPr/>
          <p:nvPr/>
        </p:nvSpPr>
        <p:spPr>
          <a:xfrm>
            <a:off x="4965192" y="301752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30" name="Text 28"/>
          <p:cNvSpPr/>
          <p:nvPr/>
        </p:nvSpPr>
        <p:spPr>
          <a:xfrm>
            <a:off x="5550408" y="2871216"/>
            <a:ext cx="3182112" cy="274320"/>
          </a:xfrm>
          <a:prstGeom prst="rect">
            <a:avLst/>
          </a:prstGeom>
          <a:noFill/>
          <a:ln/>
        </p:spPr>
        <p:txBody>
          <a:bodyPr wrap="square" rtlCol="0" anchor="ctr"/>
          <a:lstStyle/>
          <a:p>
            <a:pPr indent="0" marL="0">
              <a:buNone/>
            </a:pPr>
            <a:r>
              <a:rPr lang="en-US" sz="1200" b="1" dirty="0">
                <a:solidFill>
                  <a:srgbClr val="1B2A4A"/>
                </a:solidFill>
                <a:latin typeface="Arial" pitchFamily="34" charset="0"/>
                <a:ea typeface="Arial" pitchFamily="34" charset="-122"/>
                <a:cs typeface="Arial" pitchFamily="34" charset="-120"/>
              </a:rPr>
              <a:t>Enterprise-Grade Security</a:t>
            </a:r>
            <a:endParaRPr lang="en-US" sz="1200" dirty="0"/>
          </a:p>
        </p:txBody>
      </p:sp>
      <p:sp>
        <p:nvSpPr>
          <p:cNvPr id="31" name="Text 29"/>
          <p:cNvSpPr/>
          <p:nvPr/>
        </p:nvSpPr>
        <p:spPr>
          <a:xfrm>
            <a:off x="5550408" y="3145536"/>
            <a:ext cx="3182112" cy="566928"/>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All API keys stored in OS-native SecretStorage. Xray uses OAuth 2.0. No credentials ever committed or logged.</a:t>
            </a:r>
            <a:endParaRPr lang="en-US" sz="1000" dirty="0"/>
          </a:p>
        </p:txBody>
      </p:sp>
      <p:sp>
        <p:nvSpPr>
          <p:cNvPr id="32" name="Shape 30"/>
          <p:cNvSpPr/>
          <p:nvPr/>
        </p:nvSpPr>
        <p:spPr>
          <a:xfrm>
            <a:off x="457200" y="3913632"/>
            <a:ext cx="4069080" cy="1051560"/>
          </a:xfrm>
          <a:prstGeom prst="roundRect">
            <a:avLst>
              <a:gd name="adj" fmla="val 8696"/>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3" name="Shape 31"/>
          <p:cNvSpPr/>
          <p:nvPr/>
        </p:nvSpPr>
        <p:spPr>
          <a:xfrm>
            <a:off x="621792" y="4206240"/>
            <a:ext cx="457200" cy="457200"/>
          </a:xfrm>
          <a:prstGeom prst="ellipse">
            <a:avLst/>
          </a:prstGeom>
          <a:solidFill>
            <a:srgbClr val="E4EEF8"/>
          </a:solidFill>
          <a:ln w="12700">
            <a:solidFill>
              <a:srgbClr val="E4EEF8"/>
            </a:solidFill>
            <a:prstDash val="solid"/>
          </a:ln>
        </p:spPr>
      </p:sp>
      <p:sp>
        <p:nvSpPr>
          <p:cNvPr id="34" name="Text 32"/>
          <p:cNvSpPr/>
          <p:nvPr/>
        </p:nvSpPr>
        <p:spPr>
          <a:xfrm>
            <a:off x="621792" y="4187952"/>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35" name="Text 33"/>
          <p:cNvSpPr/>
          <p:nvPr/>
        </p:nvSpPr>
        <p:spPr>
          <a:xfrm>
            <a:off x="1207008" y="4041648"/>
            <a:ext cx="3182112" cy="274320"/>
          </a:xfrm>
          <a:prstGeom prst="rect">
            <a:avLst/>
          </a:prstGeom>
          <a:noFill/>
          <a:ln/>
        </p:spPr>
        <p:txBody>
          <a:bodyPr wrap="square" rtlCol="0" anchor="ctr"/>
          <a:lstStyle/>
          <a:p>
            <a:pPr indent="0" marL="0">
              <a:buNone/>
            </a:pPr>
            <a:r>
              <a:rPr lang="en-US" sz="1200" b="1" dirty="0">
                <a:solidFill>
                  <a:srgbClr val="1B2A4A"/>
                </a:solidFill>
                <a:latin typeface="Arial" pitchFamily="34" charset="0"/>
                <a:ea typeface="Arial" pitchFamily="34" charset="-122"/>
                <a:cs typeface="Arial" pitchFamily="34" charset="-120"/>
              </a:rPr>
              <a:t>Data-Driven Automation</a:t>
            </a:r>
            <a:endParaRPr lang="en-US" sz="1200" dirty="0"/>
          </a:p>
        </p:txBody>
      </p:sp>
      <p:sp>
        <p:nvSpPr>
          <p:cNvPr id="36" name="Text 34"/>
          <p:cNvSpPr/>
          <p:nvPr/>
        </p:nvSpPr>
        <p:spPr>
          <a:xfrm>
            <a:off x="1207008" y="4315968"/>
            <a:ext cx="3182112" cy="566928"/>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Every test case receives an objective feasibility score (1–5) and ROI score (1–10). Automation backlog is prioritized, not guessed.</a:t>
            </a:r>
            <a:endParaRPr lang="en-US" sz="1000" dirty="0"/>
          </a:p>
        </p:txBody>
      </p:sp>
      <p:sp>
        <p:nvSpPr>
          <p:cNvPr id="37" name="Shape 35"/>
          <p:cNvSpPr/>
          <p:nvPr/>
        </p:nvSpPr>
        <p:spPr>
          <a:xfrm>
            <a:off x="4800600" y="3913632"/>
            <a:ext cx="4069080" cy="1051560"/>
          </a:xfrm>
          <a:prstGeom prst="roundRect">
            <a:avLst>
              <a:gd name="adj" fmla="val 8696"/>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8" name="Shape 36"/>
          <p:cNvSpPr/>
          <p:nvPr/>
        </p:nvSpPr>
        <p:spPr>
          <a:xfrm>
            <a:off x="4965192" y="4206240"/>
            <a:ext cx="457200" cy="457200"/>
          </a:xfrm>
          <a:prstGeom prst="ellipse">
            <a:avLst/>
          </a:prstGeom>
          <a:solidFill>
            <a:srgbClr val="E4EEF8"/>
          </a:solidFill>
          <a:ln w="12700">
            <a:solidFill>
              <a:srgbClr val="E4EEF8"/>
            </a:solidFill>
            <a:prstDash val="solid"/>
          </a:ln>
        </p:spPr>
      </p:sp>
      <p:sp>
        <p:nvSpPr>
          <p:cNvPr id="39" name="Text 37"/>
          <p:cNvSpPr/>
          <p:nvPr/>
        </p:nvSpPr>
        <p:spPr>
          <a:xfrm>
            <a:off x="4965192" y="4187952"/>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40" name="Text 38"/>
          <p:cNvSpPr/>
          <p:nvPr/>
        </p:nvSpPr>
        <p:spPr>
          <a:xfrm>
            <a:off x="5550408" y="4041648"/>
            <a:ext cx="3182112" cy="274320"/>
          </a:xfrm>
          <a:prstGeom prst="rect">
            <a:avLst/>
          </a:prstGeom>
          <a:noFill/>
          <a:ln/>
        </p:spPr>
        <p:txBody>
          <a:bodyPr wrap="square" rtlCol="0" anchor="ctr"/>
          <a:lstStyle/>
          <a:p>
            <a:pPr indent="0" marL="0">
              <a:buNone/>
            </a:pPr>
            <a:r>
              <a:rPr lang="en-US" sz="1200" b="1" dirty="0">
                <a:solidFill>
                  <a:srgbClr val="1B2A4A"/>
                </a:solidFill>
                <a:latin typeface="Arial" pitchFamily="34" charset="0"/>
                <a:ea typeface="Arial" pitchFamily="34" charset="-122"/>
                <a:cs typeface="Arial" pitchFamily="34" charset="-120"/>
              </a:rPr>
              <a:t>Duplicate Prevention</a:t>
            </a:r>
            <a:endParaRPr lang="en-US" sz="1200" dirty="0"/>
          </a:p>
        </p:txBody>
      </p:sp>
      <p:sp>
        <p:nvSpPr>
          <p:cNvPr id="41" name="Text 39"/>
          <p:cNvSpPr/>
          <p:nvPr/>
        </p:nvSpPr>
        <p:spPr>
          <a:xfrm>
            <a:off x="5550408" y="4315968"/>
            <a:ext cx="3182112" cy="566928"/>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SHA-256 fingerprinting ensures the same test case is never pushed twice — even across sessions — saving Xray cleanup time.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6</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CURRENT STATUS</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Release v0.0.4 — Delivered</a:t>
            </a:r>
            <a:endParaRPr lang="en-US" sz="3000" dirty="0"/>
          </a:p>
        </p:txBody>
      </p:sp>
      <p:sp>
        <p:nvSpPr>
          <p:cNvPr id="6" name="Shape 4"/>
          <p:cNvSpPr/>
          <p:nvPr/>
        </p:nvSpPr>
        <p:spPr>
          <a:xfrm>
            <a:off x="457200" y="1243584"/>
            <a:ext cx="8229600" cy="402336"/>
          </a:xfrm>
          <a:prstGeom prst="roundRect">
            <a:avLst>
              <a:gd name="adj" fmla="val 18182"/>
            </a:avLst>
          </a:prstGeom>
          <a:solidFill>
            <a:srgbClr val="E8F8F0"/>
          </a:solidFill>
          <a:ln w="12700">
            <a:solidFill>
              <a:srgbClr val="27AE60"/>
            </a:solidFill>
            <a:prstDash val="solid"/>
          </a:ln>
        </p:spPr>
      </p:sp>
      <p:sp>
        <p:nvSpPr>
          <p:cNvPr id="7" name="Text 5"/>
          <p:cNvSpPr/>
          <p:nvPr/>
        </p:nvSpPr>
        <p:spPr>
          <a:xfrm>
            <a:off x="548640" y="1261872"/>
            <a:ext cx="8046720" cy="365760"/>
          </a:xfrm>
          <a:prstGeom prst="rect">
            <a:avLst/>
          </a:prstGeom>
          <a:noFill/>
          <a:ln/>
        </p:spPr>
        <p:txBody>
          <a:bodyPr wrap="square" rtlCol="0" anchor="ctr"/>
          <a:lstStyle/>
          <a:p>
            <a:pPr indent="0" marL="0">
              <a:buNone/>
            </a:pPr>
            <a:r>
              <a:rPr lang="en-US" sz="1100" b="1" dirty="0">
                <a:solidFill>
                  <a:srgbClr val="1A6B3A"/>
                </a:solidFill>
                <a:latin typeface="Arial" pitchFamily="34" charset="0"/>
                <a:ea typeface="Arial" pitchFamily="34" charset="-122"/>
                <a:cs typeface="Arial" pitchFamily="34" charset="-120"/>
              </a:rPr>
              <a:t>✅  Version 0.0.4 is merged to main and live on GitHub  ·  CI/CD: All checks passed (build-test ✓ · lint ✓ · typecheck ✓)</a:t>
            </a:r>
            <a:endParaRPr lang="en-US" sz="1100" dirty="0"/>
          </a:p>
        </p:txBody>
      </p:sp>
      <p:sp>
        <p:nvSpPr>
          <p:cNvPr id="8" name="Shape 6"/>
          <p:cNvSpPr/>
          <p:nvPr/>
        </p:nvSpPr>
        <p:spPr>
          <a:xfrm>
            <a:off x="457200" y="1810512"/>
            <a:ext cx="8229600" cy="530352"/>
          </a:xfrm>
          <a:prstGeom prst="roundRect">
            <a:avLst>
              <a:gd name="adj" fmla="val 17241"/>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9" name="Shape 7"/>
          <p:cNvSpPr/>
          <p:nvPr/>
        </p:nvSpPr>
        <p:spPr>
          <a:xfrm>
            <a:off x="603504" y="1929384"/>
            <a:ext cx="292608" cy="292608"/>
          </a:xfrm>
          <a:prstGeom prst="ellipse">
            <a:avLst/>
          </a:prstGeom>
          <a:solidFill>
            <a:srgbClr val="27AE60"/>
          </a:solidFill>
          <a:ln w="12700">
            <a:solidFill>
              <a:srgbClr val="27AE60"/>
            </a:solidFill>
            <a:prstDash val="solid"/>
          </a:ln>
        </p:spPr>
      </p:sp>
      <p:sp>
        <p:nvSpPr>
          <p:cNvPr id="10" name="Text 8"/>
          <p:cNvSpPr/>
          <p:nvPr/>
        </p:nvSpPr>
        <p:spPr>
          <a:xfrm>
            <a:off x="603504"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1" name="Text 9"/>
          <p:cNvSpPr/>
          <p:nvPr/>
        </p:nvSpPr>
        <p:spPr>
          <a:xfrm>
            <a:off x="1005840" y="1865376"/>
            <a:ext cx="2286000" cy="237744"/>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Sequential Generation Workflow</a:t>
            </a:r>
            <a:endParaRPr lang="en-US" sz="1100" dirty="0"/>
          </a:p>
        </p:txBody>
      </p:sp>
      <p:sp>
        <p:nvSpPr>
          <p:cNvPr id="12" name="Text 10"/>
          <p:cNvSpPr/>
          <p:nvPr/>
        </p:nvSpPr>
        <p:spPr>
          <a:xfrm>
            <a:off x="1005840" y="2084832"/>
            <a:ext cx="7498080" cy="219456"/>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"Generate All Artifacts" button chains all 4 AI steps in sequence with live progress feedback (1/4 → 4/4). Stale-state bug fixed using React refs.</a:t>
            </a:r>
            <a:endParaRPr lang="en-US" sz="1000" dirty="0"/>
          </a:p>
        </p:txBody>
      </p:sp>
      <p:sp>
        <p:nvSpPr>
          <p:cNvPr id="13" name="Shape 11"/>
          <p:cNvSpPr/>
          <p:nvPr/>
        </p:nvSpPr>
        <p:spPr>
          <a:xfrm>
            <a:off x="457200" y="2414016"/>
            <a:ext cx="8229600" cy="530352"/>
          </a:xfrm>
          <a:prstGeom prst="roundRect">
            <a:avLst>
              <a:gd name="adj" fmla="val 17241"/>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4" name="Shape 12"/>
          <p:cNvSpPr/>
          <p:nvPr/>
        </p:nvSpPr>
        <p:spPr>
          <a:xfrm>
            <a:off x="603504" y="2532888"/>
            <a:ext cx="292608" cy="292608"/>
          </a:xfrm>
          <a:prstGeom prst="ellipse">
            <a:avLst/>
          </a:prstGeom>
          <a:solidFill>
            <a:srgbClr val="27AE60"/>
          </a:solidFill>
          <a:ln w="12700">
            <a:solidFill>
              <a:srgbClr val="27AE60"/>
            </a:solidFill>
            <a:prstDash val="solid"/>
          </a:ln>
        </p:spPr>
      </p:sp>
      <p:sp>
        <p:nvSpPr>
          <p:cNvPr id="15" name="Text 13"/>
          <p:cNvSpPr/>
          <p:nvPr/>
        </p:nvSpPr>
        <p:spPr>
          <a:xfrm>
            <a:off x="603504" y="25237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6" name="Text 14"/>
          <p:cNvSpPr/>
          <p:nvPr/>
        </p:nvSpPr>
        <p:spPr>
          <a:xfrm>
            <a:off x="1005840" y="2468880"/>
            <a:ext cx="2286000" cy="237744"/>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Gemini Provider Reliability</a:t>
            </a:r>
            <a:endParaRPr lang="en-US" sz="1100" dirty="0"/>
          </a:p>
        </p:txBody>
      </p:sp>
      <p:sp>
        <p:nvSpPr>
          <p:cNvPr id="17" name="Text 15"/>
          <p:cNvSpPr/>
          <p:nvPr/>
        </p:nvSpPr>
        <p:spPr>
          <a:xfrm>
            <a:off x="1005840" y="2688336"/>
            <a:ext cx="7498080" cy="219456"/>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Transient retry logic with exponential backoff (1200ms base + jitter). Automatic fallback to available models on 429/503. Audio/TTS models filtered from dropdown.</a:t>
            </a:r>
            <a:endParaRPr lang="en-US" sz="1000" dirty="0"/>
          </a:p>
        </p:txBody>
      </p:sp>
      <p:sp>
        <p:nvSpPr>
          <p:cNvPr id="18" name="Shape 16"/>
          <p:cNvSpPr/>
          <p:nvPr/>
        </p:nvSpPr>
        <p:spPr>
          <a:xfrm>
            <a:off x="457200" y="3017520"/>
            <a:ext cx="8229600" cy="530352"/>
          </a:xfrm>
          <a:prstGeom prst="roundRect">
            <a:avLst>
              <a:gd name="adj" fmla="val 17241"/>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9" name="Shape 17"/>
          <p:cNvSpPr/>
          <p:nvPr/>
        </p:nvSpPr>
        <p:spPr>
          <a:xfrm>
            <a:off x="603504" y="3136392"/>
            <a:ext cx="292608" cy="292608"/>
          </a:xfrm>
          <a:prstGeom prst="ellipse">
            <a:avLst/>
          </a:prstGeom>
          <a:solidFill>
            <a:srgbClr val="27AE60"/>
          </a:solidFill>
          <a:ln w="12700">
            <a:solidFill>
              <a:srgbClr val="27AE60"/>
            </a:solidFill>
            <a:prstDash val="solid"/>
          </a:ln>
        </p:spPr>
      </p:sp>
      <p:sp>
        <p:nvSpPr>
          <p:cNvPr id="20" name="Text 18"/>
          <p:cNvSpPr/>
          <p:nvPr/>
        </p:nvSpPr>
        <p:spPr>
          <a:xfrm>
            <a:off x="603504" y="31272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1" name="Text 19"/>
          <p:cNvSpPr/>
          <p:nvPr/>
        </p:nvSpPr>
        <p:spPr>
          <a:xfrm>
            <a:off x="1005840" y="3072384"/>
            <a:ext cx="2286000" cy="237744"/>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Enhanced CSV Export</a:t>
            </a:r>
            <a:endParaRPr lang="en-US" sz="1100" dirty="0"/>
          </a:p>
        </p:txBody>
      </p:sp>
      <p:sp>
        <p:nvSpPr>
          <p:cNvPr id="22" name="Text 20"/>
          <p:cNvSpPr/>
          <p:nvPr/>
        </p:nvSpPr>
        <p:spPr>
          <a:xfrm>
            <a:off x="1005840" y="3291840"/>
            <a:ext cx="7498080" cy="219456"/>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Test cases export with 10 columns including Detailed Steps and Test Data. Automation CSV includes feasibility, ROI, and layer breakdown.</a:t>
            </a:r>
            <a:endParaRPr lang="en-US" sz="1000" dirty="0"/>
          </a:p>
        </p:txBody>
      </p:sp>
      <p:sp>
        <p:nvSpPr>
          <p:cNvPr id="23" name="Shape 21"/>
          <p:cNvSpPr/>
          <p:nvPr/>
        </p:nvSpPr>
        <p:spPr>
          <a:xfrm>
            <a:off x="457200" y="3621024"/>
            <a:ext cx="8229600" cy="530352"/>
          </a:xfrm>
          <a:prstGeom prst="roundRect">
            <a:avLst>
              <a:gd name="adj" fmla="val 17241"/>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4" name="Shape 22"/>
          <p:cNvSpPr/>
          <p:nvPr/>
        </p:nvSpPr>
        <p:spPr>
          <a:xfrm>
            <a:off x="603504" y="3739896"/>
            <a:ext cx="292608" cy="292608"/>
          </a:xfrm>
          <a:prstGeom prst="ellipse">
            <a:avLst/>
          </a:prstGeom>
          <a:solidFill>
            <a:srgbClr val="27AE60"/>
          </a:solidFill>
          <a:ln w="12700">
            <a:solidFill>
              <a:srgbClr val="27AE60"/>
            </a:solidFill>
            <a:prstDash val="solid"/>
          </a:ln>
        </p:spPr>
      </p:sp>
      <p:sp>
        <p:nvSpPr>
          <p:cNvPr id="25" name="Text 23"/>
          <p:cNvSpPr/>
          <p:nvPr/>
        </p:nvSpPr>
        <p:spPr>
          <a:xfrm>
            <a:off x="603504" y="3730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6" name="Text 24"/>
          <p:cNvSpPr/>
          <p:nvPr/>
        </p:nvSpPr>
        <p:spPr>
          <a:xfrm>
            <a:off x="1005840" y="3675888"/>
            <a:ext cx="2286000" cy="237744"/>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Responsive UI Layout</a:t>
            </a:r>
            <a:endParaRPr lang="en-US" sz="1100" dirty="0"/>
          </a:p>
        </p:txBody>
      </p:sp>
      <p:sp>
        <p:nvSpPr>
          <p:cNvPr id="27" name="Text 25"/>
          <p:cNvSpPr/>
          <p:nvPr/>
        </p:nvSpPr>
        <p:spPr>
          <a:xfrm>
            <a:off x="1005840" y="3895344"/>
            <a:ext cx="7498080" cy="219456"/>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Requirements header reorganised: Generate All button moved to requirements tab for logical flow. Mobile-responsive layout for narrow viewports.</a:t>
            </a:r>
            <a:endParaRPr lang="en-US" sz="1000" dirty="0"/>
          </a:p>
        </p:txBody>
      </p:sp>
      <p:sp>
        <p:nvSpPr>
          <p:cNvPr id="28" name="Shape 26"/>
          <p:cNvSpPr/>
          <p:nvPr/>
        </p:nvSpPr>
        <p:spPr>
          <a:xfrm>
            <a:off x="457200" y="4224528"/>
            <a:ext cx="8229600" cy="530352"/>
          </a:xfrm>
          <a:prstGeom prst="roundRect">
            <a:avLst>
              <a:gd name="adj" fmla="val 17241"/>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9" name="Shape 27"/>
          <p:cNvSpPr/>
          <p:nvPr/>
        </p:nvSpPr>
        <p:spPr>
          <a:xfrm>
            <a:off x="603504" y="4343400"/>
            <a:ext cx="292608" cy="292608"/>
          </a:xfrm>
          <a:prstGeom prst="ellipse">
            <a:avLst/>
          </a:prstGeom>
          <a:solidFill>
            <a:srgbClr val="27AE60"/>
          </a:solidFill>
          <a:ln w="12700">
            <a:solidFill>
              <a:srgbClr val="27AE60"/>
            </a:solidFill>
            <a:prstDash val="solid"/>
          </a:ln>
        </p:spPr>
      </p:sp>
      <p:sp>
        <p:nvSpPr>
          <p:cNvPr id="30" name="Text 28"/>
          <p:cNvSpPr/>
          <p:nvPr/>
        </p:nvSpPr>
        <p:spPr>
          <a:xfrm>
            <a:off x="603504" y="433425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1" name="Text 29"/>
          <p:cNvSpPr/>
          <p:nvPr/>
        </p:nvSpPr>
        <p:spPr>
          <a:xfrm>
            <a:off x="1005840" y="4279392"/>
            <a:ext cx="2286000" cy="237744"/>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CLAUDE.md Documentation</a:t>
            </a:r>
            <a:endParaRPr lang="en-US" sz="1100" dirty="0"/>
          </a:p>
        </p:txBody>
      </p:sp>
      <p:sp>
        <p:nvSpPr>
          <p:cNvPr id="32" name="Text 30"/>
          <p:cNvSpPr/>
          <p:nvPr/>
        </p:nvSpPr>
        <p:spPr>
          <a:xfrm>
            <a:off x="1005840" y="4498848"/>
            <a:ext cx="7498080" cy="219456"/>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Codebase guidance file added for future developers and AI-assisted development workflows.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7</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INTEGRATIONS</a:t>
            </a:r>
            <a:endParaRPr lang="en-US" sz="800" dirty="0"/>
          </a:p>
        </p:txBody>
      </p:sp>
      <p:sp>
        <p:nvSpPr>
          <p:cNvPr id="5" name="Text 3"/>
          <p:cNvSpPr/>
          <p:nvPr/>
        </p:nvSpPr>
        <p:spPr>
          <a:xfrm>
            <a:off x="457200" y="594360"/>
            <a:ext cx="822960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Integration Ecosystem</a:t>
            </a:r>
            <a:endParaRPr lang="en-US" sz="3000" dirty="0"/>
          </a:p>
        </p:txBody>
      </p:sp>
      <p:sp>
        <p:nvSpPr>
          <p:cNvPr id="6" name="Shape 4"/>
          <p:cNvSpPr/>
          <p:nvPr/>
        </p:nvSpPr>
        <p:spPr>
          <a:xfrm>
            <a:off x="3566160" y="1463040"/>
            <a:ext cx="2011680" cy="2011680"/>
          </a:xfrm>
          <a:prstGeom prst="ellipse">
            <a:avLst/>
          </a:prstGeom>
          <a:solidFill>
            <a:srgbClr val="028090"/>
          </a:solidFill>
          <a:ln w="25400">
            <a:solidFill>
              <a:srgbClr val="02A8BC"/>
            </a:solidFill>
            <a:prstDash val="solid"/>
          </a:ln>
          <a:effectLst>
            <a:outerShdw sx="100000" sy="100000" kx="0" ky="0" algn="bl" rotWithShape="0" blurRad="127000" dist="38100" dir="2700000">
              <a:srgbClr val="000000">
                <a:alpha val="12000"/>
              </a:srgbClr>
            </a:outerShdw>
          </a:effectLst>
        </p:spPr>
      </p:sp>
      <p:sp>
        <p:nvSpPr>
          <p:cNvPr id="7" name="Text 5"/>
          <p:cNvSpPr/>
          <p:nvPr/>
        </p:nvSpPr>
        <p:spPr>
          <a:xfrm>
            <a:off x="3566160" y="1463040"/>
            <a:ext cx="2011680" cy="1005840"/>
          </a:xfrm>
          <a:prstGeom prst="rect">
            <a:avLst/>
          </a:prstGeom>
          <a:noFill/>
          <a:ln/>
        </p:spPr>
        <p:txBody>
          <a:bodyPr wrap="square" lIns="0" tIns="0" rIns="0" bIns="0" rtlCol="0" anchor="b"/>
          <a:lstStyle/>
          <a:p>
            <a:pPr algn="ctr" indent="0" marL="0">
              <a:buNone/>
            </a:pPr>
            <a:r>
              <a:rPr lang="en-US" sz="1600" b="1" dirty="0">
                <a:solidFill>
                  <a:srgbClr val="FFFFFF"/>
                </a:solidFill>
                <a:latin typeface="Cambria" pitchFamily="34" charset="0"/>
                <a:ea typeface="Cambria" pitchFamily="34" charset="-122"/>
                <a:cs typeface="Cambria" pitchFamily="34" charset="-120"/>
              </a:rPr>
              <a:t>TraceLM</a:t>
            </a:r>
            <a:endParaRPr lang="en-US" sz="1600" dirty="0"/>
          </a:p>
        </p:txBody>
      </p:sp>
      <p:sp>
        <p:nvSpPr>
          <p:cNvPr id="8" name="Text 6"/>
          <p:cNvSpPr/>
          <p:nvPr/>
        </p:nvSpPr>
        <p:spPr>
          <a:xfrm>
            <a:off x="3566160" y="2468880"/>
            <a:ext cx="2011680" cy="1005840"/>
          </a:xfrm>
          <a:prstGeom prst="rect">
            <a:avLst/>
          </a:prstGeom>
          <a:noFill/>
          <a:ln/>
        </p:spPr>
        <p:txBody>
          <a:bodyPr wrap="square" lIns="0" tIns="0" rIns="0" bIns="0" rtlCol="0" anchor="t"/>
          <a:lstStyle/>
          <a:p>
            <a:pPr algn="ctr" indent="0" marL="0">
              <a:buNone/>
            </a:pPr>
            <a:r>
              <a:rPr lang="en-US" sz="950" dirty="0">
                <a:solidFill>
                  <a:srgbClr val="A0D8D0"/>
                </a:solidFill>
                <a:latin typeface="Arial" pitchFamily="34" charset="0"/>
                <a:ea typeface="Arial" pitchFamily="34" charset="-122"/>
                <a:cs typeface="Arial" pitchFamily="34" charset="-120"/>
              </a:rPr>
              <a:t>VS Code</a:t>
            </a:r>
            <a:endParaRPr lang="en-US" sz="950" dirty="0"/>
          </a:p>
          <a:p>
            <a:pPr algn="ctr" indent="0" marL="0">
              <a:buNone/>
            </a:pPr>
            <a:r>
              <a:rPr lang="en-US" sz="950" dirty="0">
                <a:solidFill>
                  <a:srgbClr val="A0D8D0"/>
                </a:solidFill>
                <a:latin typeface="Arial" pitchFamily="34" charset="0"/>
                <a:ea typeface="Arial" pitchFamily="34" charset="-122"/>
                <a:cs typeface="Arial" pitchFamily="34" charset="-120"/>
              </a:rPr>
              <a:t>Extension</a:t>
            </a:r>
            <a:endParaRPr lang="en-US" sz="950" dirty="0"/>
          </a:p>
        </p:txBody>
      </p:sp>
      <p:sp>
        <p:nvSpPr>
          <p:cNvPr id="9" name="Shape 7"/>
          <p:cNvSpPr/>
          <p:nvPr/>
        </p:nvSpPr>
        <p:spPr>
          <a:xfrm>
            <a:off x="320040" y="1188720"/>
            <a:ext cx="2286000" cy="658368"/>
          </a:xfrm>
          <a:prstGeom prst="roundRect">
            <a:avLst>
              <a:gd name="adj" fmla="val 13889"/>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10" name="Shape 8"/>
          <p:cNvSpPr/>
          <p:nvPr/>
        </p:nvSpPr>
        <p:spPr>
          <a:xfrm>
            <a:off x="457200" y="1344168"/>
            <a:ext cx="347472" cy="347472"/>
          </a:xfrm>
          <a:prstGeom prst="ellipse">
            <a:avLst/>
          </a:prstGeom>
          <a:solidFill>
            <a:srgbClr val="0A5C2B"/>
          </a:solidFill>
          <a:ln w="12700">
            <a:solidFill>
              <a:srgbClr val="0A5C2B"/>
            </a:solidFill>
            <a:prstDash val="solid"/>
          </a:ln>
        </p:spPr>
      </p:sp>
      <p:sp>
        <p:nvSpPr>
          <p:cNvPr id="11" name="Text 9"/>
          <p:cNvSpPr/>
          <p:nvPr/>
        </p:nvSpPr>
        <p:spPr>
          <a:xfrm>
            <a:off x="932688" y="1243584"/>
            <a:ext cx="1572768"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OpenAI</a:t>
            </a:r>
            <a:endParaRPr lang="en-US" sz="1100" dirty="0"/>
          </a:p>
        </p:txBody>
      </p:sp>
      <p:sp>
        <p:nvSpPr>
          <p:cNvPr id="12" name="Text 10"/>
          <p:cNvSpPr/>
          <p:nvPr/>
        </p:nvSpPr>
        <p:spPr>
          <a:xfrm>
            <a:off x="932688" y="1499616"/>
            <a:ext cx="1572768" cy="219456"/>
          </a:xfrm>
          <a:prstGeom prst="rect">
            <a:avLst/>
          </a:prstGeom>
          <a:noFill/>
          <a:ln/>
        </p:spPr>
        <p:txBody>
          <a:bodyPr wrap="square" rtlCol="0" anchor="ctr"/>
          <a:lstStyle/>
          <a:p>
            <a:pPr indent="0" marL="0">
              <a:buNone/>
            </a:pPr>
            <a:r>
              <a:rPr lang="en-US" sz="900" dirty="0">
                <a:solidFill>
                  <a:srgbClr val="8BAEC8"/>
                </a:solidFill>
                <a:latin typeface="Arial" pitchFamily="34" charset="0"/>
                <a:ea typeface="Arial" pitchFamily="34" charset="-122"/>
                <a:cs typeface="Arial" pitchFamily="34" charset="-120"/>
              </a:rPr>
              <a:t>GPT-4o / 4.1</a:t>
            </a:r>
            <a:endParaRPr lang="en-US" sz="900" dirty="0"/>
          </a:p>
        </p:txBody>
      </p:sp>
      <p:sp>
        <p:nvSpPr>
          <p:cNvPr id="13" name="Shape 11"/>
          <p:cNvSpPr/>
          <p:nvPr/>
        </p:nvSpPr>
        <p:spPr>
          <a:xfrm>
            <a:off x="2606040" y="1517904"/>
            <a:ext cx="960120" cy="0"/>
          </a:xfrm>
          <a:prstGeom prst="line">
            <a:avLst/>
          </a:prstGeom>
          <a:noFill/>
          <a:ln w="12700">
            <a:solidFill>
              <a:srgbClr val="028090"/>
            </a:solidFill>
            <a:prstDash val="dashDot"/>
          </a:ln>
        </p:spPr>
      </p:sp>
      <p:sp>
        <p:nvSpPr>
          <p:cNvPr id="14" name="Shape 12"/>
          <p:cNvSpPr/>
          <p:nvPr/>
        </p:nvSpPr>
        <p:spPr>
          <a:xfrm>
            <a:off x="320040" y="2148840"/>
            <a:ext cx="2286000" cy="658368"/>
          </a:xfrm>
          <a:prstGeom prst="roundRect">
            <a:avLst>
              <a:gd name="adj" fmla="val 13889"/>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15" name="Shape 13"/>
          <p:cNvSpPr/>
          <p:nvPr/>
        </p:nvSpPr>
        <p:spPr>
          <a:xfrm>
            <a:off x="457200" y="2304288"/>
            <a:ext cx="347472" cy="347472"/>
          </a:xfrm>
          <a:prstGeom prst="ellipse">
            <a:avLst/>
          </a:prstGeom>
          <a:solidFill>
            <a:srgbClr val="5B3270"/>
          </a:solidFill>
          <a:ln w="12700">
            <a:solidFill>
              <a:srgbClr val="5B3270"/>
            </a:solidFill>
            <a:prstDash val="solid"/>
          </a:ln>
        </p:spPr>
      </p:sp>
      <p:sp>
        <p:nvSpPr>
          <p:cNvPr id="16" name="Text 14"/>
          <p:cNvSpPr/>
          <p:nvPr/>
        </p:nvSpPr>
        <p:spPr>
          <a:xfrm>
            <a:off x="932688" y="2203704"/>
            <a:ext cx="1572768"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Anthropic</a:t>
            </a:r>
            <a:endParaRPr lang="en-US" sz="1100" dirty="0"/>
          </a:p>
        </p:txBody>
      </p:sp>
      <p:sp>
        <p:nvSpPr>
          <p:cNvPr id="17" name="Text 15"/>
          <p:cNvSpPr/>
          <p:nvPr/>
        </p:nvSpPr>
        <p:spPr>
          <a:xfrm>
            <a:off x="932688" y="2459736"/>
            <a:ext cx="1572768" cy="219456"/>
          </a:xfrm>
          <a:prstGeom prst="rect">
            <a:avLst/>
          </a:prstGeom>
          <a:noFill/>
          <a:ln/>
        </p:spPr>
        <p:txBody>
          <a:bodyPr wrap="square" rtlCol="0" anchor="ctr"/>
          <a:lstStyle/>
          <a:p>
            <a:pPr indent="0" marL="0">
              <a:buNone/>
            </a:pPr>
            <a:r>
              <a:rPr lang="en-US" sz="900" dirty="0">
                <a:solidFill>
                  <a:srgbClr val="8BAEC8"/>
                </a:solidFill>
                <a:latin typeface="Arial" pitchFamily="34" charset="0"/>
                <a:ea typeface="Arial" pitchFamily="34" charset="-122"/>
                <a:cs typeface="Arial" pitchFamily="34" charset="-120"/>
              </a:rPr>
              <a:t>Claude 3.5 Sonnet</a:t>
            </a:r>
            <a:endParaRPr lang="en-US" sz="900" dirty="0"/>
          </a:p>
        </p:txBody>
      </p:sp>
      <p:sp>
        <p:nvSpPr>
          <p:cNvPr id="18" name="Shape 16"/>
          <p:cNvSpPr/>
          <p:nvPr/>
        </p:nvSpPr>
        <p:spPr>
          <a:xfrm>
            <a:off x="2606040" y="2478024"/>
            <a:ext cx="960120" cy="0"/>
          </a:xfrm>
          <a:prstGeom prst="line">
            <a:avLst/>
          </a:prstGeom>
          <a:noFill/>
          <a:ln w="12700">
            <a:solidFill>
              <a:srgbClr val="028090"/>
            </a:solidFill>
            <a:prstDash val="dashDot"/>
          </a:ln>
        </p:spPr>
      </p:sp>
      <p:sp>
        <p:nvSpPr>
          <p:cNvPr id="19" name="Shape 17"/>
          <p:cNvSpPr/>
          <p:nvPr/>
        </p:nvSpPr>
        <p:spPr>
          <a:xfrm>
            <a:off x="320040" y="3108960"/>
            <a:ext cx="2286000" cy="658368"/>
          </a:xfrm>
          <a:prstGeom prst="roundRect">
            <a:avLst>
              <a:gd name="adj" fmla="val 13889"/>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20" name="Shape 18"/>
          <p:cNvSpPr/>
          <p:nvPr/>
        </p:nvSpPr>
        <p:spPr>
          <a:xfrm>
            <a:off x="457200" y="3264408"/>
            <a:ext cx="347472" cy="347472"/>
          </a:xfrm>
          <a:prstGeom prst="ellipse">
            <a:avLst/>
          </a:prstGeom>
          <a:solidFill>
            <a:srgbClr val="1A56A3"/>
          </a:solidFill>
          <a:ln w="12700">
            <a:solidFill>
              <a:srgbClr val="1A56A3"/>
            </a:solidFill>
            <a:prstDash val="solid"/>
          </a:ln>
        </p:spPr>
      </p:sp>
      <p:sp>
        <p:nvSpPr>
          <p:cNvPr id="21" name="Text 19"/>
          <p:cNvSpPr/>
          <p:nvPr/>
        </p:nvSpPr>
        <p:spPr>
          <a:xfrm>
            <a:off x="932688" y="3163824"/>
            <a:ext cx="1572768"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Google Gemini</a:t>
            </a:r>
            <a:endParaRPr lang="en-US" sz="1100" dirty="0"/>
          </a:p>
        </p:txBody>
      </p:sp>
      <p:sp>
        <p:nvSpPr>
          <p:cNvPr id="22" name="Text 20"/>
          <p:cNvSpPr/>
          <p:nvPr/>
        </p:nvSpPr>
        <p:spPr>
          <a:xfrm>
            <a:off x="932688" y="3419856"/>
            <a:ext cx="1572768" cy="219456"/>
          </a:xfrm>
          <a:prstGeom prst="rect">
            <a:avLst/>
          </a:prstGeom>
          <a:noFill/>
          <a:ln/>
        </p:spPr>
        <p:txBody>
          <a:bodyPr wrap="square" rtlCol="0" anchor="ctr"/>
          <a:lstStyle/>
          <a:p>
            <a:pPr indent="0" marL="0">
              <a:buNone/>
            </a:pPr>
            <a:r>
              <a:rPr lang="en-US" sz="900" dirty="0">
                <a:solidFill>
                  <a:srgbClr val="8BAEC8"/>
                </a:solidFill>
                <a:latin typeface="Arial" pitchFamily="34" charset="0"/>
                <a:ea typeface="Arial" pitchFamily="34" charset="-122"/>
                <a:cs typeface="Arial" pitchFamily="34" charset="-120"/>
              </a:rPr>
              <a:t>2.5 Flash / Pro</a:t>
            </a:r>
            <a:endParaRPr lang="en-US" sz="900" dirty="0"/>
          </a:p>
        </p:txBody>
      </p:sp>
      <p:sp>
        <p:nvSpPr>
          <p:cNvPr id="23" name="Shape 21"/>
          <p:cNvSpPr/>
          <p:nvPr/>
        </p:nvSpPr>
        <p:spPr>
          <a:xfrm>
            <a:off x="2606040" y="3438144"/>
            <a:ext cx="960120" cy="0"/>
          </a:xfrm>
          <a:prstGeom prst="line">
            <a:avLst/>
          </a:prstGeom>
          <a:noFill/>
          <a:ln w="12700">
            <a:solidFill>
              <a:srgbClr val="028090"/>
            </a:solidFill>
            <a:prstDash val="dashDot"/>
          </a:ln>
        </p:spPr>
      </p:sp>
      <p:sp>
        <p:nvSpPr>
          <p:cNvPr id="24" name="Shape 22"/>
          <p:cNvSpPr/>
          <p:nvPr/>
        </p:nvSpPr>
        <p:spPr>
          <a:xfrm>
            <a:off x="6537960" y="1371600"/>
            <a:ext cx="2286000" cy="658368"/>
          </a:xfrm>
          <a:prstGeom prst="roundRect">
            <a:avLst>
              <a:gd name="adj" fmla="val 13889"/>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25" name="Shape 23"/>
          <p:cNvSpPr/>
          <p:nvPr/>
        </p:nvSpPr>
        <p:spPr>
          <a:xfrm>
            <a:off x="6675120" y="1527048"/>
            <a:ext cx="347472" cy="347472"/>
          </a:xfrm>
          <a:prstGeom prst="ellipse">
            <a:avLst/>
          </a:prstGeom>
          <a:solidFill>
            <a:srgbClr val="0052CC"/>
          </a:solidFill>
          <a:ln w="12700">
            <a:solidFill>
              <a:srgbClr val="0052CC"/>
            </a:solidFill>
            <a:prstDash val="solid"/>
          </a:ln>
        </p:spPr>
      </p:sp>
      <p:sp>
        <p:nvSpPr>
          <p:cNvPr id="26" name="Text 24"/>
          <p:cNvSpPr/>
          <p:nvPr/>
        </p:nvSpPr>
        <p:spPr>
          <a:xfrm>
            <a:off x="7150608" y="1426464"/>
            <a:ext cx="1572768"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Jira Cloud</a:t>
            </a:r>
            <a:endParaRPr lang="en-US" sz="1100" dirty="0"/>
          </a:p>
        </p:txBody>
      </p:sp>
      <p:sp>
        <p:nvSpPr>
          <p:cNvPr id="27" name="Text 25"/>
          <p:cNvSpPr/>
          <p:nvPr/>
        </p:nvSpPr>
        <p:spPr>
          <a:xfrm>
            <a:off x="7150608" y="1682496"/>
            <a:ext cx="1572768" cy="219456"/>
          </a:xfrm>
          <a:prstGeom prst="rect">
            <a:avLst/>
          </a:prstGeom>
          <a:noFill/>
          <a:ln/>
        </p:spPr>
        <p:txBody>
          <a:bodyPr wrap="square" rtlCol="0" anchor="ctr"/>
          <a:lstStyle/>
          <a:p>
            <a:pPr indent="0" marL="0">
              <a:buNone/>
            </a:pPr>
            <a:r>
              <a:rPr lang="en-US" sz="900" dirty="0">
                <a:solidFill>
                  <a:srgbClr val="8BAEC8"/>
                </a:solidFill>
                <a:latin typeface="Arial" pitchFamily="34" charset="0"/>
                <a:ea typeface="Arial" pitchFamily="34" charset="-122"/>
                <a:cs typeface="Arial" pitchFamily="34" charset="-120"/>
              </a:rPr>
              <a:t>Pull issues &amp; epics</a:t>
            </a:r>
            <a:endParaRPr lang="en-US" sz="900" dirty="0"/>
          </a:p>
        </p:txBody>
      </p:sp>
      <p:sp>
        <p:nvSpPr>
          <p:cNvPr id="28" name="Shape 26"/>
          <p:cNvSpPr/>
          <p:nvPr/>
        </p:nvSpPr>
        <p:spPr>
          <a:xfrm>
            <a:off x="5577840" y="1700784"/>
            <a:ext cx="960120" cy="0"/>
          </a:xfrm>
          <a:prstGeom prst="line">
            <a:avLst/>
          </a:prstGeom>
          <a:noFill/>
          <a:ln w="12700">
            <a:solidFill>
              <a:srgbClr val="028090"/>
            </a:solidFill>
            <a:prstDash val="dashDot"/>
          </a:ln>
        </p:spPr>
      </p:sp>
      <p:sp>
        <p:nvSpPr>
          <p:cNvPr id="29" name="Shape 27"/>
          <p:cNvSpPr/>
          <p:nvPr/>
        </p:nvSpPr>
        <p:spPr>
          <a:xfrm>
            <a:off x="6537960" y="2468880"/>
            <a:ext cx="2286000" cy="658368"/>
          </a:xfrm>
          <a:prstGeom prst="roundRect">
            <a:avLst>
              <a:gd name="adj" fmla="val 13889"/>
            </a:avLst>
          </a:prstGeom>
          <a:solidFill>
            <a:srgbClr val="1F3A5F"/>
          </a:solidFill>
          <a:ln w="12700">
            <a:solidFill>
              <a:srgbClr val="2A4A72"/>
            </a:solidFill>
            <a:prstDash val="solid"/>
          </a:ln>
          <a:effectLst>
            <a:outerShdw sx="100000" sy="100000" kx="0" ky="0" algn="bl" rotWithShape="0" blurRad="127000" dist="38100" dir="2700000">
              <a:srgbClr val="000000">
                <a:alpha val="12000"/>
              </a:srgbClr>
            </a:outerShdw>
          </a:effectLst>
        </p:spPr>
      </p:sp>
      <p:sp>
        <p:nvSpPr>
          <p:cNvPr id="30" name="Shape 28"/>
          <p:cNvSpPr/>
          <p:nvPr/>
        </p:nvSpPr>
        <p:spPr>
          <a:xfrm>
            <a:off x="6675120" y="2624328"/>
            <a:ext cx="347472" cy="347472"/>
          </a:xfrm>
          <a:prstGeom prst="ellipse">
            <a:avLst/>
          </a:prstGeom>
          <a:solidFill>
            <a:srgbClr val="00875A"/>
          </a:solidFill>
          <a:ln w="12700">
            <a:solidFill>
              <a:srgbClr val="00875A"/>
            </a:solidFill>
            <a:prstDash val="solid"/>
          </a:ln>
        </p:spPr>
      </p:sp>
      <p:sp>
        <p:nvSpPr>
          <p:cNvPr id="31" name="Text 29"/>
          <p:cNvSpPr/>
          <p:nvPr/>
        </p:nvSpPr>
        <p:spPr>
          <a:xfrm>
            <a:off x="7150608" y="2523744"/>
            <a:ext cx="1572768"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Xray Cloud</a:t>
            </a:r>
            <a:endParaRPr lang="en-US" sz="1100" dirty="0"/>
          </a:p>
        </p:txBody>
      </p:sp>
      <p:sp>
        <p:nvSpPr>
          <p:cNvPr id="32" name="Text 30"/>
          <p:cNvSpPr/>
          <p:nvPr/>
        </p:nvSpPr>
        <p:spPr>
          <a:xfrm>
            <a:off x="7150608" y="2779776"/>
            <a:ext cx="1572768" cy="219456"/>
          </a:xfrm>
          <a:prstGeom prst="rect">
            <a:avLst/>
          </a:prstGeom>
          <a:noFill/>
          <a:ln/>
        </p:spPr>
        <p:txBody>
          <a:bodyPr wrap="square" rtlCol="0" anchor="ctr"/>
          <a:lstStyle/>
          <a:p>
            <a:pPr indent="0" marL="0">
              <a:buNone/>
            </a:pPr>
            <a:r>
              <a:rPr lang="en-US" sz="900" dirty="0">
                <a:solidFill>
                  <a:srgbClr val="8BAEC8"/>
                </a:solidFill>
                <a:latin typeface="Arial" pitchFamily="34" charset="0"/>
                <a:ea typeface="Arial" pitchFamily="34" charset="-122"/>
                <a:cs typeface="Arial" pitchFamily="34" charset="-120"/>
              </a:rPr>
              <a:t>Push &amp; manage tests</a:t>
            </a:r>
            <a:endParaRPr lang="en-US" sz="900" dirty="0"/>
          </a:p>
        </p:txBody>
      </p:sp>
      <p:sp>
        <p:nvSpPr>
          <p:cNvPr id="33" name="Shape 31"/>
          <p:cNvSpPr/>
          <p:nvPr/>
        </p:nvSpPr>
        <p:spPr>
          <a:xfrm>
            <a:off x="5577840" y="2798064"/>
            <a:ext cx="960120" cy="0"/>
          </a:xfrm>
          <a:prstGeom prst="line">
            <a:avLst/>
          </a:prstGeom>
          <a:noFill/>
          <a:ln w="12700">
            <a:solidFill>
              <a:srgbClr val="028090"/>
            </a:solidFill>
            <a:prstDash val="dashDot"/>
          </a:ln>
        </p:spPr>
      </p:sp>
      <p:sp>
        <p:nvSpPr>
          <p:cNvPr id="34" name="Text 32"/>
          <p:cNvSpPr/>
          <p:nvPr/>
        </p:nvSpPr>
        <p:spPr>
          <a:xfrm>
            <a:off x="182880" y="4041648"/>
            <a:ext cx="2743200" cy="219456"/>
          </a:xfrm>
          <a:prstGeom prst="rect">
            <a:avLst/>
          </a:prstGeom>
          <a:noFill/>
          <a:ln/>
        </p:spPr>
        <p:txBody>
          <a:bodyPr wrap="square" rtlCol="0" anchor="ctr"/>
          <a:lstStyle/>
          <a:p>
            <a:pPr algn="ctr" indent="0" marL="0">
              <a:buNone/>
            </a:pPr>
            <a:r>
              <a:rPr lang="en-US" sz="900" i="1" dirty="0">
                <a:solidFill>
                  <a:srgbClr val="6A8FAA"/>
                </a:solidFill>
                <a:latin typeface="Arial" pitchFamily="34" charset="0"/>
                <a:ea typeface="Arial" pitchFamily="34" charset="-122"/>
                <a:cs typeface="Arial" pitchFamily="34" charset="-120"/>
              </a:rPr>
              <a:t>Bearer / API Key</a:t>
            </a:r>
            <a:endParaRPr lang="en-US" sz="900" dirty="0"/>
          </a:p>
        </p:txBody>
      </p:sp>
      <p:sp>
        <p:nvSpPr>
          <p:cNvPr id="35" name="Text 33"/>
          <p:cNvSpPr/>
          <p:nvPr/>
        </p:nvSpPr>
        <p:spPr>
          <a:xfrm>
            <a:off x="6217920" y="4041648"/>
            <a:ext cx="2743200" cy="219456"/>
          </a:xfrm>
          <a:prstGeom prst="rect">
            <a:avLst/>
          </a:prstGeom>
          <a:noFill/>
          <a:ln/>
        </p:spPr>
        <p:txBody>
          <a:bodyPr wrap="square" rtlCol="0" anchor="ctr"/>
          <a:lstStyle/>
          <a:p>
            <a:pPr algn="ctr" indent="0" marL="0">
              <a:buNone/>
            </a:pPr>
            <a:r>
              <a:rPr lang="en-US" sz="900" i="1" dirty="0">
                <a:solidFill>
                  <a:srgbClr val="6A8FAA"/>
                </a:solidFill>
                <a:latin typeface="Arial" pitchFamily="34" charset="0"/>
                <a:ea typeface="Arial" pitchFamily="34" charset="-122"/>
                <a:cs typeface="Arial" pitchFamily="34" charset="-120"/>
              </a:rPr>
              <a:t>Basic Auth + OAuth 2.0</a:t>
            </a:r>
            <a:endParaRPr lang="en-US" sz="900" dirty="0"/>
          </a:p>
        </p:txBody>
      </p:sp>
      <p:sp>
        <p:nvSpPr>
          <p:cNvPr id="36" name="Shape 34"/>
          <p:cNvSpPr/>
          <p:nvPr/>
        </p:nvSpPr>
        <p:spPr>
          <a:xfrm>
            <a:off x="457200" y="4370832"/>
            <a:ext cx="8229600" cy="420624"/>
          </a:xfrm>
          <a:prstGeom prst="roundRect">
            <a:avLst>
              <a:gd name="adj" fmla="val 17391"/>
            </a:avLst>
          </a:prstGeom>
          <a:solidFill>
            <a:srgbClr val="0D2A44"/>
          </a:solidFill>
          <a:ln w="12700">
            <a:solidFill>
              <a:srgbClr val="2A4A72"/>
            </a:solidFill>
            <a:prstDash val="solid"/>
          </a:ln>
        </p:spPr>
      </p:sp>
      <p:sp>
        <p:nvSpPr>
          <p:cNvPr id="37" name="Text 35"/>
          <p:cNvSpPr/>
          <p:nvPr/>
        </p:nvSpPr>
        <p:spPr>
          <a:xfrm>
            <a:off x="594360" y="4389120"/>
            <a:ext cx="7955280" cy="384048"/>
          </a:xfrm>
          <a:prstGeom prst="rect">
            <a:avLst/>
          </a:prstGeom>
          <a:noFill/>
          <a:ln/>
        </p:spPr>
        <p:txBody>
          <a:bodyPr wrap="square" rtlCol="0" anchor="ctr"/>
          <a:lstStyle/>
          <a:p>
            <a:pPr indent="0" marL="0">
              <a:buNone/>
            </a:pPr>
            <a:r>
              <a:rPr lang="en-US" sz="1050" dirty="0">
                <a:solidFill>
                  <a:srgbClr val="8BAEC8"/>
                </a:solidFill>
                <a:latin typeface="Arial" pitchFamily="34" charset="0"/>
                <a:ea typeface="Arial" pitchFamily="34" charset="-122"/>
                <a:cs typeface="Arial" pitchFamily="34" charset="-120"/>
              </a:rPr>
              <a:t>All credentials stored in VS Code SecretStorage (OS-native keychain) — never in config files or source control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8</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SECURITY</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Security &amp; Compliance Controls</a:t>
            </a:r>
            <a:endParaRPr lang="en-US" sz="3000" dirty="0"/>
          </a:p>
        </p:txBody>
      </p:sp>
      <p:sp>
        <p:nvSpPr>
          <p:cNvPr id="6" name="Shape 4"/>
          <p:cNvSpPr/>
          <p:nvPr/>
        </p:nvSpPr>
        <p:spPr>
          <a:xfrm>
            <a:off x="457200" y="1298448"/>
            <a:ext cx="4160520" cy="1024128"/>
          </a:xfrm>
          <a:prstGeom prst="roundRect">
            <a:avLst>
              <a:gd name="adj" fmla="val 8929"/>
            </a:avLst>
          </a:prstGeom>
          <a:solidFill>
            <a:srgbClr val="E8F8F0"/>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7" name="Shape 5"/>
          <p:cNvSpPr/>
          <p:nvPr/>
        </p:nvSpPr>
        <p:spPr>
          <a:xfrm>
            <a:off x="621792" y="1572768"/>
            <a:ext cx="457200" cy="457200"/>
          </a:xfrm>
          <a:prstGeom prst="ellipse">
            <a:avLst/>
          </a:prstGeom>
          <a:solidFill>
            <a:srgbClr val="E8F8F0"/>
          </a:solidFill>
          <a:ln w="12700">
            <a:solidFill>
              <a:srgbClr val="1A6B3A"/>
            </a:solidFill>
            <a:prstDash val="solid"/>
          </a:ln>
        </p:spPr>
      </p:sp>
      <p:sp>
        <p:nvSpPr>
          <p:cNvPr id="8" name="Text 6"/>
          <p:cNvSpPr/>
          <p:nvPr/>
        </p:nvSpPr>
        <p:spPr>
          <a:xfrm>
            <a:off x="621792" y="155448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9" name="Text 7"/>
          <p:cNvSpPr/>
          <p:nvPr/>
        </p:nvSpPr>
        <p:spPr>
          <a:xfrm>
            <a:off x="1207008" y="1426464"/>
            <a:ext cx="3273552" cy="292608"/>
          </a:xfrm>
          <a:prstGeom prst="rect">
            <a:avLst/>
          </a:prstGeom>
          <a:noFill/>
          <a:ln/>
        </p:spPr>
        <p:txBody>
          <a:bodyPr wrap="square" rtlCol="0" anchor="ctr"/>
          <a:lstStyle/>
          <a:p>
            <a:pPr indent="0" marL="0">
              <a:buNone/>
            </a:pPr>
            <a:r>
              <a:rPr lang="en-US" sz="1200" b="1" dirty="0">
                <a:solidFill>
                  <a:srgbClr val="1A6B3A"/>
                </a:solidFill>
                <a:latin typeface="Arial" pitchFamily="34" charset="0"/>
                <a:ea typeface="Arial" pitchFamily="34" charset="-122"/>
                <a:cs typeface="Arial" pitchFamily="34" charset="-120"/>
              </a:rPr>
              <a:t>Credential Isolation</a:t>
            </a:r>
            <a:endParaRPr lang="en-US" sz="1200" dirty="0"/>
          </a:p>
        </p:txBody>
      </p:sp>
      <p:sp>
        <p:nvSpPr>
          <p:cNvPr id="10" name="Text 8"/>
          <p:cNvSpPr/>
          <p:nvPr/>
        </p:nvSpPr>
        <p:spPr>
          <a:xfrm>
            <a:off x="621792" y="1755648"/>
            <a:ext cx="3858768" cy="512064"/>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LLM API key, Jira token, and Xray client ID/secret stored exclusively in VS Code SecretStorage (OS-native keychain). Never in config files or source control.</a:t>
            </a:r>
            <a:endParaRPr lang="en-US" sz="1000" dirty="0"/>
          </a:p>
        </p:txBody>
      </p:sp>
      <p:sp>
        <p:nvSpPr>
          <p:cNvPr id="11" name="Shape 9"/>
          <p:cNvSpPr/>
          <p:nvPr/>
        </p:nvSpPr>
        <p:spPr>
          <a:xfrm>
            <a:off x="4800600" y="1298448"/>
            <a:ext cx="4160520" cy="1024128"/>
          </a:xfrm>
          <a:prstGeom prst="roundRect">
            <a:avLst>
              <a:gd name="adj" fmla="val 8929"/>
            </a:avLst>
          </a:prstGeom>
          <a:solidFill>
            <a:srgbClr val="E8F0F8"/>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2" name="Shape 10"/>
          <p:cNvSpPr/>
          <p:nvPr/>
        </p:nvSpPr>
        <p:spPr>
          <a:xfrm>
            <a:off x="4965192" y="1572768"/>
            <a:ext cx="457200" cy="457200"/>
          </a:xfrm>
          <a:prstGeom prst="ellipse">
            <a:avLst/>
          </a:prstGeom>
          <a:solidFill>
            <a:srgbClr val="E8F0F8"/>
          </a:solidFill>
          <a:ln w="12700">
            <a:solidFill>
              <a:srgbClr val="1A3A6B"/>
            </a:solidFill>
            <a:prstDash val="solid"/>
          </a:ln>
        </p:spPr>
      </p:sp>
      <p:sp>
        <p:nvSpPr>
          <p:cNvPr id="13" name="Text 11"/>
          <p:cNvSpPr/>
          <p:nvPr/>
        </p:nvSpPr>
        <p:spPr>
          <a:xfrm>
            <a:off x="4965192" y="155448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4" name="Text 12"/>
          <p:cNvSpPr/>
          <p:nvPr/>
        </p:nvSpPr>
        <p:spPr>
          <a:xfrm>
            <a:off x="5550408" y="1426464"/>
            <a:ext cx="3273552" cy="292608"/>
          </a:xfrm>
          <a:prstGeom prst="rect">
            <a:avLst/>
          </a:prstGeom>
          <a:noFill/>
          <a:ln/>
        </p:spPr>
        <p:txBody>
          <a:bodyPr wrap="square" rtlCol="0" anchor="ctr"/>
          <a:lstStyle/>
          <a:p>
            <a:pPr indent="0" marL="0">
              <a:buNone/>
            </a:pPr>
            <a:r>
              <a:rPr lang="en-US" sz="1200" b="1" dirty="0">
                <a:solidFill>
                  <a:srgbClr val="1A3A6B"/>
                </a:solidFill>
                <a:latin typeface="Arial" pitchFamily="34" charset="0"/>
                <a:ea typeface="Arial" pitchFamily="34" charset="-122"/>
                <a:cs typeface="Arial" pitchFamily="34" charset="-120"/>
              </a:rPr>
              <a:t>Webview Content Security Policy</a:t>
            </a:r>
            <a:endParaRPr lang="en-US" sz="1200" dirty="0"/>
          </a:p>
        </p:txBody>
      </p:sp>
      <p:sp>
        <p:nvSpPr>
          <p:cNvPr id="15" name="Text 13"/>
          <p:cNvSpPr/>
          <p:nvPr/>
        </p:nvSpPr>
        <p:spPr>
          <a:xfrm>
            <a:off x="4965192" y="1755648"/>
            <a:ext cx="3858768" cy="512064"/>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default-src 'none' — all scripts require a per-load cryptographic nonce. Inline scripts and eval() are blocked. External image loading restricted.</a:t>
            </a:r>
            <a:endParaRPr lang="en-US" sz="1000" dirty="0"/>
          </a:p>
        </p:txBody>
      </p:sp>
      <p:sp>
        <p:nvSpPr>
          <p:cNvPr id="16" name="Shape 14"/>
          <p:cNvSpPr/>
          <p:nvPr/>
        </p:nvSpPr>
        <p:spPr>
          <a:xfrm>
            <a:off x="457200" y="2532888"/>
            <a:ext cx="4160520" cy="1024128"/>
          </a:xfrm>
          <a:prstGeom prst="roundRect">
            <a:avLst>
              <a:gd name="adj" fmla="val 8929"/>
            </a:avLst>
          </a:prstGeom>
          <a:solidFill>
            <a:srgbClr val="F3EEF8"/>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7" name="Shape 15"/>
          <p:cNvSpPr/>
          <p:nvPr/>
        </p:nvSpPr>
        <p:spPr>
          <a:xfrm>
            <a:off x="621792" y="2807208"/>
            <a:ext cx="457200" cy="457200"/>
          </a:xfrm>
          <a:prstGeom prst="ellipse">
            <a:avLst/>
          </a:prstGeom>
          <a:solidFill>
            <a:srgbClr val="F3EEF8"/>
          </a:solidFill>
          <a:ln w="12700">
            <a:solidFill>
              <a:srgbClr val="5B3270"/>
            </a:solidFill>
            <a:prstDash val="solid"/>
          </a:ln>
        </p:spPr>
      </p:sp>
      <p:sp>
        <p:nvSpPr>
          <p:cNvPr id="18" name="Text 16"/>
          <p:cNvSpPr/>
          <p:nvPr/>
        </p:nvSpPr>
        <p:spPr>
          <a:xfrm>
            <a:off x="621792" y="278892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9" name="Text 17"/>
          <p:cNvSpPr/>
          <p:nvPr/>
        </p:nvSpPr>
        <p:spPr>
          <a:xfrm>
            <a:off x="1207008" y="2660904"/>
            <a:ext cx="3273552" cy="292608"/>
          </a:xfrm>
          <a:prstGeom prst="rect">
            <a:avLst/>
          </a:prstGeom>
          <a:noFill/>
          <a:ln/>
        </p:spPr>
        <p:txBody>
          <a:bodyPr wrap="square" rtlCol="0" anchor="ctr"/>
          <a:lstStyle/>
          <a:p>
            <a:pPr indent="0" marL="0">
              <a:buNone/>
            </a:pPr>
            <a:r>
              <a:rPr lang="en-US" sz="1200" b="1" dirty="0">
                <a:solidFill>
                  <a:srgbClr val="5B3270"/>
                </a:solidFill>
                <a:latin typeface="Arial" pitchFamily="34" charset="0"/>
                <a:ea typeface="Arial" pitchFamily="34" charset="-122"/>
                <a:cs typeface="Arial" pitchFamily="34" charset="-120"/>
              </a:rPr>
              <a:t>Authentication Standards</a:t>
            </a:r>
            <a:endParaRPr lang="en-US" sz="1200" dirty="0"/>
          </a:p>
        </p:txBody>
      </p:sp>
      <p:sp>
        <p:nvSpPr>
          <p:cNvPr id="20" name="Text 18"/>
          <p:cNvSpPr/>
          <p:nvPr/>
        </p:nvSpPr>
        <p:spPr>
          <a:xfrm>
            <a:off x="621792" y="2990088"/>
            <a:ext cx="3858768" cy="512064"/>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Jira: HTTP Basic (email:token). Xray: OAuth 2.0 client credentials — Bearer token per session, never persisted. LLM providers: API keys in Authorization headers.</a:t>
            </a:r>
            <a:endParaRPr lang="en-US" sz="1000" dirty="0"/>
          </a:p>
        </p:txBody>
      </p:sp>
      <p:sp>
        <p:nvSpPr>
          <p:cNvPr id="21" name="Shape 19"/>
          <p:cNvSpPr/>
          <p:nvPr/>
        </p:nvSpPr>
        <p:spPr>
          <a:xfrm>
            <a:off x="4800600" y="2532888"/>
            <a:ext cx="4160520" cy="1024128"/>
          </a:xfrm>
          <a:prstGeom prst="roundRect">
            <a:avLst>
              <a:gd name="adj" fmla="val 8929"/>
            </a:avLst>
          </a:prstGeom>
          <a:solidFill>
            <a:srgbClr val="F8F0E8"/>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2" name="Shape 20"/>
          <p:cNvSpPr/>
          <p:nvPr/>
        </p:nvSpPr>
        <p:spPr>
          <a:xfrm>
            <a:off x="4965192" y="2807208"/>
            <a:ext cx="457200" cy="457200"/>
          </a:xfrm>
          <a:prstGeom prst="ellipse">
            <a:avLst/>
          </a:prstGeom>
          <a:solidFill>
            <a:srgbClr val="F8F0E8"/>
          </a:solidFill>
          <a:ln w="12700">
            <a:solidFill>
              <a:srgbClr val="6B3A1A"/>
            </a:solidFill>
            <a:prstDash val="solid"/>
          </a:ln>
        </p:spPr>
      </p:sp>
      <p:sp>
        <p:nvSpPr>
          <p:cNvPr id="23" name="Text 21"/>
          <p:cNvSpPr/>
          <p:nvPr/>
        </p:nvSpPr>
        <p:spPr>
          <a:xfrm>
            <a:off x="4965192" y="278892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4" name="Text 22"/>
          <p:cNvSpPr/>
          <p:nvPr/>
        </p:nvSpPr>
        <p:spPr>
          <a:xfrm>
            <a:off x="5550408" y="2660904"/>
            <a:ext cx="3273552" cy="292608"/>
          </a:xfrm>
          <a:prstGeom prst="rect">
            <a:avLst/>
          </a:prstGeom>
          <a:noFill/>
          <a:ln/>
        </p:spPr>
        <p:txBody>
          <a:bodyPr wrap="square" rtlCol="0" anchor="ctr"/>
          <a:lstStyle/>
          <a:p>
            <a:pPr indent="0" marL="0">
              <a:buNone/>
            </a:pPr>
            <a:r>
              <a:rPr lang="en-US" sz="1200" b="1" dirty="0">
                <a:solidFill>
                  <a:srgbClr val="6B3A1A"/>
                </a:solidFill>
                <a:latin typeface="Arial" pitchFamily="34" charset="0"/>
                <a:ea typeface="Arial" pitchFamily="34" charset="-122"/>
                <a:cs typeface="Arial" pitchFamily="34" charset="-120"/>
              </a:rPr>
              <a:t>Dependency Security Audit</a:t>
            </a:r>
            <a:endParaRPr lang="en-US" sz="1200" dirty="0"/>
          </a:p>
        </p:txBody>
      </p:sp>
      <p:sp>
        <p:nvSpPr>
          <p:cNvPr id="25" name="Text 23"/>
          <p:cNvSpPr/>
          <p:nvPr/>
        </p:nvSpPr>
        <p:spPr>
          <a:xfrm>
            <a:off x="4965192" y="2990088"/>
            <a:ext cx="3858768" cy="512064"/>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npm audit --omit=dev --audit-level=high runs automatically on every CI build and every release workflow. No high-severity vulnerabilities allowed to ship.</a:t>
            </a:r>
            <a:endParaRPr lang="en-US" sz="1000" dirty="0"/>
          </a:p>
        </p:txBody>
      </p:sp>
      <p:sp>
        <p:nvSpPr>
          <p:cNvPr id="26" name="Shape 24"/>
          <p:cNvSpPr/>
          <p:nvPr/>
        </p:nvSpPr>
        <p:spPr>
          <a:xfrm>
            <a:off x="457200" y="3767328"/>
            <a:ext cx="8229600" cy="1024128"/>
          </a:xfrm>
          <a:prstGeom prst="roundRect">
            <a:avLst>
              <a:gd name="adj" fmla="val 8929"/>
            </a:avLst>
          </a:prstGeom>
          <a:solidFill>
            <a:srgbClr val="E8F5F0"/>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7" name="Shape 25"/>
          <p:cNvSpPr/>
          <p:nvPr/>
        </p:nvSpPr>
        <p:spPr>
          <a:xfrm>
            <a:off x="621792" y="4041648"/>
            <a:ext cx="457200" cy="457200"/>
          </a:xfrm>
          <a:prstGeom prst="ellipse">
            <a:avLst/>
          </a:prstGeom>
          <a:solidFill>
            <a:srgbClr val="E8F5F0"/>
          </a:solidFill>
          <a:ln w="12700">
            <a:solidFill>
              <a:srgbClr val="1A5B4A"/>
            </a:solidFill>
            <a:prstDash val="solid"/>
          </a:ln>
        </p:spPr>
      </p:sp>
      <p:sp>
        <p:nvSpPr>
          <p:cNvPr id="28" name="Text 26"/>
          <p:cNvSpPr/>
          <p:nvPr/>
        </p:nvSpPr>
        <p:spPr>
          <a:xfrm>
            <a:off x="621792" y="4023360"/>
            <a:ext cx="457200" cy="45720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9" name="Text 27"/>
          <p:cNvSpPr/>
          <p:nvPr/>
        </p:nvSpPr>
        <p:spPr>
          <a:xfrm>
            <a:off x="1207008" y="3895344"/>
            <a:ext cx="7296912" cy="292608"/>
          </a:xfrm>
          <a:prstGeom prst="rect">
            <a:avLst/>
          </a:prstGeom>
          <a:noFill/>
          <a:ln/>
        </p:spPr>
        <p:txBody>
          <a:bodyPr wrap="square" rtlCol="0" anchor="ctr"/>
          <a:lstStyle/>
          <a:p>
            <a:pPr indent="0" marL="0">
              <a:buNone/>
            </a:pPr>
            <a:r>
              <a:rPr lang="en-US" sz="1200" b="1" dirty="0">
                <a:solidFill>
                  <a:srgbClr val="1A5B4A"/>
                </a:solidFill>
                <a:latin typeface="Arial" pitchFamily="34" charset="0"/>
                <a:ea typeface="Arial" pitchFamily="34" charset="-122"/>
                <a:cs typeface="Arial" pitchFamily="34" charset="-120"/>
              </a:rPr>
              <a:t>Input Validation &amp; No PII Logging</a:t>
            </a:r>
            <a:endParaRPr lang="en-US" sz="1200" dirty="0"/>
          </a:p>
        </p:txBody>
      </p:sp>
      <p:sp>
        <p:nvSpPr>
          <p:cNvPr id="30" name="Text 28"/>
          <p:cNvSpPr/>
          <p:nvPr/>
        </p:nvSpPr>
        <p:spPr>
          <a:xfrm>
            <a:off x="1207008" y="4187952"/>
            <a:ext cx="7296912" cy="512064"/>
          </a:xfrm>
          <a:prstGeom prst="rect">
            <a:avLst/>
          </a:prstGeom>
          <a:noFill/>
          <a:ln/>
        </p:spPr>
        <p:txBody>
          <a:bodyPr wrap="square" rtlCol="0" anchor="ctr"/>
          <a:lstStyle/>
          <a:p>
            <a:pPr indent="0" marL="0">
              <a:buNone/>
            </a:pPr>
            <a:r>
              <a:rPr lang="en-US" sz="1000" dirty="0">
                <a:solidFill>
                  <a:srgbClr val="4A5568"/>
                </a:solidFill>
                <a:latin typeface="Arial" pitchFamily="34" charset="0"/>
                <a:ea typeface="Arial" pitchFamily="34" charset="-122"/>
                <a:cs typeface="Arial" pitchFamily="34" charset="-120"/>
              </a:rPr>
              <a:t>Required field checks before every Xray push. HTTPS regex on Jira URLs. File MIME and extension verification. No credentials or personal data in any log or progress message.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9</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ENGINEERING PROCESS</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CI/CD Pipeline &amp; Quality Gates</a:t>
            </a:r>
            <a:endParaRPr lang="en-US" sz="3000" dirty="0"/>
          </a:p>
        </p:txBody>
      </p:sp>
      <p:sp>
        <p:nvSpPr>
          <p:cNvPr id="6" name="Text 4"/>
          <p:cNvSpPr/>
          <p:nvPr/>
        </p:nvSpPr>
        <p:spPr>
          <a:xfrm>
            <a:off x="457200" y="1261872"/>
            <a:ext cx="3931920" cy="274320"/>
          </a:xfrm>
          <a:prstGeom prst="rect">
            <a:avLst/>
          </a:prstGeom>
          <a:noFill/>
          <a:ln/>
        </p:spPr>
        <p:txBody>
          <a:bodyPr wrap="square" rtlCol="0" anchor="ctr"/>
          <a:lstStyle/>
          <a:p>
            <a:pPr indent="0" marL="0">
              <a:buNone/>
            </a:pPr>
            <a:r>
              <a:rPr lang="en-US" sz="1300" b="1" dirty="0">
                <a:solidFill>
                  <a:srgbClr val="1B2A4A"/>
                </a:solidFill>
                <a:latin typeface="Arial" pitchFamily="34" charset="0"/>
                <a:ea typeface="Arial" pitchFamily="34" charset="-122"/>
                <a:cs typeface="Arial" pitchFamily="34" charset="-120"/>
              </a:rPr>
              <a:t>CI — Every Pull Request</a:t>
            </a:r>
            <a:endParaRPr lang="en-US" sz="1300" dirty="0"/>
          </a:p>
        </p:txBody>
      </p:sp>
      <p:sp>
        <p:nvSpPr>
          <p:cNvPr id="7" name="Shape 5"/>
          <p:cNvSpPr/>
          <p:nvPr/>
        </p:nvSpPr>
        <p:spPr>
          <a:xfrm>
            <a:off x="457200" y="1609344"/>
            <a:ext cx="3931920" cy="457200"/>
          </a:xfrm>
          <a:prstGeom prst="roundRect">
            <a:avLst>
              <a:gd name="adj" fmla="val 2000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8" name="Shape 6"/>
          <p:cNvSpPr/>
          <p:nvPr/>
        </p:nvSpPr>
        <p:spPr>
          <a:xfrm>
            <a:off x="603504" y="1746504"/>
            <a:ext cx="201168" cy="201168"/>
          </a:xfrm>
          <a:prstGeom prst="ellipse">
            <a:avLst/>
          </a:prstGeom>
          <a:solidFill>
            <a:srgbClr val="028090"/>
          </a:solidFill>
          <a:ln w="12700">
            <a:solidFill>
              <a:srgbClr val="028090"/>
            </a:solidFill>
            <a:prstDash val="solid"/>
          </a:ln>
        </p:spPr>
      </p:sp>
      <p:sp>
        <p:nvSpPr>
          <p:cNvPr id="9" name="Text 7"/>
          <p:cNvSpPr/>
          <p:nvPr/>
        </p:nvSpPr>
        <p:spPr>
          <a:xfrm>
            <a:off x="603504" y="173736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10" name="Text 8"/>
          <p:cNvSpPr/>
          <p:nvPr/>
        </p:nvSpPr>
        <p:spPr>
          <a:xfrm>
            <a:off x="932688" y="1664208"/>
            <a:ext cx="3364992" cy="329184"/>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Install dependencies</a:t>
            </a:r>
            <a:endParaRPr lang="en-US" sz="1100" dirty="0"/>
          </a:p>
        </p:txBody>
      </p:sp>
      <p:sp>
        <p:nvSpPr>
          <p:cNvPr id="11" name="Shape 9"/>
          <p:cNvSpPr/>
          <p:nvPr/>
        </p:nvSpPr>
        <p:spPr>
          <a:xfrm>
            <a:off x="457200" y="2139696"/>
            <a:ext cx="3931920" cy="457200"/>
          </a:xfrm>
          <a:prstGeom prst="roundRect">
            <a:avLst>
              <a:gd name="adj" fmla="val 2000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2" name="Shape 10"/>
          <p:cNvSpPr/>
          <p:nvPr/>
        </p:nvSpPr>
        <p:spPr>
          <a:xfrm>
            <a:off x="603504" y="2276856"/>
            <a:ext cx="201168" cy="201168"/>
          </a:xfrm>
          <a:prstGeom prst="ellipse">
            <a:avLst/>
          </a:prstGeom>
          <a:solidFill>
            <a:srgbClr val="028090"/>
          </a:solidFill>
          <a:ln w="12700">
            <a:solidFill>
              <a:srgbClr val="028090"/>
            </a:solidFill>
            <a:prstDash val="solid"/>
          </a:ln>
        </p:spPr>
      </p:sp>
      <p:sp>
        <p:nvSpPr>
          <p:cNvPr id="13" name="Text 11"/>
          <p:cNvSpPr/>
          <p:nvPr/>
        </p:nvSpPr>
        <p:spPr>
          <a:xfrm>
            <a:off x="603504" y="226771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14" name="Text 12"/>
          <p:cNvSpPr/>
          <p:nvPr/>
        </p:nvSpPr>
        <p:spPr>
          <a:xfrm>
            <a:off x="932688" y="2194560"/>
            <a:ext cx="3364992" cy="329184"/>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Validate LLM prompts</a:t>
            </a:r>
            <a:endParaRPr lang="en-US" sz="1100" dirty="0"/>
          </a:p>
        </p:txBody>
      </p:sp>
      <p:sp>
        <p:nvSpPr>
          <p:cNvPr id="15" name="Shape 13"/>
          <p:cNvSpPr/>
          <p:nvPr/>
        </p:nvSpPr>
        <p:spPr>
          <a:xfrm>
            <a:off x="457200" y="2670048"/>
            <a:ext cx="3931920" cy="457200"/>
          </a:xfrm>
          <a:prstGeom prst="roundRect">
            <a:avLst>
              <a:gd name="adj" fmla="val 2000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6" name="Shape 14"/>
          <p:cNvSpPr/>
          <p:nvPr/>
        </p:nvSpPr>
        <p:spPr>
          <a:xfrm>
            <a:off x="603504" y="2807208"/>
            <a:ext cx="201168" cy="201168"/>
          </a:xfrm>
          <a:prstGeom prst="ellipse">
            <a:avLst/>
          </a:prstGeom>
          <a:solidFill>
            <a:srgbClr val="028090"/>
          </a:solidFill>
          <a:ln w="12700">
            <a:solidFill>
              <a:srgbClr val="028090"/>
            </a:solidFill>
            <a:prstDash val="solid"/>
          </a:ln>
        </p:spPr>
      </p:sp>
      <p:sp>
        <p:nvSpPr>
          <p:cNvPr id="17" name="Text 15"/>
          <p:cNvSpPr/>
          <p:nvPr/>
        </p:nvSpPr>
        <p:spPr>
          <a:xfrm>
            <a:off x="603504" y="279806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18" name="Text 16"/>
          <p:cNvSpPr/>
          <p:nvPr/>
        </p:nvSpPr>
        <p:spPr>
          <a:xfrm>
            <a:off x="932688" y="2724912"/>
            <a:ext cx="3364992" cy="329184"/>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Lint (zero warnings)</a:t>
            </a:r>
            <a:endParaRPr lang="en-US" sz="1100" dirty="0"/>
          </a:p>
        </p:txBody>
      </p:sp>
      <p:sp>
        <p:nvSpPr>
          <p:cNvPr id="19" name="Shape 17"/>
          <p:cNvSpPr/>
          <p:nvPr/>
        </p:nvSpPr>
        <p:spPr>
          <a:xfrm>
            <a:off x="457200" y="3200400"/>
            <a:ext cx="3931920" cy="457200"/>
          </a:xfrm>
          <a:prstGeom prst="roundRect">
            <a:avLst>
              <a:gd name="adj" fmla="val 2000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0" name="Shape 18"/>
          <p:cNvSpPr/>
          <p:nvPr/>
        </p:nvSpPr>
        <p:spPr>
          <a:xfrm>
            <a:off x="603504" y="3337560"/>
            <a:ext cx="201168" cy="201168"/>
          </a:xfrm>
          <a:prstGeom prst="ellipse">
            <a:avLst/>
          </a:prstGeom>
          <a:solidFill>
            <a:srgbClr val="028090"/>
          </a:solidFill>
          <a:ln w="12700">
            <a:solidFill>
              <a:srgbClr val="028090"/>
            </a:solidFill>
            <a:prstDash val="solid"/>
          </a:ln>
        </p:spPr>
      </p:sp>
      <p:sp>
        <p:nvSpPr>
          <p:cNvPr id="21" name="Text 19"/>
          <p:cNvSpPr/>
          <p:nvPr/>
        </p:nvSpPr>
        <p:spPr>
          <a:xfrm>
            <a:off x="603504" y="332841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22" name="Text 20"/>
          <p:cNvSpPr/>
          <p:nvPr/>
        </p:nvSpPr>
        <p:spPr>
          <a:xfrm>
            <a:off x="932688" y="3255264"/>
            <a:ext cx="3364992" cy="329184"/>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TypeScript strict check</a:t>
            </a:r>
            <a:endParaRPr lang="en-US" sz="1100" dirty="0"/>
          </a:p>
        </p:txBody>
      </p:sp>
      <p:sp>
        <p:nvSpPr>
          <p:cNvPr id="23" name="Shape 21"/>
          <p:cNvSpPr/>
          <p:nvPr/>
        </p:nvSpPr>
        <p:spPr>
          <a:xfrm>
            <a:off x="457200" y="3730752"/>
            <a:ext cx="3931920" cy="457200"/>
          </a:xfrm>
          <a:prstGeom prst="roundRect">
            <a:avLst>
              <a:gd name="adj" fmla="val 2000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4" name="Shape 22"/>
          <p:cNvSpPr/>
          <p:nvPr/>
        </p:nvSpPr>
        <p:spPr>
          <a:xfrm>
            <a:off x="603504" y="3867912"/>
            <a:ext cx="201168" cy="201168"/>
          </a:xfrm>
          <a:prstGeom prst="ellipse">
            <a:avLst/>
          </a:prstGeom>
          <a:solidFill>
            <a:srgbClr val="028090"/>
          </a:solidFill>
          <a:ln w="12700">
            <a:solidFill>
              <a:srgbClr val="028090"/>
            </a:solidFill>
            <a:prstDash val="solid"/>
          </a:ln>
        </p:spPr>
      </p:sp>
      <p:sp>
        <p:nvSpPr>
          <p:cNvPr id="25" name="Text 23"/>
          <p:cNvSpPr/>
          <p:nvPr/>
        </p:nvSpPr>
        <p:spPr>
          <a:xfrm>
            <a:off x="603504" y="385876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26" name="Text 24"/>
          <p:cNvSpPr/>
          <p:nvPr/>
        </p:nvSpPr>
        <p:spPr>
          <a:xfrm>
            <a:off x="932688" y="3785616"/>
            <a:ext cx="3364992" cy="329184"/>
          </a:xfrm>
          <a:prstGeom prst="rect">
            <a:avLst/>
          </a:prstGeom>
          <a:noFill/>
          <a:ln/>
        </p:spPr>
        <p:txBody>
          <a:bodyPr wrap="square" rtlCol="0" anchor="ctr"/>
          <a:lstStyle/>
          <a:p>
            <a:pPr indent="0" marL="0">
              <a:buNone/>
            </a:pPr>
            <a:r>
              <a:rPr lang="en-US" sz="1100" dirty="0">
                <a:solidFill>
                  <a:srgbClr val="4A5568"/>
                </a:solidFill>
                <a:latin typeface="Arial" pitchFamily="34" charset="0"/>
                <a:ea typeface="Arial" pitchFamily="34" charset="-122"/>
                <a:cs typeface="Arial" pitchFamily="34" charset="-120"/>
              </a:rPr>
              <a:t>Build (extension + webview)</a:t>
            </a:r>
            <a:endParaRPr lang="en-US" sz="1100" dirty="0"/>
          </a:p>
        </p:txBody>
      </p:sp>
      <p:sp>
        <p:nvSpPr>
          <p:cNvPr id="27" name="Text 25"/>
          <p:cNvSpPr/>
          <p:nvPr/>
        </p:nvSpPr>
        <p:spPr>
          <a:xfrm>
            <a:off x="4754880" y="1261872"/>
            <a:ext cx="3931920" cy="274320"/>
          </a:xfrm>
          <a:prstGeom prst="rect">
            <a:avLst/>
          </a:prstGeom>
          <a:noFill/>
          <a:ln/>
        </p:spPr>
        <p:txBody>
          <a:bodyPr wrap="square" rtlCol="0" anchor="ctr"/>
          <a:lstStyle/>
          <a:p>
            <a:pPr indent="0" marL="0">
              <a:buNone/>
            </a:pPr>
            <a:r>
              <a:rPr lang="en-US" sz="1300" b="1" dirty="0">
                <a:solidFill>
                  <a:srgbClr val="1B2A4A"/>
                </a:solidFill>
                <a:latin typeface="Arial" pitchFamily="34" charset="0"/>
                <a:ea typeface="Arial" pitchFamily="34" charset="-122"/>
                <a:cs typeface="Arial" pitchFamily="34" charset="-120"/>
              </a:rPr>
              <a:t>Release — On Version Tag Push</a:t>
            </a:r>
            <a:endParaRPr lang="en-US" sz="1300" dirty="0"/>
          </a:p>
        </p:txBody>
      </p:sp>
      <p:sp>
        <p:nvSpPr>
          <p:cNvPr id="28" name="Shape 26"/>
          <p:cNvSpPr/>
          <p:nvPr/>
        </p:nvSpPr>
        <p:spPr>
          <a:xfrm>
            <a:off x="4754880" y="1609344"/>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9" name="Shape 27"/>
          <p:cNvSpPr/>
          <p:nvPr/>
        </p:nvSpPr>
        <p:spPr>
          <a:xfrm>
            <a:off x="4901184" y="1709928"/>
            <a:ext cx="182880" cy="182880"/>
          </a:xfrm>
          <a:prstGeom prst="ellipse">
            <a:avLst/>
          </a:prstGeom>
          <a:solidFill>
            <a:srgbClr val="27AE60"/>
          </a:solidFill>
          <a:ln w="12700">
            <a:solidFill>
              <a:srgbClr val="27AE60"/>
            </a:solidFill>
            <a:prstDash val="solid"/>
          </a:ln>
        </p:spPr>
      </p:sp>
      <p:sp>
        <p:nvSpPr>
          <p:cNvPr id="30" name="Text 28"/>
          <p:cNvSpPr/>
          <p:nvPr/>
        </p:nvSpPr>
        <p:spPr>
          <a:xfrm>
            <a:off x="5212080" y="1645920"/>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Verify tag = package version</a:t>
            </a:r>
            <a:endParaRPr lang="en-US" sz="1050" dirty="0"/>
          </a:p>
        </p:txBody>
      </p:sp>
      <p:sp>
        <p:nvSpPr>
          <p:cNvPr id="31" name="Shape 29"/>
          <p:cNvSpPr/>
          <p:nvPr/>
        </p:nvSpPr>
        <p:spPr>
          <a:xfrm>
            <a:off x="4754880" y="2048256"/>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2" name="Shape 30"/>
          <p:cNvSpPr/>
          <p:nvPr/>
        </p:nvSpPr>
        <p:spPr>
          <a:xfrm>
            <a:off x="4901184" y="2148840"/>
            <a:ext cx="182880" cy="182880"/>
          </a:xfrm>
          <a:prstGeom prst="ellipse">
            <a:avLst/>
          </a:prstGeom>
          <a:solidFill>
            <a:srgbClr val="27AE60"/>
          </a:solidFill>
          <a:ln w="12700">
            <a:solidFill>
              <a:srgbClr val="27AE60"/>
            </a:solidFill>
            <a:prstDash val="solid"/>
          </a:ln>
        </p:spPr>
      </p:sp>
      <p:sp>
        <p:nvSpPr>
          <p:cNvPr id="33" name="Text 31"/>
          <p:cNvSpPr/>
          <p:nvPr/>
        </p:nvSpPr>
        <p:spPr>
          <a:xfrm>
            <a:off x="5212080" y="2084832"/>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Full CI suite re-runs</a:t>
            </a:r>
            <a:endParaRPr lang="en-US" sz="1050" dirty="0"/>
          </a:p>
        </p:txBody>
      </p:sp>
      <p:sp>
        <p:nvSpPr>
          <p:cNvPr id="34" name="Shape 32"/>
          <p:cNvSpPr/>
          <p:nvPr/>
        </p:nvSpPr>
        <p:spPr>
          <a:xfrm>
            <a:off x="4754880" y="2487168"/>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5" name="Shape 33"/>
          <p:cNvSpPr/>
          <p:nvPr/>
        </p:nvSpPr>
        <p:spPr>
          <a:xfrm>
            <a:off x="4901184" y="2587752"/>
            <a:ext cx="182880" cy="182880"/>
          </a:xfrm>
          <a:prstGeom prst="ellipse">
            <a:avLst/>
          </a:prstGeom>
          <a:solidFill>
            <a:srgbClr val="27AE60"/>
          </a:solidFill>
          <a:ln w="12700">
            <a:solidFill>
              <a:srgbClr val="27AE60"/>
            </a:solidFill>
            <a:prstDash val="solid"/>
          </a:ln>
        </p:spPr>
      </p:sp>
      <p:sp>
        <p:nvSpPr>
          <p:cNvPr id="36" name="Text 34"/>
          <p:cNvSpPr/>
          <p:nvPr/>
        </p:nvSpPr>
        <p:spPr>
          <a:xfrm>
            <a:off x="5212080" y="2523744"/>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Security audit (npm audit)</a:t>
            </a:r>
            <a:endParaRPr lang="en-US" sz="1050" dirty="0"/>
          </a:p>
        </p:txBody>
      </p:sp>
      <p:sp>
        <p:nvSpPr>
          <p:cNvPr id="37" name="Shape 35"/>
          <p:cNvSpPr/>
          <p:nvPr/>
        </p:nvSpPr>
        <p:spPr>
          <a:xfrm>
            <a:off x="4754880" y="2926080"/>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8" name="Shape 36"/>
          <p:cNvSpPr/>
          <p:nvPr/>
        </p:nvSpPr>
        <p:spPr>
          <a:xfrm>
            <a:off x="4901184" y="3026664"/>
            <a:ext cx="182880" cy="182880"/>
          </a:xfrm>
          <a:prstGeom prst="ellipse">
            <a:avLst/>
          </a:prstGeom>
          <a:solidFill>
            <a:srgbClr val="27AE60"/>
          </a:solidFill>
          <a:ln w="12700">
            <a:solidFill>
              <a:srgbClr val="27AE60"/>
            </a:solidFill>
            <a:prstDash val="solid"/>
          </a:ln>
        </p:spPr>
      </p:sp>
      <p:sp>
        <p:nvSpPr>
          <p:cNvPr id="39" name="Text 37"/>
          <p:cNvSpPr/>
          <p:nvPr/>
        </p:nvSpPr>
        <p:spPr>
          <a:xfrm>
            <a:off x="5212080" y="2962656"/>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Test suite with coverage</a:t>
            </a:r>
            <a:endParaRPr lang="en-US" sz="1050" dirty="0"/>
          </a:p>
        </p:txBody>
      </p:sp>
      <p:sp>
        <p:nvSpPr>
          <p:cNvPr id="40" name="Shape 38"/>
          <p:cNvSpPr/>
          <p:nvPr/>
        </p:nvSpPr>
        <p:spPr>
          <a:xfrm>
            <a:off x="4754880" y="3364992"/>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41" name="Shape 39"/>
          <p:cNvSpPr/>
          <p:nvPr/>
        </p:nvSpPr>
        <p:spPr>
          <a:xfrm>
            <a:off x="4901184" y="3465576"/>
            <a:ext cx="182880" cy="182880"/>
          </a:xfrm>
          <a:prstGeom prst="ellipse">
            <a:avLst/>
          </a:prstGeom>
          <a:solidFill>
            <a:srgbClr val="028090"/>
          </a:solidFill>
          <a:ln w="12700">
            <a:solidFill>
              <a:srgbClr val="028090"/>
            </a:solidFill>
            <a:prstDash val="solid"/>
          </a:ln>
        </p:spPr>
      </p:sp>
      <p:sp>
        <p:nvSpPr>
          <p:cNvPr id="42" name="Text 40"/>
          <p:cNvSpPr/>
          <p:nvPr/>
        </p:nvSpPr>
        <p:spPr>
          <a:xfrm>
            <a:off x="5212080" y="3401568"/>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Package VSIX extension file</a:t>
            </a:r>
            <a:endParaRPr lang="en-US" sz="1050" dirty="0"/>
          </a:p>
        </p:txBody>
      </p:sp>
      <p:sp>
        <p:nvSpPr>
          <p:cNvPr id="43" name="Shape 41"/>
          <p:cNvSpPr/>
          <p:nvPr/>
        </p:nvSpPr>
        <p:spPr>
          <a:xfrm>
            <a:off x="4754880" y="3803904"/>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44" name="Shape 42"/>
          <p:cNvSpPr/>
          <p:nvPr/>
        </p:nvSpPr>
        <p:spPr>
          <a:xfrm>
            <a:off x="4901184" y="3904488"/>
            <a:ext cx="182880" cy="182880"/>
          </a:xfrm>
          <a:prstGeom prst="ellipse">
            <a:avLst/>
          </a:prstGeom>
          <a:solidFill>
            <a:srgbClr val="028090"/>
          </a:solidFill>
          <a:ln w="12700">
            <a:solidFill>
              <a:srgbClr val="028090"/>
            </a:solidFill>
            <a:prstDash val="solid"/>
          </a:ln>
        </p:spPr>
      </p:sp>
      <p:sp>
        <p:nvSpPr>
          <p:cNvPr id="45" name="Text 43"/>
          <p:cNvSpPr/>
          <p:nvPr/>
        </p:nvSpPr>
        <p:spPr>
          <a:xfrm>
            <a:off x="5212080" y="3840480"/>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Generate changelog</a:t>
            </a:r>
            <a:endParaRPr lang="en-US" sz="1050" dirty="0"/>
          </a:p>
        </p:txBody>
      </p:sp>
      <p:sp>
        <p:nvSpPr>
          <p:cNvPr id="46" name="Shape 44"/>
          <p:cNvSpPr/>
          <p:nvPr/>
        </p:nvSpPr>
        <p:spPr>
          <a:xfrm>
            <a:off x="4754880" y="4242816"/>
            <a:ext cx="3931920" cy="374904"/>
          </a:xfrm>
          <a:prstGeom prst="roundRect">
            <a:avLst>
              <a:gd name="adj" fmla="val 24390"/>
            </a:avLst>
          </a:prstGeom>
          <a:solidFill>
            <a:srgbClr val="FFFFFF"/>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47" name="Shape 45"/>
          <p:cNvSpPr/>
          <p:nvPr/>
        </p:nvSpPr>
        <p:spPr>
          <a:xfrm>
            <a:off x="4901184" y="4343400"/>
            <a:ext cx="182880" cy="182880"/>
          </a:xfrm>
          <a:prstGeom prst="ellipse">
            <a:avLst/>
          </a:prstGeom>
          <a:solidFill>
            <a:srgbClr val="E67E22"/>
          </a:solidFill>
          <a:ln w="12700">
            <a:solidFill>
              <a:srgbClr val="E67E22"/>
            </a:solidFill>
            <a:prstDash val="solid"/>
          </a:ln>
        </p:spPr>
      </p:sp>
      <p:sp>
        <p:nvSpPr>
          <p:cNvPr id="48" name="Text 46"/>
          <p:cNvSpPr/>
          <p:nvPr/>
        </p:nvSpPr>
        <p:spPr>
          <a:xfrm>
            <a:off x="5212080" y="4279392"/>
            <a:ext cx="3364992" cy="310896"/>
          </a:xfrm>
          <a:prstGeom prst="rect">
            <a:avLst/>
          </a:prstGeom>
          <a:noFill/>
          <a:ln/>
        </p:spPr>
        <p:txBody>
          <a:bodyPr wrap="square" rtlCol="0" anchor="ctr"/>
          <a:lstStyle/>
          <a:p>
            <a:pPr indent="0" marL="0">
              <a:buNone/>
            </a:pPr>
            <a:r>
              <a:rPr lang="en-US" sz="1050" dirty="0">
                <a:solidFill>
                  <a:srgbClr val="4A5568"/>
                </a:solidFill>
                <a:latin typeface="Arial" pitchFamily="34" charset="0"/>
                <a:ea typeface="Arial" pitchFamily="34" charset="-122"/>
                <a:cs typeface="Arial" pitchFamily="34" charset="-120"/>
              </a:rPr>
              <a:t>Publish GitHub release + VSIX</a:t>
            </a:r>
            <a:endParaRPr lang="en-US" sz="1050" dirty="0"/>
          </a:p>
        </p:txBody>
      </p:sp>
      <p:sp>
        <p:nvSpPr>
          <p:cNvPr id="49" name="Shape 47"/>
          <p:cNvSpPr/>
          <p:nvPr/>
        </p:nvSpPr>
        <p:spPr>
          <a:xfrm>
            <a:off x="457200" y="4645152"/>
            <a:ext cx="8229600" cy="347472"/>
          </a:xfrm>
          <a:prstGeom prst="roundRect">
            <a:avLst>
              <a:gd name="adj" fmla="val 21053"/>
            </a:avLst>
          </a:prstGeom>
          <a:solidFill>
            <a:srgbClr val="E4EEF8"/>
          </a:solidFill>
          <a:ln w="12700">
            <a:solidFill>
              <a:srgbClr val="B8CCE0"/>
            </a:solidFill>
            <a:prstDash val="solid"/>
          </a:ln>
        </p:spPr>
      </p:sp>
      <p:sp>
        <p:nvSpPr>
          <p:cNvPr id="50" name="Text 48"/>
          <p:cNvSpPr/>
          <p:nvPr/>
        </p:nvSpPr>
        <p:spPr>
          <a:xfrm>
            <a:off x="548640" y="4663440"/>
            <a:ext cx="8046720" cy="310896"/>
          </a:xfrm>
          <a:prstGeom prst="rect">
            <a:avLst/>
          </a:prstGeom>
          <a:noFill/>
          <a:ln/>
        </p:spPr>
        <p:txBody>
          <a:bodyPr wrap="square" rtlCol="0" anchor="ctr"/>
          <a:lstStyle/>
          <a:p>
            <a:pPr indent="0" marL="0">
              <a:buNone/>
            </a:pPr>
            <a:r>
              <a:rPr lang="en-US" sz="1000" dirty="0">
                <a:solidFill>
                  <a:srgbClr val="1B2A4A"/>
                </a:solidFill>
                <a:latin typeface="Arial" pitchFamily="34" charset="0"/>
                <a:ea typeface="Arial" pitchFamily="34" charset="-122"/>
                <a:cs typeface="Arial" pitchFamily="34" charset="-120"/>
              </a:rPr>
              <a:t>🔒  Branch protection: all changes to main via pull request  ·  build-test must pass  ·  pre-commit: lint + typecheck on staged files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10</a:t>
            </a:r>
            <a:endParaRPr lang="en-US" sz="800" dirty="0"/>
          </a:p>
        </p:txBody>
      </p:sp>
      <p:sp>
        <p:nvSpPr>
          <p:cNvPr id="3" name="Shape 1"/>
          <p:cNvSpPr/>
          <p:nvPr/>
        </p:nvSpPr>
        <p:spPr>
          <a:xfrm>
            <a:off x="457200" y="274320"/>
            <a:ext cx="1371600" cy="256032"/>
          </a:xfrm>
          <a:prstGeom prst="roundRect">
            <a:avLst>
              <a:gd name="adj" fmla="val 21429"/>
            </a:avLst>
          </a:prstGeom>
          <a:solidFill>
            <a:srgbClr val="1B2A4A"/>
          </a:solidFill>
          <a:ln w="12700">
            <a:solidFill>
              <a:srgbClr val="1B2A4A"/>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RISKS &amp; LIMITATIONS</a:t>
            </a:r>
            <a:endParaRPr lang="en-US" sz="8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Current Risks &amp; Known Limitations</a:t>
            </a:r>
            <a:endParaRPr lang="en-US" sz="3000" dirty="0"/>
          </a:p>
        </p:txBody>
      </p:sp>
      <p:sp>
        <p:nvSpPr>
          <p:cNvPr id="6" name="Shape 4"/>
          <p:cNvSpPr/>
          <p:nvPr/>
        </p:nvSpPr>
        <p:spPr>
          <a:xfrm>
            <a:off x="457200" y="1298448"/>
            <a:ext cx="8229600" cy="658368"/>
          </a:xfrm>
          <a:prstGeom prst="roundRect">
            <a:avLst>
              <a:gd name="adj" fmla="val 13889"/>
            </a:avLst>
          </a:prstGeom>
          <a:solidFill>
            <a:srgbClr val="F0FAF5"/>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7" name="Shape 5"/>
          <p:cNvSpPr/>
          <p:nvPr/>
        </p:nvSpPr>
        <p:spPr>
          <a:xfrm>
            <a:off x="594360" y="1481328"/>
            <a:ext cx="777240" cy="219456"/>
          </a:xfrm>
          <a:prstGeom prst="roundRect">
            <a:avLst>
              <a:gd name="adj" fmla="val 25000"/>
            </a:avLst>
          </a:prstGeom>
          <a:solidFill>
            <a:srgbClr val="27AE60"/>
          </a:solidFill>
          <a:ln w="12700">
            <a:solidFill>
              <a:srgbClr val="27AE60"/>
            </a:solidFill>
            <a:prstDash val="solid"/>
          </a:ln>
        </p:spPr>
      </p:sp>
      <p:sp>
        <p:nvSpPr>
          <p:cNvPr id="8" name="Text 6"/>
          <p:cNvSpPr/>
          <p:nvPr/>
        </p:nvSpPr>
        <p:spPr>
          <a:xfrm>
            <a:off x="594360" y="1481328"/>
            <a:ext cx="7772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9" name="Text 7"/>
          <p:cNvSpPr/>
          <p:nvPr/>
        </p:nvSpPr>
        <p:spPr>
          <a:xfrm>
            <a:off x="1481328" y="1353312"/>
            <a:ext cx="365760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Streaming not implemented</a:t>
            </a:r>
            <a:endParaRPr lang="en-US" sz="1100" dirty="0"/>
          </a:p>
        </p:txBody>
      </p:sp>
      <p:sp>
        <p:nvSpPr>
          <p:cNvPr id="10" name="Text 8"/>
          <p:cNvSpPr/>
          <p:nvPr/>
        </p:nvSpPr>
        <p:spPr>
          <a:xfrm>
            <a:off x="1481328" y="1609344"/>
            <a:ext cx="3474720" cy="310896"/>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All LLM calls are completion-based. For large requirement documents, generation may feel slow. No visible token stream to the user during generation.</a:t>
            </a:r>
            <a:endParaRPr lang="en-US" sz="950" dirty="0"/>
          </a:p>
        </p:txBody>
      </p:sp>
      <p:sp>
        <p:nvSpPr>
          <p:cNvPr id="11" name="Text 9"/>
          <p:cNvSpPr/>
          <p:nvPr/>
        </p:nvSpPr>
        <p:spPr>
          <a:xfrm>
            <a:off x="5166360" y="1371600"/>
            <a:ext cx="658368" cy="182880"/>
          </a:xfrm>
          <a:prstGeom prst="rect">
            <a:avLst/>
          </a:prstGeom>
          <a:noFill/>
          <a:ln/>
        </p:spPr>
        <p:txBody>
          <a:bodyPr wrap="square" rtlCol="0" anchor="ctr"/>
          <a:lstStyle/>
          <a:p>
            <a:pPr indent="0" marL="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12" name="Text 10"/>
          <p:cNvSpPr/>
          <p:nvPr/>
        </p:nvSpPr>
        <p:spPr>
          <a:xfrm>
            <a:off x="5166360" y="1554480"/>
            <a:ext cx="3364992" cy="365760"/>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Planned for a future release. Current UX shows step-by-step progress labels (1/4 → 4/4) as interim feedback.</a:t>
            </a:r>
            <a:endParaRPr lang="en-US" sz="950" dirty="0"/>
          </a:p>
        </p:txBody>
      </p:sp>
      <p:sp>
        <p:nvSpPr>
          <p:cNvPr id="13" name="Shape 11"/>
          <p:cNvSpPr/>
          <p:nvPr/>
        </p:nvSpPr>
        <p:spPr>
          <a:xfrm>
            <a:off x="457200" y="2029968"/>
            <a:ext cx="8229600" cy="658368"/>
          </a:xfrm>
          <a:prstGeom prst="roundRect">
            <a:avLst>
              <a:gd name="adj" fmla="val 13889"/>
            </a:avLst>
          </a:prstGeom>
          <a:solidFill>
            <a:srgbClr val="FEF9EC"/>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14" name="Shape 12"/>
          <p:cNvSpPr/>
          <p:nvPr/>
        </p:nvSpPr>
        <p:spPr>
          <a:xfrm>
            <a:off x="594360" y="2212848"/>
            <a:ext cx="777240" cy="219456"/>
          </a:xfrm>
          <a:prstGeom prst="roundRect">
            <a:avLst>
              <a:gd name="adj" fmla="val 25000"/>
            </a:avLst>
          </a:prstGeom>
          <a:solidFill>
            <a:srgbClr val="27AE60"/>
          </a:solidFill>
          <a:ln w="12700">
            <a:solidFill>
              <a:srgbClr val="27AE60"/>
            </a:solidFill>
            <a:prstDash val="solid"/>
          </a:ln>
        </p:spPr>
      </p:sp>
      <p:sp>
        <p:nvSpPr>
          <p:cNvPr id="15" name="Text 13"/>
          <p:cNvSpPr/>
          <p:nvPr/>
        </p:nvSpPr>
        <p:spPr>
          <a:xfrm>
            <a:off x="594360" y="2212848"/>
            <a:ext cx="7772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16" name="Text 14"/>
          <p:cNvSpPr/>
          <p:nvPr/>
        </p:nvSpPr>
        <p:spPr>
          <a:xfrm>
            <a:off x="1481328" y="2084832"/>
            <a:ext cx="365760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Shape-only Jira/Xray validation in Settings</a:t>
            </a:r>
            <a:endParaRPr lang="en-US" sz="1100" dirty="0"/>
          </a:p>
        </p:txBody>
      </p:sp>
      <p:sp>
        <p:nvSpPr>
          <p:cNvPr id="17" name="Text 15"/>
          <p:cNvSpPr/>
          <p:nvPr/>
        </p:nvSpPr>
        <p:spPr>
          <a:xfrm>
            <a:off x="1481328" y="2340864"/>
            <a:ext cx="3474720" cy="310896"/>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The Settings 'Test Connection' button validates field shapes but does not make a live API call to verify credentials.</a:t>
            </a:r>
            <a:endParaRPr lang="en-US" sz="950" dirty="0"/>
          </a:p>
        </p:txBody>
      </p:sp>
      <p:sp>
        <p:nvSpPr>
          <p:cNvPr id="18" name="Text 16"/>
          <p:cNvSpPr/>
          <p:nvPr/>
        </p:nvSpPr>
        <p:spPr>
          <a:xfrm>
            <a:off x="5166360" y="2103120"/>
            <a:ext cx="658368" cy="182880"/>
          </a:xfrm>
          <a:prstGeom prst="rect">
            <a:avLst/>
          </a:prstGeom>
          <a:noFill/>
          <a:ln/>
        </p:spPr>
        <p:txBody>
          <a:bodyPr wrap="square" rtlCol="0" anchor="ctr"/>
          <a:lstStyle/>
          <a:p>
            <a:pPr indent="0" marL="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19" name="Text 17"/>
          <p:cNvSpPr/>
          <p:nvPr/>
        </p:nvSpPr>
        <p:spPr>
          <a:xfrm>
            <a:off x="5166360" y="2286000"/>
            <a:ext cx="3364992" cy="365760"/>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Live API validation is scoped to Phase 6. Teams should verify credentials manually before first use.</a:t>
            </a:r>
            <a:endParaRPr lang="en-US" sz="950" dirty="0"/>
          </a:p>
        </p:txBody>
      </p:sp>
      <p:sp>
        <p:nvSpPr>
          <p:cNvPr id="20" name="Shape 18"/>
          <p:cNvSpPr/>
          <p:nvPr/>
        </p:nvSpPr>
        <p:spPr>
          <a:xfrm>
            <a:off x="457200" y="2761488"/>
            <a:ext cx="8229600" cy="658368"/>
          </a:xfrm>
          <a:prstGeom prst="roundRect">
            <a:avLst>
              <a:gd name="adj" fmla="val 13889"/>
            </a:avLst>
          </a:prstGeom>
          <a:solidFill>
            <a:srgbClr val="FEF9EC"/>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1" name="Shape 19"/>
          <p:cNvSpPr/>
          <p:nvPr/>
        </p:nvSpPr>
        <p:spPr>
          <a:xfrm>
            <a:off x="594360" y="2944368"/>
            <a:ext cx="777240" cy="219456"/>
          </a:xfrm>
          <a:prstGeom prst="roundRect">
            <a:avLst>
              <a:gd name="adj" fmla="val 25000"/>
            </a:avLst>
          </a:prstGeom>
          <a:solidFill>
            <a:srgbClr val="E67E22"/>
          </a:solidFill>
          <a:ln w="12700">
            <a:solidFill>
              <a:srgbClr val="E67E22"/>
            </a:solidFill>
            <a:prstDash val="solid"/>
          </a:ln>
        </p:spPr>
      </p:sp>
      <p:sp>
        <p:nvSpPr>
          <p:cNvPr id="22" name="Text 20"/>
          <p:cNvSpPr/>
          <p:nvPr/>
        </p:nvSpPr>
        <p:spPr>
          <a:xfrm>
            <a:off x="594360" y="2944368"/>
            <a:ext cx="7772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MEDIUM</a:t>
            </a:r>
            <a:endParaRPr lang="en-US" sz="800" dirty="0"/>
          </a:p>
        </p:txBody>
      </p:sp>
      <p:sp>
        <p:nvSpPr>
          <p:cNvPr id="23" name="Text 21"/>
          <p:cNvSpPr/>
          <p:nvPr/>
        </p:nvSpPr>
        <p:spPr>
          <a:xfrm>
            <a:off x="1481328" y="2816352"/>
            <a:ext cx="365760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Fixed LLM prompt templates</a:t>
            </a:r>
            <a:endParaRPr lang="en-US" sz="1100" dirty="0"/>
          </a:p>
        </p:txBody>
      </p:sp>
      <p:sp>
        <p:nvSpPr>
          <p:cNvPr id="24" name="Text 22"/>
          <p:cNvSpPr/>
          <p:nvPr/>
        </p:nvSpPr>
        <p:spPr>
          <a:xfrm>
            <a:off x="1481328" y="3072384"/>
            <a:ext cx="3474720" cy="310896"/>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Prompt files are not user-customizable from within the extension. Teams with domain-specific test standards cannot modify prompt instructions without code changes.</a:t>
            </a:r>
            <a:endParaRPr lang="en-US" sz="950" dirty="0"/>
          </a:p>
        </p:txBody>
      </p:sp>
      <p:sp>
        <p:nvSpPr>
          <p:cNvPr id="25" name="Text 23"/>
          <p:cNvSpPr/>
          <p:nvPr/>
        </p:nvSpPr>
        <p:spPr>
          <a:xfrm>
            <a:off x="5166360" y="2834640"/>
            <a:ext cx="658368" cy="182880"/>
          </a:xfrm>
          <a:prstGeom prst="rect">
            <a:avLst/>
          </a:prstGeom>
          <a:noFill/>
          <a:ln/>
        </p:spPr>
        <p:txBody>
          <a:bodyPr wrap="square" rtlCol="0" anchor="ctr"/>
          <a:lstStyle/>
          <a:p>
            <a:pPr indent="0" marL="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26" name="Text 24"/>
          <p:cNvSpPr/>
          <p:nvPr/>
        </p:nvSpPr>
        <p:spPr>
          <a:xfrm>
            <a:off x="5166360" y="3017520"/>
            <a:ext cx="3364992" cy="365760"/>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Prompt customization is planned. Interim workaround: edit prompt .txt files in the extension source and rebuild.</a:t>
            </a:r>
            <a:endParaRPr lang="en-US" sz="950" dirty="0"/>
          </a:p>
        </p:txBody>
      </p:sp>
      <p:sp>
        <p:nvSpPr>
          <p:cNvPr id="27" name="Shape 25"/>
          <p:cNvSpPr/>
          <p:nvPr/>
        </p:nvSpPr>
        <p:spPr>
          <a:xfrm>
            <a:off x="457200" y="3493008"/>
            <a:ext cx="8229600" cy="658368"/>
          </a:xfrm>
          <a:prstGeom prst="roundRect">
            <a:avLst>
              <a:gd name="adj" fmla="val 13889"/>
            </a:avLst>
          </a:prstGeom>
          <a:solidFill>
            <a:srgbClr val="F0FAF5"/>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28" name="Shape 26"/>
          <p:cNvSpPr/>
          <p:nvPr/>
        </p:nvSpPr>
        <p:spPr>
          <a:xfrm>
            <a:off x="594360" y="3675888"/>
            <a:ext cx="777240" cy="219456"/>
          </a:xfrm>
          <a:prstGeom prst="roundRect">
            <a:avLst>
              <a:gd name="adj" fmla="val 25000"/>
            </a:avLst>
          </a:prstGeom>
          <a:solidFill>
            <a:srgbClr val="27AE60"/>
          </a:solidFill>
          <a:ln w="12700">
            <a:solidFill>
              <a:srgbClr val="27AE60"/>
            </a:solidFill>
            <a:prstDash val="solid"/>
          </a:ln>
        </p:spPr>
      </p:sp>
      <p:sp>
        <p:nvSpPr>
          <p:cNvPr id="29" name="Text 27"/>
          <p:cNvSpPr/>
          <p:nvPr/>
        </p:nvSpPr>
        <p:spPr>
          <a:xfrm>
            <a:off x="594360" y="3675888"/>
            <a:ext cx="7772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30" name="Text 28"/>
          <p:cNvSpPr/>
          <p:nvPr/>
        </p:nvSpPr>
        <p:spPr>
          <a:xfrm>
            <a:off x="1481328" y="3547872"/>
            <a:ext cx="365760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No requirement versioning or diff history</a:t>
            </a:r>
            <a:endParaRPr lang="en-US" sz="1100" dirty="0"/>
          </a:p>
        </p:txBody>
      </p:sp>
      <p:sp>
        <p:nvSpPr>
          <p:cNvPr id="31" name="Text 29"/>
          <p:cNvSpPr/>
          <p:nvPr/>
        </p:nvSpPr>
        <p:spPr>
          <a:xfrm>
            <a:off x="1481328" y="3803904"/>
            <a:ext cx="3474720" cy="310896"/>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There is no built-in tracking of changes between requirement versions. Re-generating after requirement changes will produce new test cases without comparing to prior runs.</a:t>
            </a:r>
            <a:endParaRPr lang="en-US" sz="950" dirty="0"/>
          </a:p>
        </p:txBody>
      </p:sp>
      <p:sp>
        <p:nvSpPr>
          <p:cNvPr id="32" name="Text 30"/>
          <p:cNvSpPr/>
          <p:nvPr/>
        </p:nvSpPr>
        <p:spPr>
          <a:xfrm>
            <a:off x="5166360" y="3566160"/>
            <a:ext cx="658368" cy="182880"/>
          </a:xfrm>
          <a:prstGeom prst="rect">
            <a:avLst/>
          </a:prstGeom>
          <a:noFill/>
          <a:ln/>
        </p:spPr>
        <p:txBody>
          <a:bodyPr wrap="square" rtlCol="0" anchor="ctr"/>
          <a:lstStyle/>
          <a:p>
            <a:pPr indent="0" marL="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33" name="Text 31"/>
          <p:cNvSpPr/>
          <p:nvPr/>
        </p:nvSpPr>
        <p:spPr>
          <a:xfrm>
            <a:off x="5166360" y="3749040"/>
            <a:ext cx="3364992" cy="365760"/>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Fingerprint dedup prevents duplicate Xray pushes. Full versioning is a future phase item.</a:t>
            </a:r>
            <a:endParaRPr lang="en-US" sz="950" dirty="0"/>
          </a:p>
        </p:txBody>
      </p:sp>
      <p:sp>
        <p:nvSpPr>
          <p:cNvPr id="34" name="Shape 32"/>
          <p:cNvSpPr/>
          <p:nvPr/>
        </p:nvSpPr>
        <p:spPr>
          <a:xfrm>
            <a:off x="457200" y="4224528"/>
            <a:ext cx="8229600" cy="658368"/>
          </a:xfrm>
          <a:prstGeom prst="roundRect">
            <a:avLst>
              <a:gd name="adj" fmla="val 13889"/>
            </a:avLst>
          </a:prstGeom>
          <a:solidFill>
            <a:srgbClr val="F0FAF5"/>
          </a:solidFill>
          <a:ln w="12700">
            <a:solidFill>
              <a:srgbClr val="D0DAE8"/>
            </a:solidFill>
            <a:prstDash val="solid"/>
          </a:ln>
          <a:effectLst>
            <a:outerShdw sx="100000" sy="100000" kx="0" ky="0" algn="bl" rotWithShape="0" blurRad="177800" dist="50800" dir="2700000">
              <a:srgbClr val="000000">
                <a:alpha val="10000"/>
              </a:srgbClr>
            </a:outerShdw>
          </a:effectLst>
        </p:spPr>
      </p:sp>
      <p:sp>
        <p:nvSpPr>
          <p:cNvPr id="35" name="Shape 33"/>
          <p:cNvSpPr/>
          <p:nvPr/>
        </p:nvSpPr>
        <p:spPr>
          <a:xfrm>
            <a:off x="594360" y="4407408"/>
            <a:ext cx="777240" cy="219456"/>
          </a:xfrm>
          <a:prstGeom prst="roundRect">
            <a:avLst>
              <a:gd name="adj" fmla="val 25000"/>
            </a:avLst>
          </a:prstGeom>
          <a:solidFill>
            <a:srgbClr val="27AE60"/>
          </a:solidFill>
          <a:ln w="12700">
            <a:solidFill>
              <a:srgbClr val="27AE60"/>
            </a:solidFill>
            <a:prstDash val="solid"/>
          </a:ln>
        </p:spPr>
      </p:sp>
      <p:sp>
        <p:nvSpPr>
          <p:cNvPr id="36" name="Text 34"/>
          <p:cNvSpPr/>
          <p:nvPr/>
        </p:nvSpPr>
        <p:spPr>
          <a:xfrm>
            <a:off x="594360" y="4407408"/>
            <a:ext cx="7772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p>
        </p:txBody>
      </p:sp>
      <p:sp>
        <p:nvSpPr>
          <p:cNvPr id="37" name="Text 35"/>
          <p:cNvSpPr/>
          <p:nvPr/>
        </p:nvSpPr>
        <p:spPr>
          <a:xfrm>
            <a:off x="1481328" y="4279392"/>
            <a:ext cx="3657600" cy="256032"/>
          </a:xfrm>
          <a:prstGeom prst="rect">
            <a:avLst/>
          </a:prstGeom>
          <a:noFill/>
          <a:ln/>
        </p:spPr>
        <p:txBody>
          <a:bodyPr wrap="square" rtlCol="0" anchor="ctr"/>
          <a:lstStyle/>
          <a:p>
            <a:pPr indent="0" marL="0">
              <a:buNone/>
            </a:pPr>
            <a:r>
              <a:rPr lang="en-US" sz="1100" b="1" dirty="0">
                <a:solidFill>
                  <a:srgbClr val="1B2A4A"/>
                </a:solidFill>
                <a:latin typeface="Arial" pitchFamily="34" charset="0"/>
                <a:ea typeface="Arial" pitchFamily="34" charset="-122"/>
                <a:cs typeface="Arial" pitchFamily="34" charset="-120"/>
              </a:rPr>
              <a:t>Single permission level (no RBAC)</a:t>
            </a:r>
            <a:endParaRPr lang="en-US" sz="1100" dirty="0"/>
          </a:p>
        </p:txBody>
      </p:sp>
      <p:sp>
        <p:nvSpPr>
          <p:cNvPr id="38" name="Text 36"/>
          <p:cNvSpPr/>
          <p:nvPr/>
        </p:nvSpPr>
        <p:spPr>
          <a:xfrm>
            <a:off x="1481328" y="4535424"/>
            <a:ext cx="3474720" cy="310896"/>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All VS Code users with the extension installed share identical capabilities. There is no role-based access control to restrict, for example, Xray push rights.</a:t>
            </a:r>
            <a:endParaRPr lang="en-US" sz="950" dirty="0"/>
          </a:p>
        </p:txBody>
      </p:sp>
      <p:sp>
        <p:nvSpPr>
          <p:cNvPr id="39" name="Text 37"/>
          <p:cNvSpPr/>
          <p:nvPr/>
        </p:nvSpPr>
        <p:spPr>
          <a:xfrm>
            <a:off x="5166360" y="4297680"/>
            <a:ext cx="658368" cy="182880"/>
          </a:xfrm>
          <a:prstGeom prst="rect">
            <a:avLst/>
          </a:prstGeom>
          <a:noFill/>
          <a:ln/>
        </p:spPr>
        <p:txBody>
          <a:bodyPr wrap="square" rtlCol="0" anchor="ctr"/>
          <a:lstStyle/>
          <a:p>
            <a:pPr indent="0" marL="0">
              <a:buNone/>
            </a:pPr>
            <a:r>
              <a:rPr lang="en-US" sz="900" b="1" dirty="0">
                <a:solidFill>
                  <a:srgbClr val="028090"/>
                </a:solidFill>
                <a:latin typeface="Arial" pitchFamily="34" charset="0"/>
                <a:ea typeface="Arial" pitchFamily="34" charset="-122"/>
                <a:cs typeface="Arial" pitchFamily="34" charset="-120"/>
              </a:rPr>
              <a:t>Mitigation:</a:t>
            </a:r>
            <a:endParaRPr lang="en-US" sz="900" dirty="0"/>
          </a:p>
        </p:txBody>
      </p:sp>
      <p:sp>
        <p:nvSpPr>
          <p:cNvPr id="40" name="Text 38"/>
          <p:cNvSpPr/>
          <p:nvPr/>
        </p:nvSpPr>
        <p:spPr>
          <a:xfrm>
            <a:off x="5166360" y="4480560"/>
            <a:ext cx="3364992" cy="365760"/>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Acceptable at current team scale. RBAC planned as the user base grows.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11</a:t>
            </a:r>
            <a:endParaRPr lang="en-US" sz="800" dirty="0"/>
          </a:p>
        </p:txBody>
      </p:sp>
      <p:sp>
        <p:nvSpPr>
          <p:cNvPr id="3" name="Shape 1"/>
          <p:cNvSpPr/>
          <p:nvPr/>
        </p:nvSpPr>
        <p:spPr>
          <a:xfrm>
            <a:off x="457200" y="274320"/>
            <a:ext cx="1371600" cy="256032"/>
          </a:xfrm>
          <a:prstGeom prst="roundRect">
            <a:avLst>
              <a:gd name="adj" fmla="val 21429"/>
            </a:avLst>
          </a:prstGeom>
          <a:solidFill>
            <a:srgbClr val="028090"/>
          </a:solidFill>
          <a:ln w="12700">
            <a:solidFill>
              <a:srgbClr val="028090"/>
            </a:solidFill>
            <a:prstDash val="solid"/>
          </a:ln>
        </p:spPr>
      </p:sp>
      <p:sp>
        <p:nvSpPr>
          <p:cNvPr id="4" name="Text 2"/>
          <p:cNvSpPr/>
          <p:nvPr/>
        </p:nvSpPr>
        <p:spPr>
          <a:xfrm>
            <a:off x="457200" y="2743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ROADMAP</a:t>
            </a:r>
            <a:endParaRPr lang="en-US" sz="800" dirty="0"/>
          </a:p>
        </p:txBody>
      </p:sp>
      <p:sp>
        <p:nvSpPr>
          <p:cNvPr id="5" name="Text 3"/>
          <p:cNvSpPr/>
          <p:nvPr/>
        </p:nvSpPr>
        <p:spPr>
          <a:xfrm>
            <a:off x="457200" y="594360"/>
            <a:ext cx="822960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Roadmap &amp; Next Steps</a:t>
            </a:r>
            <a:endParaRPr lang="en-US" sz="3000" dirty="0"/>
          </a:p>
        </p:txBody>
      </p:sp>
      <p:sp>
        <p:nvSpPr>
          <p:cNvPr id="6" name="Shape 4"/>
          <p:cNvSpPr/>
          <p:nvPr/>
        </p:nvSpPr>
        <p:spPr>
          <a:xfrm>
            <a:off x="457200" y="1261872"/>
            <a:ext cx="2697480" cy="3429000"/>
          </a:xfrm>
          <a:prstGeom prst="roundRect">
            <a:avLst>
              <a:gd name="adj" fmla="val 4068"/>
            </a:avLst>
          </a:prstGeom>
          <a:solidFill>
            <a:srgbClr val="1F3A5F"/>
          </a:solidFill>
          <a:ln w="12700">
            <a:solidFill>
              <a:srgbClr val="2A4A72"/>
            </a:solidFill>
            <a:prstDash val="solid"/>
          </a:ln>
          <a:effectLst>
            <a:outerShdw sx="100000" sy="100000" kx="0" ky="0" algn="bl" rotWithShape="0" blurRad="177800" dist="50800" dir="2700000">
              <a:srgbClr val="000000">
                <a:alpha val="10000"/>
              </a:srgbClr>
            </a:outerShdw>
          </a:effectLst>
        </p:spPr>
      </p:sp>
      <p:sp>
        <p:nvSpPr>
          <p:cNvPr id="7" name="Shape 5"/>
          <p:cNvSpPr/>
          <p:nvPr/>
        </p:nvSpPr>
        <p:spPr>
          <a:xfrm>
            <a:off x="457200" y="1261872"/>
            <a:ext cx="2697480" cy="640080"/>
          </a:xfrm>
          <a:prstGeom prst="roundRect">
            <a:avLst>
              <a:gd name="adj" fmla="val 17143"/>
            </a:avLst>
          </a:prstGeom>
          <a:solidFill>
            <a:srgbClr val="028090"/>
          </a:solidFill>
          <a:ln w="12700">
            <a:solidFill>
              <a:srgbClr val="028090"/>
            </a:solidFill>
            <a:prstDash val="solid"/>
          </a:ln>
        </p:spPr>
      </p:sp>
      <p:sp>
        <p:nvSpPr>
          <p:cNvPr id="8" name="Shape 6"/>
          <p:cNvSpPr/>
          <p:nvPr/>
        </p:nvSpPr>
        <p:spPr>
          <a:xfrm>
            <a:off x="457200" y="1536192"/>
            <a:ext cx="2697480" cy="365760"/>
          </a:xfrm>
          <a:prstGeom prst="rectangle">
            <a:avLst/>
          </a:prstGeom>
          <a:solidFill>
            <a:srgbClr val="028090"/>
          </a:solidFill>
          <a:ln w="12700">
            <a:solidFill>
              <a:srgbClr val="028090"/>
            </a:solidFill>
            <a:prstDash val="solid"/>
          </a:ln>
        </p:spPr>
      </p:sp>
      <p:sp>
        <p:nvSpPr>
          <p:cNvPr id="9" name="Text 7"/>
          <p:cNvSpPr/>
          <p:nvPr/>
        </p:nvSpPr>
        <p:spPr>
          <a:xfrm>
            <a:off x="457200" y="1280160"/>
            <a:ext cx="2697480" cy="32918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v0.0.5</a:t>
            </a:r>
            <a:endParaRPr lang="en-US" sz="1600" dirty="0"/>
          </a:p>
        </p:txBody>
      </p:sp>
      <p:sp>
        <p:nvSpPr>
          <p:cNvPr id="10" name="Text 8"/>
          <p:cNvSpPr/>
          <p:nvPr/>
        </p:nvSpPr>
        <p:spPr>
          <a:xfrm>
            <a:off x="457200" y="1591056"/>
            <a:ext cx="2697480" cy="237744"/>
          </a:xfrm>
          <a:prstGeom prst="rect">
            <a:avLst/>
          </a:prstGeom>
          <a:noFill/>
          <a:ln/>
        </p:spPr>
        <p:txBody>
          <a:bodyPr wrap="square" rtlCol="0" anchor="ctr"/>
          <a:lstStyle/>
          <a:p>
            <a:pPr algn="ctr" indent="0" marL="0">
              <a:buNone/>
            </a:pPr>
            <a:r>
              <a:rPr lang="en-US" sz="1000" dirty="0">
                <a:solidFill>
                  <a:srgbClr val="D8EEF0"/>
                </a:solidFill>
                <a:latin typeface="Arial" pitchFamily="34" charset="0"/>
                <a:ea typeface="Arial" pitchFamily="34" charset="-122"/>
                <a:cs typeface="Arial" pitchFamily="34" charset="-120"/>
              </a:rPr>
              <a:t>Near Term</a:t>
            </a:r>
            <a:endParaRPr lang="en-US" sz="1000" dirty="0"/>
          </a:p>
        </p:txBody>
      </p:sp>
      <p:sp>
        <p:nvSpPr>
          <p:cNvPr id="11" name="Shape 9"/>
          <p:cNvSpPr/>
          <p:nvPr/>
        </p:nvSpPr>
        <p:spPr>
          <a:xfrm>
            <a:off x="1115568" y="2011680"/>
            <a:ext cx="1371600" cy="237744"/>
          </a:xfrm>
          <a:prstGeom prst="roundRect">
            <a:avLst>
              <a:gd name="adj" fmla="val 38462"/>
            </a:avLst>
          </a:prstGeom>
          <a:solidFill>
            <a:srgbClr val="0D2A44"/>
          </a:solidFill>
          <a:ln w="12700">
            <a:solidFill>
              <a:srgbClr val="028090"/>
            </a:solidFill>
            <a:prstDash val="solid"/>
          </a:ln>
        </p:spPr>
      </p:sp>
      <p:sp>
        <p:nvSpPr>
          <p:cNvPr id="12" name="Text 10"/>
          <p:cNvSpPr/>
          <p:nvPr/>
        </p:nvSpPr>
        <p:spPr>
          <a:xfrm>
            <a:off x="1115568" y="2011680"/>
            <a:ext cx="1371600" cy="237744"/>
          </a:xfrm>
          <a:prstGeom prst="rect">
            <a:avLst/>
          </a:prstGeom>
          <a:noFill/>
          <a:ln/>
        </p:spPr>
        <p:txBody>
          <a:bodyPr wrap="square" lIns="0" tIns="0" rIns="0" bIns="0" rtlCol="0" anchor="ctr"/>
          <a:lstStyle/>
          <a:p>
            <a:pPr algn="ctr" indent="0" marL="0">
              <a:buNone/>
            </a:pPr>
            <a:r>
              <a:rPr lang="en-US" sz="900" dirty="0">
                <a:solidFill>
                  <a:srgbClr val="028090"/>
                </a:solidFill>
                <a:latin typeface="Arial" pitchFamily="34" charset="0"/>
                <a:ea typeface="Arial" pitchFamily="34" charset="-122"/>
                <a:cs typeface="Arial" pitchFamily="34" charset="-120"/>
              </a:rPr>
              <a:t>Planned</a:t>
            </a:r>
            <a:endParaRPr lang="en-US" sz="900" dirty="0"/>
          </a:p>
        </p:txBody>
      </p:sp>
      <p:sp>
        <p:nvSpPr>
          <p:cNvPr id="13" name="Shape 11"/>
          <p:cNvSpPr/>
          <p:nvPr/>
        </p:nvSpPr>
        <p:spPr>
          <a:xfrm>
            <a:off x="640080" y="2395728"/>
            <a:ext cx="201168" cy="201168"/>
          </a:xfrm>
          <a:prstGeom prst="ellipse">
            <a:avLst/>
          </a:prstGeom>
          <a:solidFill>
            <a:srgbClr val="028090"/>
          </a:solidFill>
          <a:ln w="12700">
            <a:solidFill>
              <a:srgbClr val="028090"/>
            </a:solidFill>
            <a:prstDash val="solid"/>
          </a:ln>
        </p:spPr>
      </p:sp>
      <p:sp>
        <p:nvSpPr>
          <p:cNvPr id="14" name="Text 12"/>
          <p:cNvSpPr/>
          <p:nvPr/>
        </p:nvSpPr>
        <p:spPr>
          <a:xfrm>
            <a:off x="932688" y="2350008"/>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Live Jira/Xray API validation in Settings</a:t>
            </a:r>
            <a:endParaRPr lang="en-US" sz="1000" dirty="0"/>
          </a:p>
        </p:txBody>
      </p:sp>
      <p:sp>
        <p:nvSpPr>
          <p:cNvPr id="15" name="Shape 13"/>
          <p:cNvSpPr/>
          <p:nvPr/>
        </p:nvSpPr>
        <p:spPr>
          <a:xfrm>
            <a:off x="640080" y="3054096"/>
            <a:ext cx="201168" cy="201168"/>
          </a:xfrm>
          <a:prstGeom prst="ellipse">
            <a:avLst/>
          </a:prstGeom>
          <a:solidFill>
            <a:srgbClr val="028090"/>
          </a:solidFill>
          <a:ln w="12700">
            <a:solidFill>
              <a:srgbClr val="028090"/>
            </a:solidFill>
            <a:prstDash val="solid"/>
          </a:ln>
        </p:spPr>
      </p:sp>
      <p:sp>
        <p:nvSpPr>
          <p:cNvPr id="16" name="Text 14"/>
          <p:cNvSpPr/>
          <p:nvPr/>
        </p:nvSpPr>
        <p:spPr>
          <a:xfrm>
            <a:off x="932688" y="3008376"/>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Token-streaming for real-time LLM output</a:t>
            </a:r>
            <a:endParaRPr lang="en-US" sz="1000" dirty="0"/>
          </a:p>
        </p:txBody>
      </p:sp>
      <p:sp>
        <p:nvSpPr>
          <p:cNvPr id="17" name="Shape 15"/>
          <p:cNvSpPr/>
          <p:nvPr/>
        </p:nvSpPr>
        <p:spPr>
          <a:xfrm>
            <a:off x="640080" y="3712464"/>
            <a:ext cx="201168" cy="201168"/>
          </a:xfrm>
          <a:prstGeom prst="ellipse">
            <a:avLst/>
          </a:prstGeom>
          <a:solidFill>
            <a:srgbClr val="028090"/>
          </a:solidFill>
          <a:ln w="12700">
            <a:solidFill>
              <a:srgbClr val="028090"/>
            </a:solidFill>
            <a:prstDash val="solid"/>
          </a:ln>
        </p:spPr>
      </p:sp>
      <p:sp>
        <p:nvSpPr>
          <p:cNvPr id="18" name="Text 16"/>
          <p:cNvSpPr/>
          <p:nvPr/>
        </p:nvSpPr>
        <p:spPr>
          <a:xfrm>
            <a:off x="932688" y="3666744"/>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User-customizable prompt templates</a:t>
            </a:r>
            <a:endParaRPr lang="en-US" sz="1000" dirty="0"/>
          </a:p>
        </p:txBody>
      </p:sp>
      <p:sp>
        <p:nvSpPr>
          <p:cNvPr id="19" name="Shape 17"/>
          <p:cNvSpPr/>
          <p:nvPr/>
        </p:nvSpPr>
        <p:spPr>
          <a:xfrm>
            <a:off x="3383280" y="1261872"/>
            <a:ext cx="2697480" cy="3429000"/>
          </a:xfrm>
          <a:prstGeom prst="roundRect">
            <a:avLst>
              <a:gd name="adj" fmla="val 4068"/>
            </a:avLst>
          </a:prstGeom>
          <a:solidFill>
            <a:srgbClr val="1F3A5F"/>
          </a:solidFill>
          <a:ln w="12700">
            <a:solidFill>
              <a:srgbClr val="2A4A72"/>
            </a:solidFill>
            <a:prstDash val="solid"/>
          </a:ln>
          <a:effectLst>
            <a:outerShdw sx="100000" sy="100000" kx="0" ky="0" algn="bl" rotWithShape="0" blurRad="177800" dist="50800" dir="2700000">
              <a:srgbClr val="000000">
                <a:alpha val="10000"/>
              </a:srgbClr>
            </a:outerShdw>
          </a:effectLst>
        </p:spPr>
      </p:sp>
      <p:sp>
        <p:nvSpPr>
          <p:cNvPr id="20" name="Shape 18"/>
          <p:cNvSpPr/>
          <p:nvPr/>
        </p:nvSpPr>
        <p:spPr>
          <a:xfrm>
            <a:off x="3383280" y="1261872"/>
            <a:ext cx="2697480" cy="640080"/>
          </a:xfrm>
          <a:prstGeom prst="roundRect">
            <a:avLst>
              <a:gd name="adj" fmla="val 17143"/>
            </a:avLst>
          </a:prstGeom>
          <a:solidFill>
            <a:srgbClr val="02A8BC"/>
          </a:solidFill>
          <a:ln w="12700">
            <a:solidFill>
              <a:srgbClr val="02A8BC"/>
            </a:solidFill>
            <a:prstDash val="solid"/>
          </a:ln>
        </p:spPr>
      </p:sp>
      <p:sp>
        <p:nvSpPr>
          <p:cNvPr id="21" name="Shape 19"/>
          <p:cNvSpPr/>
          <p:nvPr/>
        </p:nvSpPr>
        <p:spPr>
          <a:xfrm>
            <a:off x="3383280" y="1536192"/>
            <a:ext cx="2697480" cy="365760"/>
          </a:xfrm>
          <a:prstGeom prst="rectangle">
            <a:avLst/>
          </a:prstGeom>
          <a:solidFill>
            <a:srgbClr val="02A8BC"/>
          </a:solidFill>
          <a:ln w="12700">
            <a:solidFill>
              <a:srgbClr val="02A8BC"/>
            </a:solidFill>
            <a:prstDash val="solid"/>
          </a:ln>
        </p:spPr>
      </p:sp>
      <p:sp>
        <p:nvSpPr>
          <p:cNvPr id="22" name="Text 20"/>
          <p:cNvSpPr/>
          <p:nvPr/>
        </p:nvSpPr>
        <p:spPr>
          <a:xfrm>
            <a:off x="3383280" y="1280160"/>
            <a:ext cx="2697480" cy="32918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v0.1.0</a:t>
            </a:r>
            <a:endParaRPr lang="en-US" sz="1600" dirty="0"/>
          </a:p>
        </p:txBody>
      </p:sp>
      <p:sp>
        <p:nvSpPr>
          <p:cNvPr id="23" name="Text 21"/>
          <p:cNvSpPr/>
          <p:nvPr/>
        </p:nvSpPr>
        <p:spPr>
          <a:xfrm>
            <a:off x="3383280" y="1591056"/>
            <a:ext cx="2697480" cy="237744"/>
          </a:xfrm>
          <a:prstGeom prst="rect">
            <a:avLst/>
          </a:prstGeom>
          <a:noFill/>
          <a:ln/>
        </p:spPr>
        <p:txBody>
          <a:bodyPr wrap="square" rtlCol="0" anchor="ctr"/>
          <a:lstStyle/>
          <a:p>
            <a:pPr algn="ctr" indent="0" marL="0">
              <a:buNone/>
            </a:pPr>
            <a:r>
              <a:rPr lang="en-US" sz="1000" dirty="0">
                <a:solidFill>
                  <a:srgbClr val="D8EEF0"/>
                </a:solidFill>
                <a:latin typeface="Arial" pitchFamily="34" charset="0"/>
                <a:ea typeface="Arial" pitchFamily="34" charset="-122"/>
                <a:cs typeface="Arial" pitchFamily="34" charset="-120"/>
              </a:rPr>
              <a:t>Mid Term</a:t>
            </a:r>
            <a:endParaRPr lang="en-US" sz="1000" dirty="0"/>
          </a:p>
        </p:txBody>
      </p:sp>
      <p:sp>
        <p:nvSpPr>
          <p:cNvPr id="24" name="Shape 22"/>
          <p:cNvSpPr/>
          <p:nvPr/>
        </p:nvSpPr>
        <p:spPr>
          <a:xfrm>
            <a:off x="4041648" y="2011680"/>
            <a:ext cx="1371600" cy="237744"/>
          </a:xfrm>
          <a:prstGeom prst="roundRect">
            <a:avLst>
              <a:gd name="adj" fmla="val 38462"/>
            </a:avLst>
          </a:prstGeom>
          <a:solidFill>
            <a:srgbClr val="0D2A44"/>
          </a:solidFill>
          <a:ln w="12700">
            <a:solidFill>
              <a:srgbClr val="02A8BC"/>
            </a:solidFill>
            <a:prstDash val="solid"/>
          </a:ln>
        </p:spPr>
      </p:sp>
      <p:sp>
        <p:nvSpPr>
          <p:cNvPr id="25" name="Text 23"/>
          <p:cNvSpPr/>
          <p:nvPr/>
        </p:nvSpPr>
        <p:spPr>
          <a:xfrm>
            <a:off x="4041648" y="2011680"/>
            <a:ext cx="1371600" cy="237744"/>
          </a:xfrm>
          <a:prstGeom prst="rect">
            <a:avLst/>
          </a:prstGeom>
          <a:noFill/>
          <a:ln/>
        </p:spPr>
        <p:txBody>
          <a:bodyPr wrap="square" lIns="0" tIns="0" rIns="0" bIns="0" rtlCol="0" anchor="ctr"/>
          <a:lstStyle/>
          <a:p>
            <a:pPr algn="ctr" indent="0" marL="0">
              <a:buNone/>
            </a:pPr>
            <a:r>
              <a:rPr lang="en-US" sz="900" dirty="0">
                <a:solidFill>
                  <a:srgbClr val="02A8BC"/>
                </a:solidFill>
                <a:latin typeface="Arial" pitchFamily="34" charset="0"/>
                <a:ea typeface="Arial" pitchFamily="34" charset="-122"/>
                <a:cs typeface="Arial" pitchFamily="34" charset="-120"/>
              </a:rPr>
              <a:t>Scoped</a:t>
            </a:r>
            <a:endParaRPr lang="en-US" sz="900" dirty="0"/>
          </a:p>
        </p:txBody>
      </p:sp>
      <p:sp>
        <p:nvSpPr>
          <p:cNvPr id="26" name="Shape 24"/>
          <p:cNvSpPr/>
          <p:nvPr/>
        </p:nvSpPr>
        <p:spPr>
          <a:xfrm>
            <a:off x="3566160" y="2395728"/>
            <a:ext cx="201168" cy="201168"/>
          </a:xfrm>
          <a:prstGeom prst="ellipse">
            <a:avLst/>
          </a:prstGeom>
          <a:solidFill>
            <a:srgbClr val="02A8BC"/>
          </a:solidFill>
          <a:ln w="12700">
            <a:solidFill>
              <a:srgbClr val="02A8BC"/>
            </a:solidFill>
            <a:prstDash val="solid"/>
          </a:ln>
        </p:spPr>
      </p:sp>
      <p:sp>
        <p:nvSpPr>
          <p:cNvPr id="27" name="Text 25"/>
          <p:cNvSpPr/>
          <p:nvPr/>
        </p:nvSpPr>
        <p:spPr>
          <a:xfrm>
            <a:off x="3858768" y="2350008"/>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Requirement versioning &amp; diff tracking</a:t>
            </a:r>
            <a:endParaRPr lang="en-US" sz="1000" dirty="0"/>
          </a:p>
        </p:txBody>
      </p:sp>
      <p:sp>
        <p:nvSpPr>
          <p:cNvPr id="28" name="Shape 26"/>
          <p:cNvSpPr/>
          <p:nvPr/>
        </p:nvSpPr>
        <p:spPr>
          <a:xfrm>
            <a:off x="3566160" y="3054096"/>
            <a:ext cx="201168" cy="201168"/>
          </a:xfrm>
          <a:prstGeom prst="ellipse">
            <a:avLst/>
          </a:prstGeom>
          <a:solidFill>
            <a:srgbClr val="02A8BC"/>
          </a:solidFill>
          <a:ln w="12700">
            <a:solidFill>
              <a:srgbClr val="02A8BC"/>
            </a:solidFill>
            <a:prstDash val="solid"/>
          </a:ln>
        </p:spPr>
      </p:sp>
      <p:sp>
        <p:nvSpPr>
          <p:cNvPr id="29" name="Text 27"/>
          <p:cNvSpPr/>
          <p:nvPr/>
        </p:nvSpPr>
        <p:spPr>
          <a:xfrm>
            <a:off x="3858768" y="3008376"/>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Multi-project Xray configuration</a:t>
            </a:r>
            <a:endParaRPr lang="en-US" sz="1000" dirty="0"/>
          </a:p>
        </p:txBody>
      </p:sp>
      <p:sp>
        <p:nvSpPr>
          <p:cNvPr id="30" name="Shape 28"/>
          <p:cNvSpPr/>
          <p:nvPr/>
        </p:nvSpPr>
        <p:spPr>
          <a:xfrm>
            <a:off x="3566160" y="3712464"/>
            <a:ext cx="201168" cy="201168"/>
          </a:xfrm>
          <a:prstGeom prst="ellipse">
            <a:avLst/>
          </a:prstGeom>
          <a:solidFill>
            <a:srgbClr val="02A8BC"/>
          </a:solidFill>
          <a:ln w="12700">
            <a:solidFill>
              <a:srgbClr val="02A8BC"/>
            </a:solidFill>
            <a:prstDash val="solid"/>
          </a:ln>
        </p:spPr>
      </p:sp>
      <p:sp>
        <p:nvSpPr>
          <p:cNvPr id="31" name="Text 29"/>
          <p:cNvSpPr/>
          <p:nvPr/>
        </p:nvSpPr>
        <p:spPr>
          <a:xfrm>
            <a:off x="3858768" y="3666744"/>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Bulk scenario editing UI</a:t>
            </a:r>
            <a:endParaRPr lang="en-US" sz="1000" dirty="0"/>
          </a:p>
        </p:txBody>
      </p:sp>
      <p:sp>
        <p:nvSpPr>
          <p:cNvPr id="32" name="Shape 30"/>
          <p:cNvSpPr/>
          <p:nvPr/>
        </p:nvSpPr>
        <p:spPr>
          <a:xfrm>
            <a:off x="6309360" y="1261872"/>
            <a:ext cx="2697480" cy="3429000"/>
          </a:xfrm>
          <a:prstGeom prst="roundRect">
            <a:avLst>
              <a:gd name="adj" fmla="val 4068"/>
            </a:avLst>
          </a:prstGeom>
          <a:solidFill>
            <a:srgbClr val="1F3A5F"/>
          </a:solidFill>
          <a:ln w="12700">
            <a:solidFill>
              <a:srgbClr val="2A4A72"/>
            </a:solidFill>
            <a:prstDash val="solid"/>
          </a:ln>
          <a:effectLst>
            <a:outerShdw sx="100000" sy="100000" kx="0" ky="0" algn="bl" rotWithShape="0" blurRad="177800" dist="50800" dir="2700000">
              <a:srgbClr val="000000">
                <a:alpha val="10000"/>
              </a:srgbClr>
            </a:outerShdw>
          </a:effectLst>
        </p:spPr>
      </p:sp>
      <p:sp>
        <p:nvSpPr>
          <p:cNvPr id="33" name="Shape 31"/>
          <p:cNvSpPr/>
          <p:nvPr/>
        </p:nvSpPr>
        <p:spPr>
          <a:xfrm>
            <a:off x="6309360" y="1261872"/>
            <a:ext cx="2697480" cy="640080"/>
          </a:xfrm>
          <a:prstGeom prst="roundRect">
            <a:avLst>
              <a:gd name="adj" fmla="val 17143"/>
            </a:avLst>
          </a:prstGeom>
          <a:solidFill>
            <a:srgbClr val="E67E22"/>
          </a:solidFill>
          <a:ln w="12700">
            <a:solidFill>
              <a:srgbClr val="E67E22"/>
            </a:solidFill>
            <a:prstDash val="solid"/>
          </a:ln>
        </p:spPr>
      </p:sp>
      <p:sp>
        <p:nvSpPr>
          <p:cNvPr id="34" name="Shape 32"/>
          <p:cNvSpPr/>
          <p:nvPr/>
        </p:nvSpPr>
        <p:spPr>
          <a:xfrm>
            <a:off x="6309360" y="1536192"/>
            <a:ext cx="2697480" cy="365760"/>
          </a:xfrm>
          <a:prstGeom prst="rectangle">
            <a:avLst/>
          </a:prstGeom>
          <a:solidFill>
            <a:srgbClr val="E67E22"/>
          </a:solidFill>
          <a:ln w="12700">
            <a:solidFill>
              <a:srgbClr val="E67E22"/>
            </a:solidFill>
            <a:prstDash val="solid"/>
          </a:ln>
        </p:spPr>
      </p:sp>
      <p:sp>
        <p:nvSpPr>
          <p:cNvPr id="35" name="Text 33"/>
          <p:cNvSpPr/>
          <p:nvPr/>
        </p:nvSpPr>
        <p:spPr>
          <a:xfrm>
            <a:off x="6309360" y="1280160"/>
            <a:ext cx="2697480" cy="329184"/>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v1.0</a:t>
            </a:r>
            <a:endParaRPr lang="en-US" sz="1600" dirty="0"/>
          </a:p>
        </p:txBody>
      </p:sp>
      <p:sp>
        <p:nvSpPr>
          <p:cNvPr id="36" name="Text 34"/>
          <p:cNvSpPr/>
          <p:nvPr/>
        </p:nvSpPr>
        <p:spPr>
          <a:xfrm>
            <a:off x="6309360" y="1591056"/>
            <a:ext cx="2697480" cy="237744"/>
          </a:xfrm>
          <a:prstGeom prst="rect">
            <a:avLst/>
          </a:prstGeom>
          <a:noFill/>
          <a:ln/>
        </p:spPr>
        <p:txBody>
          <a:bodyPr wrap="square" rtlCol="0" anchor="ctr"/>
          <a:lstStyle/>
          <a:p>
            <a:pPr algn="ctr" indent="0" marL="0">
              <a:buNone/>
            </a:pPr>
            <a:r>
              <a:rPr lang="en-US" sz="1000" dirty="0">
                <a:solidFill>
                  <a:srgbClr val="D8EEF0"/>
                </a:solidFill>
                <a:latin typeface="Arial" pitchFamily="34" charset="0"/>
                <a:ea typeface="Arial" pitchFamily="34" charset="-122"/>
                <a:cs typeface="Arial" pitchFamily="34" charset="-120"/>
              </a:rPr>
              <a:t>Strategic</a:t>
            </a:r>
            <a:endParaRPr lang="en-US" sz="1000" dirty="0"/>
          </a:p>
        </p:txBody>
      </p:sp>
      <p:sp>
        <p:nvSpPr>
          <p:cNvPr id="37" name="Shape 35"/>
          <p:cNvSpPr/>
          <p:nvPr/>
        </p:nvSpPr>
        <p:spPr>
          <a:xfrm>
            <a:off x="6967728" y="2011680"/>
            <a:ext cx="1371600" cy="237744"/>
          </a:xfrm>
          <a:prstGeom prst="roundRect">
            <a:avLst>
              <a:gd name="adj" fmla="val 38462"/>
            </a:avLst>
          </a:prstGeom>
          <a:solidFill>
            <a:srgbClr val="0D2A44"/>
          </a:solidFill>
          <a:ln w="12700">
            <a:solidFill>
              <a:srgbClr val="E67E22"/>
            </a:solidFill>
            <a:prstDash val="solid"/>
          </a:ln>
        </p:spPr>
      </p:sp>
      <p:sp>
        <p:nvSpPr>
          <p:cNvPr id="38" name="Text 36"/>
          <p:cNvSpPr/>
          <p:nvPr/>
        </p:nvSpPr>
        <p:spPr>
          <a:xfrm>
            <a:off x="6967728" y="2011680"/>
            <a:ext cx="1371600" cy="237744"/>
          </a:xfrm>
          <a:prstGeom prst="rect">
            <a:avLst/>
          </a:prstGeom>
          <a:noFill/>
          <a:ln/>
        </p:spPr>
        <p:txBody>
          <a:bodyPr wrap="square" lIns="0" tIns="0" rIns="0" bIns="0" rtlCol="0" anchor="ctr"/>
          <a:lstStyle/>
          <a:p>
            <a:pPr algn="ctr" indent="0" marL="0">
              <a:buNone/>
            </a:pPr>
            <a:r>
              <a:rPr lang="en-US" sz="900" dirty="0">
                <a:solidFill>
                  <a:srgbClr val="E67E22"/>
                </a:solidFill>
                <a:latin typeface="Arial" pitchFamily="34" charset="0"/>
                <a:ea typeface="Arial" pitchFamily="34" charset="-122"/>
                <a:cs typeface="Arial" pitchFamily="34" charset="-120"/>
              </a:rPr>
              <a:t>Backlog</a:t>
            </a:r>
            <a:endParaRPr lang="en-US" sz="900" dirty="0"/>
          </a:p>
        </p:txBody>
      </p:sp>
      <p:sp>
        <p:nvSpPr>
          <p:cNvPr id="39" name="Shape 37"/>
          <p:cNvSpPr/>
          <p:nvPr/>
        </p:nvSpPr>
        <p:spPr>
          <a:xfrm>
            <a:off x="6492240" y="2395728"/>
            <a:ext cx="201168" cy="201168"/>
          </a:xfrm>
          <a:prstGeom prst="ellipse">
            <a:avLst/>
          </a:prstGeom>
          <a:solidFill>
            <a:srgbClr val="E67E22"/>
          </a:solidFill>
          <a:ln w="12700">
            <a:solidFill>
              <a:srgbClr val="E67E22"/>
            </a:solidFill>
            <a:prstDash val="solid"/>
          </a:ln>
        </p:spPr>
      </p:sp>
      <p:sp>
        <p:nvSpPr>
          <p:cNvPr id="40" name="Text 38"/>
          <p:cNvSpPr/>
          <p:nvPr/>
        </p:nvSpPr>
        <p:spPr>
          <a:xfrm>
            <a:off x="6784848" y="2350008"/>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Role-based access control (RBAC)</a:t>
            </a:r>
            <a:endParaRPr lang="en-US" sz="1000" dirty="0"/>
          </a:p>
        </p:txBody>
      </p:sp>
      <p:sp>
        <p:nvSpPr>
          <p:cNvPr id="41" name="Shape 39"/>
          <p:cNvSpPr/>
          <p:nvPr/>
        </p:nvSpPr>
        <p:spPr>
          <a:xfrm>
            <a:off x="6492240" y="3054096"/>
            <a:ext cx="201168" cy="201168"/>
          </a:xfrm>
          <a:prstGeom prst="ellipse">
            <a:avLst/>
          </a:prstGeom>
          <a:solidFill>
            <a:srgbClr val="E67E22"/>
          </a:solidFill>
          <a:ln w="12700">
            <a:solidFill>
              <a:srgbClr val="E67E22"/>
            </a:solidFill>
            <a:prstDash val="solid"/>
          </a:ln>
        </p:spPr>
      </p:sp>
      <p:sp>
        <p:nvSpPr>
          <p:cNvPr id="42" name="Text 40"/>
          <p:cNvSpPr/>
          <p:nvPr/>
        </p:nvSpPr>
        <p:spPr>
          <a:xfrm>
            <a:off x="6784848" y="3008376"/>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Analytics dashboard: push history &amp; coverage metrics</a:t>
            </a:r>
            <a:endParaRPr lang="en-US" sz="1000" dirty="0"/>
          </a:p>
        </p:txBody>
      </p:sp>
      <p:sp>
        <p:nvSpPr>
          <p:cNvPr id="43" name="Shape 41"/>
          <p:cNvSpPr/>
          <p:nvPr/>
        </p:nvSpPr>
        <p:spPr>
          <a:xfrm>
            <a:off x="6492240" y="3712464"/>
            <a:ext cx="201168" cy="201168"/>
          </a:xfrm>
          <a:prstGeom prst="ellipse">
            <a:avLst/>
          </a:prstGeom>
          <a:solidFill>
            <a:srgbClr val="E67E22"/>
          </a:solidFill>
          <a:ln w="12700">
            <a:solidFill>
              <a:srgbClr val="E67E22"/>
            </a:solidFill>
            <a:prstDash val="solid"/>
          </a:ln>
        </p:spPr>
      </p:sp>
      <p:sp>
        <p:nvSpPr>
          <p:cNvPr id="44" name="Text 42"/>
          <p:cNvSpPr/>
          <p:nvPr/>
        </p:nvSpPr>
        <p:spPr>
          <a:xfrm>
            <a:off x="6784848" y="3666744"/>
            <a:ext cx="2121408" cy="502920"/>
          </a:xfrm>
          <a:prstGeom prst="rect">
            <a:avLst/>
          </a:prstGeom>
          <a:noFill/>
          <a:ln/>
        </p:spPr>
        <p:txBody>
          <a:bodyPr wrap="square" rtlCol="0" anchor="ctr"/>
          <a:lstStyle/>
          <a:p>
            <a:pPr indent="0" marL="0">
              <a:buNone/>
            </a:pPr>
            <a:r>
              <a:rPr lang="en-US" sz="1000" dirty="0">
                <a:solidFill>
                  <a:srgbClr val="CADCFC"/>
                </a:solidFill>
                <a:latin typeface="Arial" pitchFamily="34" charset="0"/>
                <a:ea typeface="Arial" pitchFamily="34" charset="-122"/>
                <a:cs typeface="Arial" pitchFamily="34" charset="-120"/>
              </a:rPr>
              <a:t>CI/CD integration for automated test generation on PR</a:t>
            </a:r>
            <a:endParaRPr lang="en-US" sz="1000" dirty="0"/>
          </a:p>
        </p:txBody>
      </p:sp>
      <p:sp>
        <p:nvSpPr>
          <p:cNvPr id="45" name="Shape 43"/>
          <p:cNvSpPr/>
          <p:nvPr/>
        </p:nvSpPr>
        <p:spPr>
          <a:xfrm>
            <a:off x="457200" y="4773168"/>
            <a:ext cx="8229600" cy="347472"/>
          </a:xfrm>
          <a:prstGeom prst="roundRect">
            <a:avLst>
              <a:gd name="adj" fmla="val 21053"/>
            </a:avLst>
          </a:prstGeom>
          <a:solidFill>
            <a:srgbClr val="0D2A44"/>
          </a:solidFill>
          <a:ln w="12700">
            <a:solidFill>
              <a:srgbClr val="02A8BC"/>
            </a:solidFill>
            <a:prstDash val="solid"/>
          </a:ln>
        </p:spPr>
      </p:sp>
      <p:sp>
        <p:nvSpPr>
          <p:cNvPr id="46" name="Text 44"/>
          <p:cNvSpPr/>
          <p:nvPr/>
        </p:nvSpPr>
        <p:spPr>
          <a:xfrm>
            <a:off x="548640" y="4791456"/>
            <a:ext cx="8046720" cy="310896"/>
          </a:xfrm>
          <a:prstGeom prst="rect">
            <a:avLst/>
          </a:prstGeom>
          <a:noFill/>
          <a:ln/>
        </p:spPr>
        <p:txBody>
          <a:bodyPr wrap="square" rtlCol="0" anchor="ctr"/>
          <a:lstStyle/>
          <a:p>
            <a:pPr indent="0" marL="0">
              <a:buNone/>
            </a:pPr>
            <a:r>
              <a:rPr lang="en-US" sz="1050" dirty="0">
                <a:solidFill>
                  <a:srgbClr val="02A8BC"/>
                </a:solidFill>
                <a:latin typeface="Arial" pitchFamily="34" charset="0"/>
                <a:ea typeface="Arial" pitchFamily="34" charset="-122"/>
                <a:cs typeface="Arial" pitchFamily="34" charset="-120"/>
              </a:rPr>
              <a:t>⚡  Immediate: Test v0.0.4 in VS Code (F5) → validate Generate All end-to-end → confirm Xray push with live credentials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8F4"/>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12</a:t>
            </a:r>
            <a:endParaRPr lang="en-US" sz="800" dirty="0"/>
          </a:p>
        </p:txBody>
      </p:sp>
      <p:sp>
        <p:nvSpPr>
          <p:cNvPr id="3" name="Shape 1"/>
          <p:cNvSpPr/>
          <p:nvPr/>
        </p:nvSpPr>
        <p:spPr>
          <a:xfrm>
            <a:off x="0" y="0"/>
            <a:ext cx="9144000" cy="1060704"/>
          </a:xfrm>
          <a:prstGeom prst="rectangle">
            <a:avLst/>
          </a:prstGeom>
          <a:solidFill>
            <a:srgbClr val="1A5C38"/>
          </a:solidFill>
          <a:ln w="12700">
            <a:solidFill>
              <a:srgbClr val="1A5C38"/>
            </a:solidFill>
            <a:prstDash val="solid"/>
          </a:ln>
        </p:spPr>
      </p:sp>
      <p:sp>
        <p:nvSpPr>
          <p:cNvPr id="4" name="Shape 2"/>
          <p:cNvSpPr/>
          <p:nvPr/>
        </p:nvSpPr>
        <p:spPr>
          <a:xfrm>
            <a:off x="457200" y="201168"/>
            <a:ext cx="1371600" cy="256032"/>
          </a:xfrm>
          <a:prstGeom prst="roundRect">
            <a:avLst>
              <a:gd name="adj" fmla="val 21429"/>
            </a:avLst>
          </a:prstGeom>
          <a:solidFill>
            <a:srgbClr val="4AAA6F"/>
          </a:solidFill>
          <a:ln w="12700">
            <a:solidFill>
              <a:srgbClr val="4AAA6F"/>
            </a:solidFill>
            <a:prstDash val="solid"/>
          </a:ln>
        </p:spPr>
      </p:sp>
      <p:sp>
        <p:nvSpPr>
          <p:cNvPr id="5" name="Text 3"/>
          <p:cNvSpPr/>
          <p:nvPr/>
        </p:nvSpPr>
        <p:spPr>
          <a:xfrm>
            <a:off x="457200" y="201168"/>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RESPONSIBLE AI</a:t>
            </a:r>
            <a:endParaRPr lang="en-US" sz="800" dirty="0"/>
          </a:p>
        </p:txBody>
      </p:sp>
      <p:sp>
        <p:nvSpPr>
          <p:cNvPr id="6" name="Text 4"/>
          <p:cNvSpPr/>
          <p:nvPr/>
        </p:nvSpPr>
        <p:spPr>
          <a:xfrm>
            <a:off x="457200" y="475488"/>
            <a:ext cx="6858000" cy="475488"/>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Sustainability in Our AI Journey</a:t>
            </a:r>
            <a:endParaRPr lang="en-US" sz="2600" dirty="0"/>
          </a:p>
        </p:txBody>
      </p:sp>
      <p:sp>
        <p:nvSpPr>
          <p:cNvPr id="7" name="Shape 5"/>
          <p:cNvSpPr/>
          <p:nvPr/>
        </p:nvSpPr>
        <p:spPr>
          <a:xfrm>
            <a:off x="8028432" y="182880"/>
            <a:ext cx="694944" cy="694944"/>
          </a:xfrm>
          <a:prstGeom prst="ellipse">
            <a:avLst/>
          </a:prstGeom>
          <a:solidFill>
            <a:srgbClr val="2E8B57"/>
          </a:solidFill>
          <a:ln w="12700">
            <a:solidFill>
              <a:srgbClr val="4AAA6F"/>
            </a:solidFill>
            <a:prstDash val="solid"/>
          </a:ln>
        </p:spPr>
      </p:sp>
      <p:sp>
        <p:nvSpPr>
          <p:cNvPr id="8" name="Text 6"/>
          <p:cNvSpPr/>
          <p:nvPr/>
        </p:nvSpPr>
        <p:spPr>
          <a:xfrm>
            <a:off x="8028432" y="164592"/>
            <a:ext cx="694944" cy="694944"/>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9" name="Shape 7"/>
          <p:cNvSpPr/>
          <p:nvPr/>
        </p:nvSpPr>
        <p:spPr>
          <a:xfrm>
            <a:off x="457200" y="1152144"/>
            <a:ext cx="8229600" cy="475488"/>
          </a:xfrm>
          <a:prstGeom prst="roundRect">
            <a:avLst>
              <a:gd name="adj" fmla="val 15385"/>
            </a:avLst>
          </a:prstGeom>
          <a:solidFill>
            <a:srgbClr val="1A5C38"/>
          </a:solidFill>
          <a:ln w="12700">
            <a:solidFill>
              <a:srgbClr val="1A5C38"/>
            </a:solidFill>
            <a:prstDash val="solid"/>
          </a:ln>
        </p:spPr>
      </p:sp>
      <p:sp>
        <p:nvSpPr>
          <p:cNvPr id="10" name="Text 8"/>
          <p:cNvSpPr/>
          <p:nvPr/>
        </p:nvSpPr>
        <p:spPr>
          <a:xfrm>
            <a:off x="594360" y="1161288"/>
            <a:ext cx="7955280" cy="457200"/>
          </a:xfrm>
          <a:prstGeom prst="rect">
            <a:avLst/>
          </a:prstGeom>
          <a:noFill/>
          <a:ln/>
        </p:spPr>
        <p:txBody>
          <a:bodyPr wrap="square" rtlCol="0" anchor="ctr"/>
          <a:lstStyle/>
          <a:p>
            <a:pPr indent="0" marL="0">
              <a:buNone/>
            </a:pPr>
            <a:r>
              <a:rPr lang="en-US" sz="1150" b="1" i="1" dirty="0">
                <a:solidFill>
                  <a:srgbClr val="A8D5BC"/>
                </a:solidFill>
                <a:latin typeface="Cambria" pitchFamily="34" charset="0"/>
                <a:ea typeface="Cambria" pitchFamily="34" charset="-122"/>
                <a:cs typeface="Cambria" pitchFamily="34" charset="-120"/>
              </a:rPr>
              <a:t>“Generate only what is needed, when it is needed, using only the context that matters.”</a:t>
            </a:r>
            <a:endParaRPr lang="en-US" sz="1150" dirty="0"/>
          </a:p>
        </p:txBody>
      </p:sp>
      <p:sp>
        <p:nvSpPr>
          <p:cNvPr id="11" name="Text 9"/>
          <p:cNvSpPr/>
          <p:nvPr/>
        </p:nvSpPr>
        <p:spPr>
          <a:xfrm>
            <a:off x="457200" y="1773936"/>
            <a:ext cx="4160520" cy="274320"/>
          </a:xfrm>
          <a:prstGeom prst="rect">
            <a:avLst/>
          </a:prstGeom>
          <a:noFill/>
          <a:ln/>
        </p:spPr>
        <p:txBody>
          <a:bodyPr wrap="square" rtlCol="0" anchor="ctr"/>
          <a:lstStyle/>
          <a:p>
            <a:pPr indent="0" marL="0">
              <a:buNone/>
            </a:pPr>
            <a:r>
              <a:rPr lang="en-US" sz="1300" b="1" dirty="0">
                <a:solidFill>
                  <a:srgbClr val="1A5C38"/>
                </a:solidFill>
                <a:latin typeface="Arial" pitchFamily="34" charset="0"/>
                <a:ea typeface="Arial" pitchFamily="34" charset="-122"/>
                <a:cs typeface="Arial" pitchFamily="34" charset="-120"/>
              </a:rPr>
              <a:t>Actions Implemented</a:t>
            </a:r>
            <a:endParaRPr lang="en-US" sz="1300" dirty="0"/>
          </a:p>
        </p:txBody>
      </p:sp>
      <p:sp>
        <p:nvSpPr>
          <p:cNvPr id="12" name="Shape 10"/>
          <p:cNvSpPr/>
          <p:nvPr/>
        </p:nvSpPr>
        <p:spPr>
          <a:xfrm>
            <a:off x="457200" y="2121408"/>
            <a:ext cx="416052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13" name="Shape 11"/>
          <p:cNvSpPr/>
          <p:nvPr/>
        </p:nvSpPr>
        <p:spPr>
          <a:xfrm>
            <a:off x="585216" y="2286000"/>
            <a:ext cx="310896" cy="310896"/>
          </a:xfrm>
          <a:prstGeom prst="ellipse">
            <a:avLst/>
          </a:prstGeom>
          <a:solidFill>
            <a:srgbClr val="D4EDE0"/>
          </a:solidFill>
          <a:ln w="12700">
            <a:solidFill>
              <a:srgbClr val="D4EDE0"/>
            </a:solidFill>
            <a:prstDash val="solid"/>
          </a:ln>
        </p:spPr>
      </p:sp>
      <p:sp>
        <p:nvSpPr>
          <p:cNvPr id="14" name="Text 12"/>
          <p:cNvSpPr/>
          <p:nvPr/>
        </p:nvSpPr>
        <p:spPr>
          <a:xfrm>
            <a:off x="585216" y="22677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15" name="Text 13"/>
          <p:cNvSpPr/>
          <p:nvPr/>
        </p:nvSpPr>
        <p:spPr>
          <a:xfrm>
            <a:off x="1005840" y="2167128"/>
            <a:ext cx="3493008"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Prompt Optimisation</a:t>
            </a:r>
            <a:endParaRPr lang="en-US" sz="1050" dirty="0"/>
          </a:p>
        </p:txBody>
      </p:sp>
      <p:sp>
        <p:nvSpPr>
          <p:cNvPr id="16" name="Text 14"/>
          <p:cNvSpPr/>
          <p:nvPr/>
        </p:nvSpPr>
        <p:spPr>
          <a:xfrm>
            <a:off x="1005840" y="2386584"/>
            <a:ext cx="3493008"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Refined templates eliminate redundant instructions. Standardised prompts improve response quality with fewer tokens.</a:t>
            </a:r>
            <a:endParaRPr lang="en-US" sz="950" dirty="0"/>
          </a:p>
        </p:txBody>
      </p:sp>
      <p:sp>
        <p:nvSpPr>
          <p:cNvPr id="17" name="Shape 15"/>
          <p:cNvSpPr/>
          <p:nvPr/>
        </p:nvSpPr>
        <p:spPr>
          <a:xfrm>
            <a:off x="457200" y="2807208"/>
            <a:ext cx="416052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18" name="Shape 16"/>
          <p:cNvSpPr/>
          <p:nvPr/>
        </p:nvSpPr>
        <p:spPr>
          <a:xfrm>
            <a:off x="585216" y="2971800"/>
            <a:ext cx="310896" cy="310896"/>
          </a:xfrm>
          <a:prstGeom prst="ellipse">
            <a:avLst/>
          </a:prstGeom>
          <a:solidFill>
            <a:srgbClr val="D4EDE0"/>
          </a:solidFill>
          <a:ln w="12700">
            <a:solidFill>
              <a:srgbClr val="D4EDE0"/>
            </a:solidFill>
            <a:prstDash val="solid"/>
          </a:ln>
        </p:spPr>
      </p:sp>
      <p:sp>
        <p:nvSpPr>
          <p:cNvPr id="19" name="Text 17"/>
          <p:cNvSpPr/>
          <p:nvPr/>
        </p:nvSpPr>
        <p:spPr>
          <a:xfrm>
            <a:off x="585216" y="29535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20" name="Text 18"/>
          <p:cNvSpPr/>
          <p:nvPr/>
        </p:nvSpPr>
        <p:spPr>
          <a:xfrm>
            <a:off x="1005840" y="2852928"/>
            <a:ext cx="3493008"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Selective Context Delivery</a:t>
            </a:r>
            <a:endParaRPr lang="en-US" sz="1050" dirty="0"/>
          </a:p>
        </p:txBody>
      </p:sp>
      <p:sp>
        <p:nvSpPr>
          <p:cNvPr id="21" name="Text 19"/>
          <p:cNvSpPr/>
          <p:nvPr/>
        </p:nvSpPr>
        <p:spPr>
          <a:xfrm>
            <a:off x="1005840" y="3072384"/>
            <a:ext cx="3493008"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Only relevant requirement content is sent to the AI. Unchanged information is never reprocessed.</a:t>
            </a:r>
            <a:endParaRPr lang="en-US" sz="950" dirty="0"/>
          </a:p>
        </p:txBody>
      </p:sp>
      <p:sp>
        <p:nvSpPr>
          <p:cNvPr id="22" name="Shape 20"/>
          <p:cNvSpPr/>
          <p:nvPr/>
        </p:nvSpPr>
        <p:spPr>
          <a:xfrm>
            <a:off x="457200" y="3493008"/>
            <a:ext cx="416052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23" name="Shape 21"/>
          <p:cNvSpPr/>
          <p:nvPr/>
        </p:nvSpPr>
        <p:spPr>
          <a:xfrm>
            <a:off x="585216" y="3657600"/>
            <a:ext cx="310896" cy="310896"/>
          </a:xfrm>
          <a:prstGeom prst="ellipse">
            <a:avLst/>
          </a:prstGeom>
          <a:solidFill>
            <a:srgbClr val="D4EDE0"/>
          </a:solidFill>
          <a:ln w="12700">
            <a:solidFill>
              <a:srgbClr val="D4EDE0"/>
            </a:solidFill>
            <a:prstDash val="solid"/>
          </a:ln>
        </p:spPr>
      </p:sp>
      <p:sp>
        <p:nvSpPr>
          <p:cNvPr id="24" name="Text 22"/>
          <p:cNvSpPr/>
          <p:nvPr/>
        </p:nvSpPr>
        <p:spPr>
          <a:xfrm>
            <a:off x="585216" y="36393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25" name="Text 23"/>
          <p:cNvSpPr/>
          <p:nvPr/>
        </p:nvSpPr>
        <p:spPr>
          <a:xfrm>
            <a:off x="1005840" y="3538728"/>
            <a:ext cx="3493008"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Artifact Reuse &amp; Deduplication</a:t>
            </a:r>
            <a:endParaRPr lang="en-US" sz="1050" dirty="0"/>
          </a:p>
        </p:txBody>
      </p:sp>
      <p:sp>
        <p:nvSpPr>
          <p:cNvPr id="26" name="Text 24"/>
          <p:cNvSpPr/>
          <p:nvPr/>
        </p:nvSpPr>
        <p:spPr>
          <a:xfrm>
            <a:off x="1005840" y="3758184"/>
            <a:ext cx="3493008"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SHA-256 fingerprinting prevents re-generating identical outputs. Previously generated artifacts are reused across sessions.</a:t>
            </a:r>
            <a:endParaRPr lang="en-US" sz="950" dirty="0"/>
          </a:p>
        </p:txBody>
      </p:sp>
      <p:sp>
        <p:nvSpPr>
          <p:cNvPr id="27" name="Shape 25"/>
          <p:cNvSpPr/>
          <p:nvPr/>
        </p:nvSpPr>
        <p:spPr>
          <a:xfrm>
            <a:off x="457200" y="4178808"/>
            <a:ext cx="416052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28" name="Shape 26"/>
          <p:cNvSpPr/>
          <p:nvPr/>
        </p:nvSpPr>
        <p:spPr>
          <a:xfrm>
            <a:off x="585216" y="4343400"/>
            <a:ext cx="310896" cy="310896"/>
          </a:xfrm>
          <a:prstGeom prst="ellipse">
            <a:avLst/>
          </a:prstGeom>
          <a:solidFill>
            <a:srgbClr val="D4EDE0"/>
          </a:solidFill>
          <a:ln w="12700">
            <a:solidFill>
              <a:srgbClr val="D4EDE0"/>
            </a:solidFill>
            <a:prstDash val="solid"/>
          </a:ln>
        </p:spPr>
      </p:sp>
      <p:sp>
        <p:nvSpPr>
          <p:cNvPr id="29" name="Text 27"/>
          <p:cNvSpPr/>
          <p:nvPr/>
        </p:nvSpPr>
        <p:spPr>
          <a:xfrm>
            <a:off x="585216" y="43251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30" name="Text 28"/>
          <p:cNvSpPr/>
          <p:nvPr/>
        </p:nvSpPr>
        <p:spPr>
          <a:xfrm>
            <a:off x="1005840" y="4224528"/>
            <a:ext cx="3493008"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Validation Gate Before Generation</a:t>
            </a:r>
            <a:endParaRPr lang="en-US" sz="1050" dirty="0"/>
          </a:p>
        </p:txBody>
      </p:sp>
      <p:sp>
        <p:nvSpPr>
          <p:cNvPr id="31" name="Text 29"/>
          <p:cNvSpPr/>
          <p:nvPr/>
        </p:nvSpPr>
        <p:spPr>
          <a:xfrm>
            <a:off x="1005840" y="4443984"/>
            <a:ext cx="3493008"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Users must review and confirm requirements before AI runs, eliminating regeneration from incomplete inputs.</a:t>
            </a:r>
            <a:endParaRPr lang="en-US" sz="950" dirty="0"/>
          </a:p>
        </p:txBody>
      </p:sp>
      <p:sp>
        <p:nvSpPr>
          <p:cNvPr id="32" name="Text 30"/>
          <p:cNvSpPr/>
          <p:nvPr/>
        </p:nvSpPr>
        <p:spPr>
          <a:xfrm>
            <a:off x="4846320" y="1773936"/>
            <a:ext cx="3840480" cy="274320"/>
          </a:xfrm>
          <a:prstGeom prst="rect">
            <a:avLst/>
          </a:prstGeom>
          <a:noFill/>
          <a:ln/>
        </p:spPr>
        <p:txBody>
          <a:bodyPr wrap="square" rtlCol="0" anchor="ctr"/>
          <a:lstStyle/>
          <a:p>
            <a:pPr indent="0" marL="0">
              <a:buNone/>
            </a:pPr>
            <a:r>
              <a:rPr lang="en-US" sz="1300" b="1" dirty="0">
                <a:solidFill>
                  <a:srgbClr val="1A5C38"/>
                </a:solidFill>
                <a:latin typeface="Arial" pitchFamily="34" charset="0"/>
                <a:ea typeface="Arial" pitchFamily="34" charset="-122"/>
                <a:cs typeface="Arial" pitchFamily="34" charset="-120"/>
              </a:rPr>
              <a:t>Additional Controls</a:t>
            </a:r>
            <a:endParaRPr lang="en-US" sz="1300" dirty="0"/>
          </a:p>
        </p:txBody>
      </p:sp>
      <p:sp>
        <p:nvSpPr>
          <p:cNvPr id="33" name="Shape 31"/>
          <p:cNvSpPr/>
          <p:nvPr/>
        </p:nvSpPr>
        <p:spPr>
          <a:xfrm>
            <a:off x="4846320" y="2121408"/>
            <a:ext cx="384048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34" name="Shape 32"/>
          <p:cNvSpPr/>
          <p:nvPr/>
        </p:nvSpPr>
        <p:spPr>
          <a:xfrm>
            <a:off x="4974336" y="2286000"/>
            <a:ext cx="310896" cy="310896"/>
          </a:xfrm>
          <a:prstGeom prst="ellipse">
            <a:avLst/>
          </a:prstGeom>
          <a:solidFill>
            <a:srgbClr val="D4EDE0"/>
          </a:solidFill>
          <a:ln w="12700">
            <a:solidFill>
              <a:srgbClr val="D4EDE0"/>
            </a:solidFill>
            <a:prstDash val="solid"/>
          </a:ln>
        </p:spPr>
      </p:sp>
      <p:sp>
        <p:nvSpPr>
          <p:cNvPr id="35" name="Text 33"/>
          <p:cNvSpPr/>
          <p:nvPr/>
        </p:nvSpPr>
        <p:spPr>
          <a:xfrm>
            <a:off x="4974336" y="22677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36" name="Text 34"/>
          <p:cNvSpPr/>
          <p:nvPr/>
        </p:nvSpPr>
        <p:spPr>
          <a:xfrm>
            <a:off x="5394960" y="2167128"/>
            <a:ext cx="3163824"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Structured Document Parsing</a:t>
            </a:r>
            <a:endParaRPr lang="en-US" sz="1050" dirty="0"/>
          </a:p>
        </p:txBody>
      </p:sp>
      <p:sp>
        <p:nvSpPr>
          <p:cNvPr id="37" name="Text 35"/>
          <p:cNvSpPr/>
          <p:nvPr/>
        </p:nvSpPr>
        <p:spPr>
          <a:xfrm>
            <a:off x="5394960" y="2386584"/>
            <a:ext cx="3163824"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Tables, metadata, and document structure preserved during parsing — reducing AI effort to reconstruct context.</a:t>
            </a:r>
            <a:endParaRPr lang="en-US" sz="950" dirty="0"/>
          </a:p>
        </p:txBody>
      </p:sp>
      <p:sp>
        <p:nvSpPr>
          <p:cNvPr id="38" name="Shape 36"/>
          <p:cNvSpPr/>
          <p:nvPr/>
        </p:nvSpPr>
        <p:spPr>
          <a:xfrm>
            <a:off x="4846320" y="2807208"/>
            <a:ext cx="384048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39" name="Shape 37"/>
          <p:cNvSpPr/>
          <p:nvPr/>
        </p:nvSpPr>
        <p:spPr>
          <a:xfrm>
            <a:off x="4974336" y="2971800"/>
            <a:ext cx="310896" cy="310896"/>
          </a:xfrm>
          <a:prstGeom prst="ellipse">
            <a:avLst/>
          </a:prstGeom>
          <a:solidFill>
            <a:srgbClr val="D4EDE0"/>
          </a:solidFill>
          <a:ln w="12700">
            <a:solidFill>
              <a:srgbClr val="D4EDE0"/>
            </a:solidFill>
            <a:prstDash val="solid"/>
          </a:ln>
        </p:spPr>
      </p:sp>
      <p:sp>
        <p:nvSpPr>
          <p:cNvPr id="40" name="Text 38"/>
          <p:cNvSpPr/>
          <p:nvPr/>
        </p:nvSpPr>
        <p:spPr>
          <a:xfrm>
            <a:off x="4974336" y="29535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41" name="Text 39"/>
          <p:cNvSpPr/>
          <p:nvPr/>
        </p:nvSpPr>
        <p:spPr>
          <a:xfrm>
            <a:off x="5394960" y="2852928"/>
            <a:ext cx="3163824"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Targeted Output Generation</a:t>
            </a:r>
            <a:endParaRPr lang="en-US" sz="1050" dirty="0"/>
          </a:p>
        </p:txBody>
      </p:sp>
      <p:sp>
        <p:nvSpPr>
          <p:cNvPr id="42" name="Text 40"/>
          <p:cNvSpPr/>
          <p:nvPr/>
        </p:nvSpPr>
        <p:spPr>
          <a:xfrm>
            <a:off x="5394960" y="3072384"/>
            <a:ext cx="3163824"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Users request only the artifacts they need (scenarios, test cases, Gherkin) — not all outputs by default.</a:t>
            </a:r>
            <a:endParaRPr lang="en-US" sz="950" dirty="0"/>
          </a:p>
        </p:txBody>
      </p:sp>
      <p:sp>
        <p:nvSpPr>
          <p:cNvPr id="43" name="Shape 41"/>
          <p:cNvSpPr/>
          <p:nvPr/>
        </p:nvSpPr>
        <p:spPr>
          <a:xfrm>
            <a:off x="4846320" y="3493008"/>
            <a:ext cx="3840480" cy="621792"/>
          </a:xfrm>
          <a:prstGeom prst="roundRect">
            <a:avLst>
              <a:gd name="adj" fmla="val 13235"/>
            </a:avLst>
          </a:prstGeom>
          <a:solidFill>
            <a:srgbClr val="FFFFFF"/>
          </a:solidFill>
          <a:ln w="12700">
            <a:solidFill>
              <a:srgbClr val="A8D5BC"/>
            </a:solidFill>
            <a:prstDash val="solid"/>
          </a:ln>
          <a:effectLst>
            <a:outerShdw sx="100000" sy="100000" kx="0" ky="0" algn="bl" rotWithShape="0" blurRad="76200" dist="25400" dir="2700000">
              <a:srgbClr val="000000">
                <a:alpha val="7000"/>
              </a:srgbClr>
            </a:outerShdw>
          </a:effectLst>
        </p:spPr>
      </p:sp>
      <p:sp>
        <p:nvSpPr>
          <p:cNvPr id="44" name="Shape 42"/>
          <p:cNvSpPr/>
          <p:nvPr/>
        </p:nvSpPr>
        <p:spPr>
          <a:xfrm>
            <a:off x="4974336" y="3657600"/>
            <a:ext cx="310896" cy="310896"/>
          </a:xfrm>
          <a:prstGeom prst="ellipse">
            <a:avLst/>
          </a:prstGeom>
          <a:solidFill>
            <a:srgbClr val="D4EDE0"/>
          </a:solidFill>
          <a:ln w="12700">
            <a:solidFill>
              <a:srgbClr val="D4EDE0"/>
            </a:solidFill>
            <a:prstDash val="solid"/>
          </a:ln>
        </p:spPr>
      </p:sp>
      <p:sp>
        <p:nvSpPr>
          <p:cNvPr id="45" name="Text 43"/>
          <p:cNvSpPr/>
          <p:nvPr/>
        </p:nvSpPr>
        <p:spPr>
          <a:xfrm>
            <a:off x="4974336" y="3639312"/>
            <a:ext cx="310896" cy="310896"/>
          </a:xfrm>
          <a:prstGeom prst="rect">
            <a:avLst/>
          </a:prstGeom>
          <a:noFill/>
          <a:ln/>
        </p:spPr>
        <p:txBody>
          <a:bodyPr wrap="square" lIns="0" tIns="0" rIns="0" bIns="0" rtlCol="0" anchor="ctr"/>
          <a:lstStyle/>
          <a:p>
            <a:pPr algn="ctr" indent="0" marL="0">
              <a:buNone/>
            </a:pPr>
            <a:r>
              <a:rPr lang="en-US" sz="1200" dirty="0">
                <a:solidFill>
                  <a:srgbClr val="000000"/>
                </a:solidFill>
              </a:rPr>
              <a:t>🔄</a:t>
            </a:r>
            <a:endParaRPr lang="en-US" sz="1200" dirty="0"/>
          </a:p>
        </p:txBody>
      </p:sp>
      <p:sp>
        <p:nvSpPr>
          <p:cNvPr id="46" name="Text 44"/>
          <p:cNvSpPr/>
          <p:nvPr/>
        </p:nvSpPr>
        <p:spPr>
          <a:xfrm>
            <a:off x="5394960" y="3538728"/>
            <a:ext cx="3163824" cy="219456"/>
          </a:xfrm>
          <a:prstGeom prst="rect">
            <a:avLst/>
          </a:prstGeom>
          <a:noFill/>
          <a:ln/>
        </p:spPr>
        <p:txBody>
          <a:bodyPr wrap="square" rtlCol="0" anchor="ctr"/>
          <a:lstStyle/>
          <a:p>
            <a:pPr indent="0" marL="0">
              <a:buNone/>
            </a:pPr>
            <a:r>
              <a:rPr lang="en-US" sz="1050" b="1" dirty="0">
                <a:solidFill>
                  <a:srgbClr val="1A5C38"/>
                </a:solidFill>
                <a:latin typeface="Arial" pitchFamily="34" charset="0"/>
                <a:ea typeface="Arial" pitchFamily="34" charset="-122"/>
                <a:cs typeface="Arial" pitchFamily="34" charset="-120"/>
              </a:rPr>
              <a:t>Session Isolation</a:t>
            </a:r>
            <a:endParaRPr lang="en-US" sz="1050" dirty="0"/>
          </a:p>
        </p:txBody>
      </p:sp>
      <p:sp>
        <p:nvSpPr>
          <p:cNvPr id="47" name="Text 45"/>
          <p:cNvSpPr/>
          <p:nvPr/>
        </p:nvSpPr>
        <p:spPr>
          <a:xfrm>
            <a:off x="5394960" y="3758184"/>
            <a:ext cx="3163824" cy="329184"/>
          </a:xfrm>
          <a:prstGeom prst="rect">
            <a:avLst/>
          </a:prstGeom>
          <a:noFill/>
          <a:ln/>
        </p:spPr>
        <p:txBody>
          <a:bodyPr wrap="square" rtlCol="0" anchor="ctr"/>
          <a:lstStyle/>
          <a:p>
            <a:pPr indent="0" marL="0">
              <a:buNone/>
            </a:pPr>
            <a:r>
              <a:rPr lang="en-US" sz="950" dirty="0">
                <a:solidFill>
                  <a:srgbClr val="4A5568"/>
                </a:solidFill>
                <a:latin typeface="Arial" pitchFamily="34" charset="0"/>
                <a:ea typeface="Arial" pitchFamily="34" charset="-122"/>
                <a:cs typeface="Arial" pitchFamily="34" charset="-120"/>
              </a:rPr>
              <a:t>Each generation cycle runs with a clean, isolated context. No excessive carry-over between sessions.</a:t>
            </a:r>
            <a:endParaRPr lang="en-US" sz="950" dirty="0"/>
          </a:p>
        </p:txBody>
      </p:sp>
      <p:sp>
        <p:nvSpPr>
          <p:cNvPr id="48" name="Shape 46"/>
          <p:cNvSpPr/>
          <p:nvPr/>
        </p:nvSpPr>
        <p:spPr>
          <a:xfrm>
            <a:off x="4846320" y="4197096"/>
            <a:ext cx="3840480" cy="804672"/>
          </a:xfrm>
          <a:prstGeom prst="roundRect">
            <a:avLst>
              <a:gd name="adj" fmla="val 11364"/>
            </a:avLst>
          </a:prstGeom>
          <a:solidFill>
            <a:srgbClr val="1A5C38"/>
          </a:solidFill>
          <a:ln w="12700">
            <a:solidFill>
              <a:srgbClr val="1A5C38"/>
            </a:solidFill>
            <a:prstDash val="solid"/>
          </a:ln>
        </p:spPr>
      </p:sp>
      <p:sp>
        <p:nvSpPr>
          <p:cNvPr id="49" name="Text 47"/>
          <p:cNvSpPr/>
          <p:nvPr/>
        </p:nvSpPr>
        <p:spPr>
          <a:xfrm>
            <a:off x="4846320" y="4224528"/>
            <a:ext cx="3840480" cy="237744"/>
          </a:xfrm>
          <a:prstGeom prst="rect">
            <a:avLst/>
          </a:prstGeom>
          <a:noFill/>
          <a:ln/>
        </p:spPr>
        <p:txBody>
          <a:bodyPr wrap="square" rtlCol="0" anchor="ctr"/>
          <a:lstStyle/>
          <a:p>
            <a:pPr algn="ctr" indent="0" marL="0">
              <a:buNone/>
            </a:pPr>
            <a:r>
              <a:rPr lang="en-US" sz="1100" b="1" dirty="0">
                <a:solidFill>
                  <a:srgbClr val="A8D5BC"/>
                </a:solidFill>
                <a:latin typeface="Arial" pitchFamily="34" charset="0"/>
                <a:ea typeface="Arial" pitchFamily="34" charset="-122"/>
                <a:cs typeface="Arial" pitchFamily="34" charset="-120"/>
              </a:rPr>
              <a:t>Benefits</a:t>
            </a:r>
            <a:endParaRPr lang="en-US" sz="1100" dirty="0"/>
          </a:p>
        </p:txBody>
      </p:sp>
      <p:sp>
        <p:nvSpPr>
          <p:cNvPr id="50" name="Text 48"/>
          <p:cNvSpPr/>
          <p:nvPr/>
        </p:nvSpPr>
        <p:spPr>
          <a:xfrm>
            <a:off x="4919472" y="4480560"/>
            <a:ext cx="3694176" cy="182880"/>
          </a:xfrm>
          <a:prstGeom prst="rect">
            <a:avLst/>
          </a:prstGeom>
          <a:noFill/>
          <a:ln/>
        </p:spPr>
        <p:txBody>
          <a:bodyPr wrap="square" rtlCol="0" anchor="ctr"/>
          <a:lstStyle/>
          <a:p>
            <a:pPr algn="ctr" indent="0" marL="0">
              <a:buNone/>
            </a:pPr>
            <a:r>
              <a:rPr lang="en-US" sz="950" dirty="0">
                <a:solidFill>
                  <a:srgbClr val="A8D5BC"/>
                </a:solidFill>
                <a:latin typeface="Arial" pitchFamily="34" charset="0"/>
                <a:ea typeface="Arial" pitchFamily="34" charset="-122"/>
                <a:cs typeface="Arial" pitchFamily="34" charset="-120"/>
              </a:rPr>
              <a:t>↓ Token consumption    ↑ App performance</a:t>
            </a:r>
            <a:endParaRPr lang="en-US" sz="950" dirty="0"/>
          </a:p>
        </p:txBody>
      </p:sp>
      <p:sp>
        <p:nvSpPr>
          <p:cNvPr id="51" name="Text 49"/>
          <p:cNvSpPr/>
          <p:nvPr/>
        </p:nvSpPr>
        <p:spPr>
          <a:xfrm>
            <a:off x="4919472" y="4654296"/>
            <a:ext cx="3694176" cy="182880"/>
          </a:xfrm>
          <a:prstGeom prst="rect">
            <a:avLst/>
          </a:prstGeom>
          <a:noFill/>
          <a:ln/>
        </p:spPr>
        <p:txBody>
          <a:bodyPr wrap="square" rtlCol="0" anchor="ctr"/>
          <a:lstStyle/>
          <a:p>
            <a:pPr algn="ctr" indent="0" marL="0">
              <a:buNone/>
            </a:pPr>
            <a:r>
              <a:rPr lang="en-US" sz="950" dirty="0">
                <a:solidFill>
                  <a:srgbClr val="A8D5BC"/>
                </a:solidFill>
                <a:latin typeface="Arial" pitchFamily="34" charset="0"/>
                <a:ea typeface="Arial" pitchFamily="34" charset="-122"/>
                <a:cs typeface="Arial" pitchFamily="34" charset="-120"/>
              </a:rPr>
              <a:t>↓ Compute overhead    ↑ Response speed</a:t>
            </a:r>
            <a:endParaRPr lang="en-US" sz="950" dirty="0"/>
          </a:p>
        </p:txBody>
      </p:sp>
      <p:sp>
        <p:nvSpPr>
          <p:cNvPr id="52" name="Text 50"/>
          <p:cNvSpPr/>
          <p:nvPr/>
        </p:nvSpPr>
        <p:spPr>
          <a:xfrm>
            <a:off x="4919472" y="4828032"/>
            <a:ext cx="3694176" cy="182880"/>
          </a:xfrm>
          <a:prstGeom prst="rect">
            <a:avLst/>
          </a:prstGeom>
          <a:noFill/>
          <a:ln/>
        </p:spPr>
        <p:txBody>
          <a:bodyPr wrap="square" rtlCol="0" anchor="ctr"/>
          <a:lstStyle/>
          <a:p>
            <a:pPr algn="ctr" indent="0" marL="0">
              <a:buNone/>
            </a:pPr>
            <a:r>
              <a:rPr lang="en-US" sz="950" dirty="0">
                <a:solidFill>
                  <a:srgbClr val="A8D5BC"/>
                </a:solidFill>
                <a:latin typeface="Arial" pitchFamily="34" charset="0"/>
                <a:ea typeface="Arial" pitchFamily="34" charset="-122"/>
                <a:cs typeface="Arial" pitchFamily="34" charset="-120"/>
              </a:rPr>
              <a:t>↓ Cost per generation    ↑ Responsible AI use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8778240" y="4846320"/>
            <a:ext cx="274320" cy="182880"/>
          </a:xfrm>
          <a:prstGeom prst="rect">
            <a:avLst/>
          </a:prstGeom>
          <a:noFill/>
          <a:ln/>
        </p:spPr>
        <p:txBody>
          <a:bodyPr wrap="square" rtlCol="0" anchor="ctr"/>
          <a:lstStyle/>
          <a:p>
            <a:pPr algn="r" indent="0" marL="0">
              <a:buNone/>
            </a:pPr>
            <a:r>
              <a:rPr lang="en-US" sz="800" dirty="0">
                <a:solidFill>
                  <a:srgbClr val="8898AA"/>
                </a:solidFill>
                <a:latin typeface="Arial" pitchFamily="34" charset="0"/>
                <a:ea typeface="Arial" pitchFamily="34" charset="-122"/>
                <a:cs typeface="Arial" pitchFamily="34" charset="-120"/>
              </a:rPr>
              <a:t>13</a:t>
            </a:r>
            <a:endParaRPr lang="en-US" sz="800" dirty="0"/>
          </a:p>
        </p:txBody>
      </p:sp>
      <p:sp>
        <p:nvSpPr>
          <p:cNvPr id="3" name="Shape 1"/>
          <p:cNvSpPr/>
          <p:nvPr/>
        </p:nvSpPr>
        <p:spPr>
          <a:xfrm>
            <a:off x="5943600" y="-731520"/>
            <a:ext cx="4572000" cy="4572000"/>
          </a:xfrm>
          <a:prstGeom prst="ellipse">
            <a:avLst/>
          </a:prstGeom>
          <a:solidFill>
            <a:srgbClr val="028090">
              <a:alpha val="12000"/>
            </a:srgbClr>
          </a:solidFill>
          <a:ln w="12700">
            <a:solidFill>
              <a:srgbClr val="028090">
                <a:alpha val="12000"/>
              </a:srgbClr>
            </a:solidFill>
            <a:prstDash val="solid"/>
          </a:ln>
        </p:spPr>
      </p:sp>
      <p:sp>
        <p:nvSpPr>
          <p:cNvPr id="4" name="Shape 2"/>
          <p:cNvSpPr/>
          <p:nvPr/>
        </p:nvSpPr>
        <p:spPr>
          <a:xfrm>
            <a:off x="-1371600" y="2286000"/>
            <a:ext cx="3657600" cy="3657600"/>
          </a:xfrm>
          <a:prstGeom prst="ellipse">
            <a:avLst/>
          </a:prstGeom>
          <a:solidFill>
            <a:srgbClr val="1B2A4A">
              <a:alpha val="60000"/>
            </a:srgbClr>
          </a:solidFill>
          <a:ln w="12700">
            <a:solidFill>
              <a:srgbClr val="1B2A4A">
                <a:alpha val="60000"/>
              </a:srgbClr>
            </a:solidFill>
            <a:prstDash val="solid"/>
          </a:ln>
        </p:spPr>
      </p:sp>
      <p:sp>
        <p:nvSpPr>
          <p:cNvPr id="5" name="Shape 3"/>
          <p:cNvSpPr/>
          <p:nvPr/>
        </p:nvSpPr>
        <p:spPr>
          <a:xfrm>
            <a:off x="2971800" y="731520"/>
            <a:ext cx="1371600" cy="256032"/>
          </a:xfrm>
          <a:prstGeom prst="roundRect">
            <a:avLst>
              <a:gd name="adj" fmla="val 21429"/>
            </a:avLst>
          </a:prstGeom>
          <a:solidFill>
            <a:srgbClr val="028090"/>
          </a:solidFill>
          <a:ln w="12700">
            <a:solidFill>
              <a:srgbClr val="028090"/>
            </a:solidFill>
            <a:prstDash val="solid"/>
          </a:ln>
        </p:spPr>
      </p:sp>
      <p:sp>
        <p:nvSpPr>
          <p:cNvPr id="6" name="Text 4"/>
          <p:cNvSpPr/>
          <p:nvPr/>
        </p:nvSpPr>
        <p:spPr>
          <a:xfrm>
            <a:off x="2971800" y="731520"/>
            <a:ext cx="1371600" cy="256032"/>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SUMMARY</a:t>
            </a:r>
            <a:endParaRPr lang="en-US" sz="800" dirty="0"/>
          </a:p>
        </p:txBody>
      </p:sp>
      <p:sp>
        <p:nvSpPr>
          <p:cNvPr id="7" name="Text 5"/>
          <p:cNvSpPr/>
          <p:nvPr/>
        </p:nvSpPr>
        <p:spPr>
          <a:xfrm>
            <a:off x="457200" y="1097280"/>
            <a:ext cx="8229600" cy="7772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TraceLM is ready.</a:t>
            </a:r>
            <a:endParaRPr lang="en-US" sz="4400" dirty="0"/>
          </a:p>
        </p:txBody>
      </p:sp>
      <p:sp>
        <p:nvSpPr>
          <p:cNvPr id="8" name="Text 6"/>
          <p:cNvSpPr/>
          <p:nvPr/>
        </p:nvSpPr>
        <p:spPr>
          <a:xfrm>
            <a:off x="457200" y="1874520"/>
            <a:ext cx="8229600" cy="457200"/>
          </a:xfrm>
          <a:prstGeom prst="rect">
            <a:avLst/>
          </a:prstGeom>
          <a:noFill/>
          <a:ln/>
        </p:spPr>
        <p:txBody>
          <a:bodyPr wrap="square" rtlCol="0" anchor="ctr"/>
          <a:lstStyle/>
          <a:p>
            <a:pPr algn="ctr" indent="0" marL="0">
              <a:buNone/>
            </a:pPr>
            <a:r>
              <a:rPr lang="en-US" sz="1700" i="1" dirty="0">
                <a:solidFill>
                  <a:srgbClr val="02A8BC"/>
                </a:solidFill>
                <a:latin typeface="Arial" pitchFamily="34" charset="0"/>
                <a:ea typeface="Arial" pitchFamily="34" charset="-122"/>
                <a:cs typeface="Arial" pitchFamily="34" charset="-120"/>
              </a:rPr>
              <a:t>Requirements → AI Enhancement → Test Cases → Xray</a:t>
            </a:r>
            <a:endParaRPr lang="en-US" sz="1700" dirty="0"/>
          </a:p>
        </p:txBody>
      </p:sp>
      <p:sp>
        <p:nvSpPr>
          <p:cNvPr id="9" name="Shape 7"/>
          <p:cNvSpPr/>
          <p:nvPr/>
        </p:nvSpPr>
        <p:spPr>
          <a:xfrm>
            <a:off x="2743200" y="2450592"/>
            <a:ext cx="3657600" cy="0"/>
          </a:xfrm>
          <a:prstGeom prst="line">
            <a:avLst/>
          </a:prstGeom>
          <a:noFill/>
          <a:ln w="19050">
            <a:solidFill>
              <a:srgbClr val="028090"/>
            </a:solidFill>
            <a:prstDash val="solid"/>
          </a:ln>
        </p:spPr>
      </p:sp>
      <p:sp>
        <p:nvSpPr>
          <p:cNvPr id="10" name="Text 8"/>
          <p:cNvSpPr/>
          <p:nvPr/>
        </p:nvSpPr>
        <p:spPr>
          <a:xfrm>
            <a:off x="1371600" y="2670048"/>
            <a:ext cx="6400800" cy="347472"/>
          </a:xfrm>
          <a:prstGeom prst="rect">
            <a:avLst/>
          </a:prstGeom>
          <a:noFill/>
          <a:ln/>
        </p:spPr>
        <p:txBody>
          <a:bodyPr wrap="square" rtlCol="0" anchor="ctr"/>
          <a:lstStyle/>
          <a:p>
            <a:pPr algn="ctr" indent="0" marL="0">
              <a:buNone/>
            </a:pPr>
            <a:r>
              <a:rPr lang="en-US" sz="1300" dirty="0">
                <a:solidFill>
                  <a:srgbClr val="CADCFC"/>
                </a:solidFill>
                <a:latin typeface="Arial" pitchFamily="34" charset="0"/>
                <a:ea typeface="Arial" pitchFamily="34" charset="-122"/>
                <a:cs typeface="Arial" pitchFamily="34" charset="-120"/>
              </a:rPr>
              <a:t>✅  v0.0.4 live on GitHub — CI/CD verified</a:t>
            </a:r>
            <a:endParaRPr lang="en-US" sz="1300" dirty="0"/>
          </a:p>
        </p:txBody>
      </p:sp>
      <p:sp>
        <p:nvSpPr>
          <p:cNvPr id="11" name="Text 9"/>
          <p:cNvSpPr/>
          <p:nvPr/>
        </p:nvSpPr>
        <p:spPr>
          <a:xfrm>
            <a:off x="1371600" y="3054096"/>
            <a:ext cx="6400800" cy="347472"/>
          </a:xfrm>
          <a:prstGeom prst="rect">
            <a:avLst/>
          </a:prstGeom>
          <a:noFill/>
          <a:ln/>
        </p:spPr>
        <p:txBody>
          <a:bodyPr wrap="square" rtlCol="0" anchor="ctr"/>
          <a:lstStyle/>
          <a:p>
            <a:pPr algn="ctr" indent="0" marL="0">
              <a:buNone/>
            </a:pPr>
            <a:r>
              <a:rPr lang="en-US" sz="1300" dirty="0">
                <a:solidFill>
                  <a:srgbClr val="CADCFC"/>
                </a:solidFill>
                <a:latin typeface="Arial" pitchFamily="34" charset="0"/>
                <a:ea typeface="Arial" pitchFamily="34" charset="-122"/>
                <a:cs typeface="Arial" pitchFamily="34" charset="-120"/>
              </a:rPr>
              <a:t>🔗  3 LLM providers · Jira Cloud · Xray Cloud</a:t>
            </a:r>
            <a:endParaRPr lang="en-US" sz="1300" dirty="0"/>
          </a:p>
        </p:txBody>
      </p:sp>
      <p:sp>
        <p:nvSpPr>
          <p:cNvPr id="12" name="Text 10"/>
          <p:cNvSpPr/>
          <p:nvPr/>
        </p:nvSpPr>
        <p:spPr>
          <a:xfrm>
            <a:off x="1371600" y="3438144"/>
            <a:ext cx="6400800" cy="347472"/>
          </a:xfrm>
          <a:prstGeom prst="rect">
            <a:avLst/>
          </a:prstGeom>
          <a:noFill/>
          <a:ln/>
        </p:spPr>
        <p:txBody>
          <a:bodyPr wrap="square" rtlCol="0" anchor="ctr"/>
          <a:lstStyle/>
          <a:p>
            <a:pPr algn="ctr" indent="0" marL="0">
              <a:buNone/>
            </a:pPr>
            <a:r>
              <a:rPr lang="en-US" sz="1300" dirty="0">
                <a:solidFill>
                  <a:srgbClr val="CADCFC"/>
                </a:solidFill>
                <a:latin typeface="Arial" pitchFamily="34" charset="0"/>
                <a:ea typeface="Arial" pitchFamily="34" charset="-122"/>
                <a:cs typeface="Arial" pitchFamily="34" charset="-120"/>
              </a:rPr>
              <a:t>🛡️  Enterprise security: OS-native SecretStorage + OAuth 2.0</a:t>
            </a:r>
            <a:endParaRPr lang="en-US" sz="1300" dirty="0"/>
          </a:p>
        </p:txBody>
      </p:sp>
      <p:sp>
        <p:nvSpPr>
          <p:cNvPr id="13" name="Text 11"/>
          <p:cNvSpPr/>
          <p:nvPr/>
        </p:nvSpPr>
        <p:spPr>
          <a:xfrm>
            <a:off x="1371600" y="3822192"/>
            <a:ext cx="6400800" cy="347472"/>
          </a:xfrm>
          <a:prstGeom prst="rect">
            <a:avLst/>
          </a:prstGeom>
          <a:noFill/>
          <a:ln/>
        </p:spPr>
        <p:txBody>
          <a:bodyPr wrap="square" rtlCol="0" anchor="ctr"/>
          <a:lstStyle/>
          <a:p>
            <a:pPr algn="ctr" indent="0" marL="0">
              <a:buNone/>
            </a:pPr>
            <a:r>
              <a:rPr lang="en-US" sz="1300" dirty="0">
                <a:solidFill>
                  <a:srgbClr val="CADCFC"/>
                </a:solidFill>
                <a:latin typeface="Arial" pitchFamily="34" charset="0"/>
                <a:ea typeface="Arial" pitchFamily="34" charset="-122"/>
                <a:cs typeface="Arial" pitchFamily="34" charset="-120"/>
              </a:rPr>
              <a:t>🗺️  Roadmap defined through v1.0</a:t>
            </a:r>
            <a:endParaRPr lang="en-US" sz="1300" dirty="0"/>
          </a:p>
        </p:txBody>
      </p:sp>
      <p:sp>
        <p:nvSpPr>
          <p:cNvPr id="14" name="Text 12"/>
          <p:cNvSpPr/>
          <p:nvPr/>
        </p:nvSpPr>
        <p:spPr>
          <a:xfrm>
            <a:off x="457200" y="4617720"/>
            <a:ext cx="8229600" cy="274320"/>
          </a:xfrm>
          <a:prstGeom prst="rect">
            <a:avLst/>
          </a:prstGeom>
          <a:noFill/>
          <a:ln/>
        </p:spPr>
        <p:txBody>
          <a:bodyPr wrap="square" rtlCol="0" anchor="ctr"/>
          <a:lstStyle/>
          <a:p>
            <a:pPr algn="ctr" indent="0" marL="0">
              <a:buNone/>
            </a:pPr>
            <a:r>
              <a:rPr lang="en-US" sz="1100" i="1" dirty="0">
                <a:solidFill>
                  <a:srgbClr val="02A8BC"/>
                </a:solidFill>
                <a:latin typeface="Arial" pitchFamily="34" charset="0"/>
                <a:ea typeface="Arial" pitchFamily="34" charset="-122"/>
                <a:cs typeface="Arial" pitchFamily="34" charset="-120"/>
              </a:rPr>
              <a:t>github.com/ArielCesarMA/TraceLM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TraceLM — Executive Project Update</dc:title>
  <dc:subject>PptxGenJS Presentation</dc:subject>
  <dc:creator>TraceLM Project Team</dc:creator>
  <cp:lastModifiedBy>TraceLM Project Team</cp:lastModifiedBy>
  <cp:revision>1</cp:revision>
  <dcterms:created xsi:type="dcterms:W3CDTF">2026-06-18T08:42:01Z</dcterms:created>
  <dcterms:modified xsi:type="dcterms:W3CDTF">2026-06-18T08:42:01Z</dcterms:modified>
</cp:coreProperties>
</file>