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7"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10"/>
  </p:normalViewPr>
  <p:slideViewPr>
    <p:cSldViewPr snapToGrid="0" snapToObjects="1">
      <p:cViewPr varScale="1">
        <p:scale>
          <a:sx n="154" d="100"/>
          <a:sy n="154" d="100"/>
        </p:scale>
        <p:origin x="366"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765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TraceLM Executive Project Update. This deck covers current status, business impact, risks, and roadmap. Version 0.0.4 has been released and merged to main.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the time cost of manual test writing. The traceability gap is a compliance risk in regulated industries. Highlight that TraceLM does not require leaving VS Code.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TraceLM sits inside VS Code — the tool every developer already has open. It chains 6 capabilities in one panel. Stress the 'single workflow' story.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Generate All button chains Enhancement → Scenarios → Test Cases → Automation in sequence. Each step feeds its output directly into the next. Progress is shown live: '(1/4)... (2/4)...' etc.</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the ROI story: time saved per sprint multiplied by team size. Even two hours saved per QA engineer per sprint computes quickly. The deduplication story resonates with ops managers who've dealt with Xray cleanup.</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v0.0.4 was delivered via PR #6 which passed all automated CI checks before merge. The sequential generation fix was the most impactful — the prior version had a stale state bug that caused cascading generation failures.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TraceLM is LLM-agnostic by design. Teams can switch providers based on cost, performance, or compliance without any code changes. Jira uses Basic Auth; Xray uses OAuth 2.0 client credentials — a fresh token per session.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security story is important for enterprise and regulated environments. Key message: credentials never leave the developer's local OS keychain. No TraceLM server ever receives or stores API keys.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enforces zero-warning lint and strict TypeScript on every PR. No code reaches main without passing all gates. The release workflow additionally packages and publishes the VSIX automatically on tag push.</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Overall risk profile is low. No production blockers. The medium-rated item (fixed prompts) is a convenience gap, not a functionality gap. All mitigations are documented and planned.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immediate action for any team member with VS Code: pull the latest main branch, press F5, and run the full Generate All workflow. This is the fastest way to see the v0.0.4 changes in action.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TraceLM is built with sustainable AI consumption as a design principle, not an afterthought. Every architectural decision — fingerprint dedup, LLM caching, validation gates, selective context — reduces token spend and compute load. This aligns our AI journey with responsible and cost-efficient operation.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a call to action: any stakeholder who wants a live demo can schedule a session. The extension installs from a single VSIX file — no server, no deployment, no infrastructure required.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6583680" y="-1097280"/>
            <a:ext cx="5029200" cy="5029200"/>
          </a:xfrm>
          <a:prstGeom prst="ellipse">
            <a:avLst/>
          </a:prstGeom>
          <a:solidFill>
            <a:srgbClr val="028090">
              <a:alpha val="18000"/>
            </a:srgbClr>
          </a:solidFill>
          <a:ln w="12700">
            <a:solidFill>
              <a:srgbClr val="028090">
                <a:alpha val="18000"/>
              </a:srgbClr>
            </a:solidFill>
            <a:prstDash val="solid"/>
          </a:ln>
        </p:spPr>
      </p:sp>
      <p:sp>
        <p:nvSpPr>
          <p:cNvPr id="3" name="Shape 1"/>
          <p:cNvSpPr/>
          <p:nvPr/>
        </p:nvSpPr>
        <p:spPr>
          <a:xfrm>
            <a:off x="7772400" y="2560320"/>
            <a:ext cx="2743200" cy="2743200"/>
          </a:xfrm>
          <a:prstGeom prst="ellipse">
            <a:avLst/>
          </a:prstGeom>
          <a:solidFill>
            <a:srgbClr val="02A8BC">
              <a:alpha val="12000"/>
            </a:srgbClr>
          </a:solidFill>
          <a:ln w="12700">
            <a:solidFill>
              <a:srgbClr val="02A8BC">
                <a:alpha val="12000"/>
              </a:srgbClr>
            </a:solidFill>
            <a:prstDash val="solid"/>
          </a:ln>
        </p:spPr>
      </p:sp>
      <p:sp>
        <p:nvSpPr>
          <p:cNvPr id="4" name="Shape 2"/>
          <p:cNvSpPr/>
          <p:nvPr/>
        </p:nvSpPr>
        <p:spPr>
          <a:xfrm>
            <a:off x="548640" y="1325880"/>
            <a:ext cx="1371600" cy="256032"/>
          </a:xfrm>
          <a:prstGeom prst="roundRect">
            <a:avLst>
              <a:gd name="adj" fmla="val 21429"/>
            </a:avLst>
          </a:prstGeom>
          <a:solidFill>
            <a:srgbClr val="028090"/>
          </a:solidFill>
          <a:ln w="12700">
            <a:solidFill>
              <a:srgbClr val="028090"/>
            </a:solidFill>
            <a:prstDash val="solid"/>
          </a:ln>
        </p:spPr>
      </p:sp>
      <p:sp>
        <p:nvSpPr>
          <p:cNvPr id="5" name="Text 3"/>
          <p:cNvSpPr/>
          <p:nvPr/>
        </p:nvSpPr>
        <p:spPr>
          <a:xfrm>
            <a:off x="548640" y="1325880"/>
            <a:ext cx="1371600" cy="256032"/>
          </a:xfrm>
          <a:prstGeom prst="rect">
            <a:avLst/>
          </a:prstGeom>
          <a:noFill/>
          <a:ln/>
        </p:spPr>
        <p:txBody>
          <a:bodyPr wrap="square" lIns="0" tIns="0" rIns="0" bIns="0" rtlCol="0" anchor="ctr"/>
          <a:lstStyle/>
          <a:p>
            <a:pPr marL="0" indent="0" algn="ctr">
              <a:buNone/>
            </a:pPr>
            <a:r>
              <a:rPr lang="en-US" sz="800" b="1" kern="0" spc="150" dirty="0">
                <a:solidFill>
                  <a:srgbClr val="FFFFFF"/>
                </a:solidFill>
                <a:latin typeface="Arial" pitchFamily="34" charset="0"/>
                <a:ea typeface="Arial" pitchFamily="34" charset="-122"/>
                <a:cs typeface="Arial" pitchFamily="34" charset="-120"/>
              </a:rPr>
              <a:t>EXECUTIVE UPDATE</a:t>
            </a:r>
            <a:endParaRPr lang="en-US" sz="800" dirty="0"/>
          </a:p>
        </p:txBody>
      </p:sp>
      <p:sp>
        <p:nvSpPr>
          <p:cNvPr id="6" name="Text 4"/>
          <p:cNvSpPr/>
          <p:nvPr/>
        </p:nvSpPr>
        <p:spPr>
          <a:xfrm>
            <a:off x="548640" y="1691640"/>
            <a:ext cx="7772400" cy="1005840"/>
          </a:xfrm>
          <a:prstGeom prst="rect">
            <a:avLst/>
          </a:prstGeom>
          <a:noFill/>
          <a:ln/>
        </p:spPr>
        <p:txBody>
          <a:bodyPr wrap="square" rtlCol="0" anchor="ctr"/>
          <a:lstStyle/>
          <a:p>
            <a:pPr marL="0" indent="0">
              <a:buNone/>
            </a:pPr>
            <a:r>
              <a:rPr lang="en-US" sz="6400" b="1" dirty="0">
                <a:solidFill>
                  <a:srgbClr val="FFFFFF"/>
                </a:solidFill>
                <a:latin typeface="Cambria" pitchFamily="34" charset="0"/>
                <a:ea typeface="Cambria" pitchFamily="34" charset="-122"/>
                <a:cs typeface="Cambria" pitchFamily="34" charset="-120"/>
              </a:rPr>
              <a:t>TraceLM</a:t>
            </a:r>
            <a:endParaRPr lang="en-US" sz="6400" dirty="0"/>
          </a:p>
        </p:txBody>
      </p:sp>
      <p:sp>
        <p:nvSpPr>
          <p:cNvPr id="7" name="Text 5"/>
          <p:cNvSpPr/>
          <p:nvPr/>
        </p:nvSpPr>
        <p:spPr>
          <a:xfrm>
            <a:off x="548640" y="2651760"/>
            <a:ext cx="7315200" cy="457200"/>
          </a:xfrm>
          <a:prstGeom prst="rect">
            <a:avLst/>
          </a:prstGeom>
          <a:noFill/>
          <a:ln/>
        </p:spPr>
        <p:txBody>
          <a:bodyPr wrap="square" rtlCol="0" anchor="ctr"/>
          <a:lstStyle/>
          <a:p>
            <a:pPr marL="0" indent="0">
              <a:buNone/>
            </a:pPr>
            <a:r>
              <a:rPr lang="en-US" sz="1800" i="1" dirty="0">
                <a:solidFill>
                  <a:srgbClr val="A0BDD8"/>
                </a:solidFill>
                <a:latin typeface="Arial" pitchFamily="34" charset="0"/>
                <a:ea typeface="Arial" pitchFamily="34" charset="-122"/>
                <a:cs typeface="Arial" pitchFamily="34" charset="-120"/>
              </a:rPr>
              <a:t>AI-Powered Test Generation &amp; Jira/Xray Automation</a:t>
            </a:r>
            <a:endParaRPr lang="en-US" sz="1800" dirty="0"/>
          </a:p>
        </p:txBody>
      </p:sp>
      <p:sp>
        <p:nvSpPr>
          <p:cNvPr id="8" name="Shape 6"/>
          <p:cNvSpPr/>
          <p:nvPr/>
        </p:nvSpPr>
        <p:spPr>
          <a:xfrm>
            <a:off x="548640" y="3246120"/>
            <a:ext cx="4114800" cy="0"/>
          </a:xfrm>
          <a:prstGeom prst="line">
            <a:avLst/>
          </a:prstGeom>
          <a:noFill/>
          <a:ln w="25400">
            <a:solidFill>
              <a:srgbClr val="028090"/>
            </a:solidFill>
            <a:prstDash val="solid"/>
          </a:ln>
        </p:spPr>
      </p:sp>
      <p:sp>
        <p:nvSpPr>
          <p:cNvPr id="9" name="Text 7"/>
          <p:cNvSpPr/>
          <p:nvPr/>
        </p:nvSpPr>
        <p:spPr>
          <a:xfrm>
            <a:off x="548640" y="3429000"/>
            <a:ext cx="7772400" cy="320040"/>
          </a:xfrm>
          <a:prstGeom prst="rect">
            <a:avLst/>
          </a:prstGeom>
          <a:noFill/>
          <a:ln/>
        </p:spPr>
        <p:txBody>
          <a:bodyPr wrap="square" rtlCol="0" anchor="ctr"/>
          <a:lstStyle/>
          <a:p>
            <a:pPr marL="0" indent="0">
              <a:buNone/>
            </a:pPr>
            <a:r>
              <a:rPr lang="en-US" sz="1100" b="1" dirty="0">
                <a:solidFill>
                  <a:srgbClr val="8BAEC8"/>
                </a:solidFill>
                <a:latin typeface="Arial" pitchFamily="34" charset="0"/>
                <a:ea typeface="Arial" pitchFamily="34" charset="-122"/>
                <a:cs typeface="Arial" pitchFamily="34" charset="-120"/>
              </a:rPr>
              <a:t>Version 0.0.4</a:t>
            </a:r>
            <a:r>
              <a:rPr lang="en-US" sz="1100" dirty="0">
                <a:solidFill>
                  <a:srgbClr val="8BAEC8"/>
                </a:solidFill>
                <a:latin typeface="Arial" pitchFamily="34" charset="0"/>
                <a:ea typeface="Arial" pitchFamily="34" charset="-122"/>
                <a:cs typeface="Arial" pitchFamily="34" charset="-120"/>
              </a:rPr>
              <a:t>  ·  June 2026  ·  Confidential</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name="Slide 2">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8778240" y="4846320"/>
            <a:ext cx="274320" cy="182880"/>
          </a:xfrm>
          <a:prstGeom prst="rect">
            <a:avLst/>
          </a:prstGeom>
          <a:noFill/>
          <a:ln/>
        </p:spPr>
        <p:txBody>
          <a:bodyPr wrap="square" rtlCol="0" anchor="ctr"/>
          <a:lstStyle/>
          <a:p>
            <a:pPr marL="0" indent="0" algn="r">
              <a:buNone/>
            </a:pPr>
            <a:r>
              <a:rPr lang="en-US" sz="800" dirty="0">
                <a:solidFill>
                  <a:srgbClr val="8898AA"/>
                </a:solidFill>
                <a:latin typeface="Arial" pitchFamily="34" charset="0"/>
                <a:ea typeface="Arial" pitchFamily="34" charset="-122"/>
                <a:cs typeface="Arial" pitchFamily="34" charset="-120"/>
              </a:rPr>
              <a:t>2</a:t>
            </a:r>
            <a:endParaRPr lang="en-US" sz="800" dirty="0"/>
          </a:p>
        </p:txBody>
      </p:sp>
      <p:sp>
        <p:nvSpPr>
          <p:cNvPr id="3" name="Shape 1"/>
          <p:cNvSpPr/>
          <p:nvPr/>
        </p:nvSpPr>
        <p:spPr>
          <a:xfrm>
            <a:off x="457200" y="274320"/>
            <a:ext cx="1371600" cy="256032"/>
          </a:xfrm>
          <a:prstGeom prst="roundRect">
            <a:avLst>
              <a:gd name="adj" fmla="val 21429"/>
            </a:avLst>
          </a:prstGeom>
          <a:solidFill>
            <a:srgbClr val="1B2A4A"/>
          </a:solidFill>
          <a:ln w="12700">
            <a:solidFill>
              <a:srgbClr val="1B2A4A"/>
            </a:solidFill>
            <a:prstDash val="solid"/>
          </a:ln>
        </p:spPr>
      </p:sp>
      <p:sp>
        <p:nvSpPr>
          <p:cNvPr id="4" name="Text 2"/>
          <p:cNvSpPr/>
          <p:nvPr/>
        </p:nvSpPr>
        <p:spPr>
          <a:xfrm>
            <a:off x="457200" y="274320"/>
            <a:ext cx="1371600" cy="256032"/>
          </a:xfrm>
          <a:prstGeom prst="rect">
            <a:avLst/>
          </a:prstGeom>
          <a:noFill/>
          <a:ln/>
        </p:spPr>
        <p:txBody>
          <a:bodyPr wrap="square" lIns="0" tIns="0" rIns="0" bIns="0" rtlCol="0" anchor="ctr"/>
          <a:lstStyle/>
          <a:p>
            <a:pPr marL="0" indent="0" algn="ctr">
              <a:buNone/>
            </a:pPr>
            <a:r>
              <a:rPr lang="en-US" sz="800" b="1" kern="0" spc="150" dirty="0">
                <a:solidFill>
                  <a:srgbClr val="FFFFFF"/>
                </a:solidFill>
                <a:latin typeface="Arial" pitchFamily="34" charset="0"/>
                <a:ea typeface="Arial" pitchFamily="34" charset="-122"/>
                <a:cs typeface="Arial" pitchFamily="34" charset="-120"/>
              </a:rPr>
              <a:t>CONTEXT</a:t>
            </a:r>
            <a:endParaRPr lang="en-US" sz="800" dirty="0"/>
          </a:p>
        </p:txBody>
      </p:sp>
      <p:sp>
        <p:nvSpPr>
          <p:cNvPr id="5" name="Text 3"/>
          <p:cNvSpPr/>
          <p:nvPr/>
        </p:nvSpPr>
        <p:spPr>
          <a:xfrm>
            <a:off x="457200" y="594360"/>
            <a:ext cx="8229600" cy="548640"/>
          </a:xfrm>
          <a:prstGeom prst="rect">
            <a:avLst/>
          </a:prstGeom>
          <a:noFill/>
          <a:ln/>
        </p:spPr>
        <p:txBody>
          <a:bodyPr wrap="square"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The Problem We Are Solving</a:t>
            </a:r>
            <a:endParaRPr lang="en-US" sz="3000" dirty="0"/>
          </a:p>
        </p:txBody>
      </p:sp>
      <p:sp>
        <p:nvSpPr>
          <p:cNvPr id="6" name="Shape 4"/>
          <p:cNvSpPr/>
          <p:nvPr/>
        </p:nvSpPr>
        <p:spPr>
          <a:xfrm>
            <a:off x="457200" y="1325880"/>
            <a:ext cx="3977640" cy="3429000"/>
          </a:xfrm>
          <a:prstGeom prst="roundRect">
            <a:avLst>
              <a:gd name="adj" fmla="val 2667"/>
            </a:avLst>
          </a:prstGeom>
          <a:solidFill>
            <a:srgbClr val="1B2A4A"/>
          </a:solidFill>
          <a:ln w="12700">
            <a:solidFill>
              <a:srgbClr val="D0DAE8"/>
            </a:solidFill>
            <a:prstDash val="solid"/>
          </a:ln>
          <a:effectLst>
            <a:outerShdw blurRad="177800" dist="50800" dir="2700000" algn="bl" rotWithShape="0">
              <a:srgbClr val="000000">
                <a:alpha val="10000"/>
              </a:srgbClr>
            </a:outerShdw>
          </a:effectLst>
        </p:spPr>
      </p:sp>
      <p:sp>
        <p:nvSpPr>
          <p:cNvPr id="7" name="Text 5"/>
          <p:cNvSpPr/>
          <p:nvPr/>
        </p:nvSpPr>
        <p:spPr>
          <a:xfrm>
            <a:off x="640080" y="1508760"/>
            <a:ext cx="3566160" cy="365760"/>
          </a:xfrm>
          <a:prstGeom prst="rect">
            <a:avLst/>
          </a:prstGeom>
          <a:noFill/>
          <a:ln/>
        </p:spPr>
        <p:txBody>
          <a:bodyPr wrap="square" rtlCol="0" anchor="ctr"/>
          <a:lstStyle/>
          <a:p>
            <a:pPr marL="0" indent="0">
              <a:buNone/>
            </a:pPr>
            <a:r>
              <a:rPr lang="en-US" sz="1500" b="1" dirty="0">
                <a:solidFill>
                  <a:srgbClr val="FFFFFF"/>
                </a:solidFill>
                <a:latin typeface="Arial" pitchFamily="34" charset="0"/>
                <a:ea typeface="Arial" pitchFamily="34" charset="-122"/>
                <a:cs typeface="Arial" pitchFamily="34" charset="-120"/>
              </a:rPr>
              <a:t>Today's Manual Reality</a:t>
            </a:r>
            <a:endParaRPr lang="en-US" sz="1500" dirty="0"/>
          </a:p>
        </p:txBody>
      </p:sp>
      <p:sp>
        <p:nvSpPr>
          <p:cNvPr id="8" name="Shape 6"/>
          <p:cNvSpPr/>
          <p:nvPr/>
        </p:nvSpPr>
        <p:spPr>
          <a:xfrm>
            <a:off x="640080" y="2057400"/>
            <a:ext cx="292608" cy="292608"/>
          </a:xfrm>
          <a:prstGeom prst="ellipse">
            <a:avLst/>
          </a:prstGeom>
          <a:solidFill>
            <a:srgbClr val="028090"/>
          </a:solidFill>
          <a:ln w="12700">
            <a:solidFill>
              <a:srgbClr val="028090"/>
            </a:solidFill>
            <a:prstDash val="solid"/>
          </a:ln>
        </p:spPr>
      </p:sp>
      <p:sp>
        <p:nvSpPr>
          <p:cNvPr id="9" name="Text 7"/>
          <p:cNvSpPr/>
          <p:nvPr/>
        </p:nvSpPr>
        <p:spPr>
          <a:xfrm>
            <a:off x="640080" y="2039112"/>
            <a:ext cx="292608" cy="292608"/>
          </a:xfrm>
          <a:prstGeom prst="rect">
            <a:avLst/>
          </a:prstGeom>
          <a:noFill/>
          <a:ln/>
        </p:spPr>
        <p:txBody>
          <a:bodyPr wrap="square" lIns="0" tIns="0" rIns="0" bIns="0" rtlCol="0" anchor="ctr"/>
          <a:lstStyle/>
          <a:p>
            <a:pPr marL="0" indent="0" algn="ctr">
              <a:buNone/>
            </a:pPr>
            <a:r>
              <a:rPr lang="en-US" sz="1100" dirty="0">
                <a:solidFill>
                  <a:srgbClr val="000000"/>
                </a:solidFill>
              </a:rPr>
              <a:t>⏱</a:t>
            </a:r>
            <a:endParaRPr lang="en-US" sz="1100" dirty="0"/>
          </a:p>
        </p:txBody>
      </p:sp>
      <p:sp>
        <p:nvSpPr>
          <p:cNvPr id="10" name="Text 8"/>
          <p:cNvSpPr/>
          <p:nvPr/>
        </p:nvSpPr>
        <p:spPr>
          <a:xfrm>
            <a:off x="1042416" y="2029968"/>
            <a:ext cx="3246120" cy="347472"/>
          </a:xfrm>
          <a:prstGeom prst="rect">
            <a:avLst/>
          </a:prstGeom>
          <a:noFill/>
          <a:ln/>
        </p:spPr>
        <p:txBody>
          <a:bodyPr wrap="square" rtlCol="0" anchor="ctr"/>
          <a:lstStyle/>
          <a:p>
            <a:pPr marL="0" indent="0">
              <a:buNone/>
            </a:pPr>
            <a:r>
              <a:rPr lang="en-US" sz="1100" dirty="0">
                <a:solidFill>
                  <a:srgbClr val="CBD8E8"/>
                </a:solidFill>
                <a:latin typeface="Arial" pitchFamily="34" charset="0"/>
                <a:ea typeface="Arial" pitchFamily="34" charset="-122"/>
                <a:cs typeface="Arial" pitchFamily="34" charset="-120"/>
              </a:rPr>
              <a:t>Hours spent manually writing test scenarios from requirements</a:t>
            </a:r>
            <a:endParaRPr lang="en-US" sz="1100" dirty="0"/>
          </a:p>
        </p:txBody>
      </p:sp>
      <p:sp>
        <p:nvSpPr>
          <p:cNvPr id="11" name="Shape 9"/>
          <p:cNvSpPr/>
          <p:nvPr/>
        </p:nvSpPr>
        <p:spPr>
          <a:xfrm>
            <a:off x="640080" y="2596896"/>
            <a:ext cx="292608" cy="292608"/>
          </a:xfrm>
          <a:prstGeom prst="ellipse">
            <a:avLst/>
          </a:prstGeom>
          <a:solidFill>
            <a:srgbClr val="028090"/>
          </a:solidFill>
          <a:ln w="12700">
            <a:solidFill>
              <a:srgbClr val="028090"/>
            </a:solidFill>
            <a:prstDash val="solid"/>
          </a:ln>
        </p:spPr>
      </p:sp>
      <p:sp>
        <p:nvSpPr>
          <p:cNvPr id="12" name="Text 10"/>
          <p:cNvSpPr/>
          <p:nvPr/>
        </p:nvSpPr>
        <p:spPr>
          <a:xfrm>
            <a:off x="640080" y="2578608"/>
            <a:ext cx="292608" cy="292608"/>
          </a:xfrm>
          <a:prstGeom prst="rect">
            <a:avLst/>
          </a:prstGeom>
          <a:noFill/>
          <a:ln/>
        </p:spPr>
        <p:txBody>
          <a:bodyPr wrap="square" lIns="0" tIns="0" rIns="0" bIns="0" rtlCol="0" anchor="ctr"/>
          <a:lstStyle/>
          <a:p>
            <a:pPr marL="0" indent="0" algn="ctr">
              <a:buNone/>
            </a:pPr>
            <a:r>
              <a:rPr lang="en-US" sz="1100" dirty="0">
                <a:solidFill>
                  <a:srgbClr val="000000"/>
                </a:solidFill>
              </a:rPr>
              <a:t>🔗</a:t>
            </a:r>
            <a:endParaRPr lang="en-US" sz="1100" dirty="0"/>
          </a:p>
        </p:txBody>
      </p:sp>
      <p:sp>
        <p:nvSpPr>
          <p:cNvPr id="13" name="Text 11"/>
          <p:cNvSpPr/>
          <p:nvPr/>
        </p:nvSpPr>
        <p:spPr>
          <a:xfrm>
            <a:off x="1042416" y="2569464"/>
            <a:ext cx="3246120" cy="347472"/>
          </a:xfrm>
          <a:prstGeom prst="rect">
            <a:avLst/>
          </a:prstGeom>
          <a:noFill/>
          <a:ln/>
        </p:spPr>
        <p:txBody>
          <a:bodyPr wrap="square" rtlCol="0" anchor="ctr"/>
          <a:lstStyle/>
          <a:p>
            <a:pPr marL="0" indent="0">
              <a:buNone/>
            </a:pPr>
            <a:r>
              <a:rPr lang="en-US" sz="1100" dirty="0">
                <a:solidFill>
                  <a:srgbClr val="CBD8E8"/>
                </a:solidFill>
                <a:latin typeface="Arial" pitchFamily="34" charset="0"/>
                <a:ea typeface="Arial" pitchFamily="34" charset="-122"/>
                <a:cs typeface="Arial" pitchFamily="34" charset="-120"/>
              </a:rPr>
              <a:t>Traceability between requirements and test cases is lost or inconsistent</a:t>
            </a:r>
            <a:endParaRPr lang="en-US" sz="1100" dirty="0"/>
          </a:p>
        </p:txBody>
      </p:sp>
      <p:sp>
        <p:nvSpPr>
          <p:cNvPr id="14" name="Shape 12"/>
          <p:cNvSpPr/>
          <p:nvPr/>
        </p:nvSpPr>
        <p:spPr>
          <a:xfrm>
            <a:off x="640080" y="3136392"/>
            <a:ext cx="292608" cy="292608"/>
          </a:xfrm>
          <a:prstGeom prst="ellipse">
            <a:avLst/>
          </a:prstGeom>
          <a:solidFill>
            <a:srgbClr val="028090"/>
          </a:solidFill>
          <a:ln w="12700">
            <a:solidFill>
              <a:srgbClr val="028090"/>
            </a:solidFill>
            <a:prstDash val="solid"/>
          </a:ln>
        </p:spPr>
      </p:sp>
      <p:sp>
        <p:nvSpPr>
          <p:cNvPr id="15" name="Text 13"/>
          <p:cNvSpPr/>
          <p:nvPr/>
        </p:nvSpPr>
        <p:spPr>
          <a:xfrm>
            <a:off x="640080" y="3118104"/>
            <a:ext cx="292608" cy="292608"/>
          </a:xfrm>
          <a:prstGeom prst="rect">
            <a:avLst/>
          </a:prstGeom>
          <a:noFill/>
          <a:ln/>
        </p:spPr>
        <p:txBody>
          <a:bodyPr wrap="square" lIns="0" tIns="0" rIns="0" bIns="0" rtlCol="0" anchor="ctr"/>
          <a:lstStyle/>
          <a:p>
            <a:pPr marL="0" indent="0" algn="ctr">
              <a:buNone/>
            </a:pPr>
            <a:r>
              <a:rPr lang="en-US" sz="1100" dirty="0">
                <a:solidFill>
                  <a:srgbClr val="000000"/>
                </a:solidFill>
              </a:rPr>
              <a:t>🔁</a:t>
            </a:r>
            <a:endParaRPr lang="en-US" sz="1100" dirty="0"/>
          </a:p>
        </p:txBody>
      </p:sp>
      <p:sp>
        <p:nvSpPr>
          <p:cNvPr id="16" name="Text 14"/>
          <p:cNvSpPr/>
          <p:nvPr/>
        </p:nvSpPr>
        <p:spPr>
          <a:xfrm>
            <a:off x="1042416" y="3108960"/>
            <a:ext cx="3246120" cy="347472"/>
          </a:xfrm>
          <a:prstGeom prst="rect">
            <a:avLst/>
          </a:prstGeom>
          <a:noFill/>
          <a:ln/>
        </p:spPr>
        <p:txBody>
          <a:bodyPr wrap="square" rtlCol="0" anchor="ctr"/>
          <a:lstStyle/>
          <a:p>
            <a:pPr marL="0" indent="0">
              <a:buNone/>
            </a:pPr>
            <a:r>
              <a:rPr lang="en-US" sz="1100" dirty="0">
                <a:solidFill>
                  <a:srgbClr val="CBD8E8"/>
                </a:solidFill>
                <a:latin typeface="Arial" pitchFamily="34" charset="0"/>
                <a:ea typeface="Arial" pitchFamily="34" charset="-122"/>
                <a:cs typeface="Arial" pitchFamily="34" charset="-120"/>
              </a:rPr>
              <a:t>Same test cases re-pushed to Xray causing duplicates</a:t>
            </a:r>
            <a:endParaRPr lang="en-US" sz="1100" dirty="0"/>
          </a:p>
        </p:txBody>
      </p:sp>
      <p:sp>
        <p:nvSpPr>
          <p:cNvPr id="17" name="Shape 15"/>
          <p:cNvSpPr/>
          <p:nvPr/>
        </p:nvSpPr>
        <p:spPr>
          <a:xfrm>
            <a:off x="640080" y="3675888"/>
            <a:ext cx="292608" cy="292608"/>
          </a:xfrm>
          <a:prstGeom prst="ellipse">
            <a:avLst/>
          </a:prstGeom>
          <a:solidFill>
            <a:srgbClr val="028090"/>
          </a:solidFill>
          <a:ln w="12700">
            <a:solidFill>
              <a:srgbClr val="028090"/>
            </a:solidFill>
            <a:prstDash val="solid"/>
          </a:ln>
        </p:spPr>
      </p:sp>
      <p:sp>
        <p:nvSpPr>
          <p:cNvPr id="18" name="Text 16"/>
          <p:cNvSpPr/>
          <p:nvPr/>
        </p:nvSpPr>
        <p:spPr>
          <a:xfrm>
            <a:off x="640080" y="3657600"/>
            <a:ext cx="292608" cy="292608"/>
          </a:xfrm>
          <a:prstGeom prst="rect">
            <a:avLst/>
          </a:prstGeom>
          <a:noFill/>
          <a:ln/>
        </p:spPr>
        <p:txBody>
          <a:bodyPr wrap="square" lIns="0" tIns="0" rIns="0" bIns="0" rtlCol="0" anchor="ctr"/>
          <a:lstStyle/>
          <a:p>
            <a:pPr marL="0" indent="0" algn="ctr">
              <a:buNone/>
            </a:pPr>
            <a:r>
              <a:rPr lang="en-US" sz="1100" dirty="0">
                <a:solidFill>
                  <a:srgbClr val="000000"/>
                </a:solidFill>
              </a:rPr>
              <a:t>📂</a:t>
            </a:r>
            <a:endParaRPr lang="en-US" sz="1100" dirty="0"/>
          </a:p>
        </p:txBody>
      </p:sp>
      <p:sp>
        <p:nvSpPr>
          <p:cNvPr id="19" name="Text 17"/>
          <p:cNvSpPr/>
          <p:nvPr/>
        </p:nvSpPr>
        <p:spPr>
          <a:xfrm>
            <a:off x="1042416" y="3648456"/>
            <a:ext cx="3246120" cy="347472"/>
          </a:xfrm>
          <a:prstGeom prst="rect">
            <a:avLst/>
          </a:prstGeom>
          <a:noFill/>
          <a:ln/>
        </p:spPr>
        <p:txBody>
          <a:bodyPr wrap="square" rtlCol="0" anchor="ctr"/>
          <a:lstStyle/>
          <a:p>
            <a:pPr marL="0" indent="0">
              <a:buNone/>
            </a:pPr>
            <a:r>
              <a:rPr lang="en-US" sz="1100" dirty="0">
                <a:solidFill>
                  <a:srgbClr val="CBD8E8"/>
                </a:solidFill>
                <a:latin typeface="Arial" pitchFamily="34" charset="0"/>
                <a:ea typeface="Arial" pitchFamily="34" charset="-122"/>
                <a:cs typeface="Arial" pitchFamily="34" charset="-120"/>
              </a:rPr>
              <a:t>Context switching between docs, Jira, and Xray slows teams down</a:t>
            </a:r>
            <a:endParaRPr lang="en-US" sz="1100" dirty="0"/>
          </a:p>
        </p:txBody>
      </p:sp>
      <p:sp>
        <p:nvSpPr>
          <p:cNvPr id="20" name="Shape 18"/>
          <p:cNvSpPr/>
          <p:nvPr/>
        </p:nvSpPr>
        <p:spPr>
          <a:xfrm>
            <a:off x="640080" y="4215384"/>
            <a:ext cx="292608" cy="292608"/>
          </a:xfrm>
          <a:prstGeom prst="ellipse">
            <a:avLst/>
          </a:prstGeom>
          <a:solidFill>
            <a:srgbClr val="028090"/>
          </a:solidFill>
          <a:ln w="12700">
            <a:solidFill>
              <a:srgbClr val="028090"/>
            </a:solidFill>
            <a:prstDash val="solid"/>
          </a:ln>
        </p:spPr>
      </p:sp>
      <p:sp>
        <p:nvSpPr>
          <p:cNvPr id="21" name="Text 19"/>
          <p:cNvSpPr/>
          <p:nvPr/>
        </p:nvSpPr>
        <p:spPr>
          <a:xfrm>
            <a:off x="640080" y="4197096"/>
            <a:ext cx="292608" cy="292608"/>
          </a:xfrm>
          <a:prstGeom prst="rect">
            <a:avLst/>
          </a:prstGeom>
          <a:noFill/>
          <a:ln/>
        </p:spPr>
        <p:txBody>
          <a:bodyPr wrap="square" lIns="0" tIns="0" rIns="0" bIns="0" rtlCol="0" anchor="ctr"/>
          <a:lstStyle/>
          <a:p>
            <a:pPr marL="0" indent="0" algn="ctr">
              <a:buNone/>
            </a:pPr>
            <a:r>
              <a:rPr lang="en-US" sz="1100" dirty="0">
                <a:solidFill>
                  <a:srgbClr val="000000"/>
                </a:solidFill>
              </a:rPr>
              <a:t>📉</a:t>
            </a:r>
            <a:endParaRPr lang="en-US" sz="1100" dirty="0"/>
          </a:p>
        </p:txBody>
      </p:sp>
      <p:sp>
        <p:nvSpPr>
          <p:cNvPr id="22" name="Text 20"/>
          <p:cNvSpPr/>
          <p:nvPr/>
        </p:nvSpPr>
        <p:spPr>
          <a:xfrm>
            <a:off x="1042416" y="4187952"/>
            <a:ext cx="3246120" cy="347472"/>
          </a:xfrm>
          <a:prstGeom prst="rect">
            <a:avLst/>
          </a:prstGeom>
          <a:noFill/>
          <a:ln/>
        </p:spPr>
        <p:txBody>
          <a:bodyPr wrap="square" rtlCol="0" anchor="ctr"/>
          <a:lstStyle/>
          <a:p>
            <a:pPr marL="0" indent="0">
              <a:buNone/>
            </a:pPr>
            <a:r>
              <a:rPr lang="en-US" sz="1100" dirty="0">
                <a:solidFill>
                  <a:srgbClr val="CBD8E8"/>
                </a:solidFill>
                <a:latin typeface="Arial" pitchFamily="34" charset="0"/>
                <a:ea typeface="Arial" pitchFamily="34" charset="-122"/>
                <a:cs typeface="Arial" pitchFamily="34" charset="-120"/>
              </a:rPr>
              <a:t>Automation candidates chosen subjectively — no feasibility or ROI framework</a:t>
            </a:r>
            <a:endParaRPr lang="en-US" sz="1100" dirty="0"/>
          </a:p>
        </p:txBody>
      </p:sp>
      <p:sp>
        <p:nvSpPr>
          <p:cNvPr id="23" name="Shape 21"/>
          <p:cNvSpPr/>
          <p:nvPr/>
        </p:nvSpPr>
        <p:spPr>
          <a:xfrm>
            <a:off x="4663440" y="1325880"/>
            <a:ext cx="3977640" cy="3429000"/>
          </a:xfrm>
          <a:prstGeom prst="roundRect">
            <a:avLst>
              <a:gd name="adj" fmla="val 2667"/>
            </a:avLst>
          </a:prstGeom>
          <a:solidFill>
            <a:srgbClr val="FFFFFF"/>
          </a:solidFill>
          <a:ln w="12700">
            <a:solidFill>
              <a:srgbClr val="D0DAE8"/>
            </a:solidFill>
            <a:prstDash val="solid"/>
          </a:ln>
          <a:effectLst>
            <a:outerShdw blurRad="177800" dist="50800" dir="2700000" algn="bl" rotWithShape="0">
              <a:srgbClr val="000000">
                <a:alpha val="10000"/>
              </a:srgbClr>
            </a:outerShdw>
          </a:effectLst>
        </p:spPr>
      </p:sp>
      <p:sp>
        <p:nvSpPr>
          <p:cNvPr id="24" name="Text 22"/>
          <p:cNvSpPr/>
          <p:nvPr/>
        </p:nvSpPr>
        <p:spPr>
          <a:xfrm>
            <a:off x="4846320" y="1508760"/>
            <a:ext cx="3566160" cy="365760"/>
          </a:xfrm>
          <a:prstGeom prst="rect">
            <a:avLst/>
          </a:prstGeom>
          <a:noFill/>
          <a:ln/>
        </p:spPr>
        <p:txBody>
          <a:bodyPr wrap="square" rtlCol="0" anchor="ctr"/>
          <a:lstStyle/>
          <a:p>
            <a:pPr marL="0" indent="0">
              <a:buNone/>
            </a:pPr>
            <a:r>
              <a:rPr lang="en-US" sz="1500" b="1" dirty="0">
                <a:solidFill>
                  <a:srgbClr val="1B2A4A"/>
                </a:solidFill>
                <a:latin typeface="Arial" pitchFamily="34" charset="0"/>
                <a:ea typeface="Arial" pitchFamily="34" charset="-122"/>
                <a:cs typeface="Arial" pitchFamily="34" charset="-120"/>
              </a:rPr>
              <a:t>TraceLM Changes This</a:t>
            </a:r>
            <a:endParaRPr lang="en-US" sz="1500" dirty="0"/>
          </a:p>
        </p:txBody>
      </p:sp>
      <p:sp>
        <p:nvSpPr>
          <p:cNvPr id="25" name="Shape 23"/>
          <p:cNvSpPr/>
          <p:nvPr/>
        </p:nvSpPr>
        <p:spPr>
          <a:xfrm>
            <a:off x="4846320" y="2057400"/>
            <a:ext cx="292608" cy="292608"/>
          </a:xfrm>
          <a:prstGeom prst="ellipse">
            <a:avLst/>
          </a:prstGeom>
          <a:solidFill>
            <a:srgbClr val="27AE60"/>
          </a:solidFill>
          <a:ln w="12700">
            <a:solidFill>
              <a:srgbClr val="27AE60"/>
            </a:solidFill>
            <a:prstDash val="solid"/>
          </a:ln>
        </p:spPr>
      </p:sp>
      <p:sp>
        <p:nvSpPr>
          <p:cNvPr id="26" name="Text 24"/>
          <p:cNvSpPr/>
          <p:nvPr/>
        </p:nvSpPr>
        <p:spPr>
          <a:xfrm>
            <a:off x="4846320" y="2039112"/>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27" name="Text 25"/>
          <p:cNvSpPr/>
          <p:nvPr/>
        </p:nvSpPr>
        <p:spPr>
          <a:xfrm>
            <a:off x="5248656" y="2029968"/>
            <a:ext cx="3246120" cy="347472"/>
          </a:xfrm>
          <a:prstGeom prst="rect">
            <a:avLst/>
          </a:prstGeom>
          <a:noFill/>
          <a:ln/>
        </p:spPr>
        <p:txBody>
          <a:bodyPr wrap="square" rtlCol="0" anchor="ctr"/>
          <a:lstStyle/>
          <a:p>
            <a:pPr marL="0" indent="0">
              <a:buNone/>
            </a:pPr>
            <a:r>
              <a:rPr lang="en-US" sz="1100" dirty="0">
                <a:solidFill>
                  <a:srgbClr val="4A5568"/>
                </a:solidFill>
                <a:latin typeface="Arial" pitchFamily="34" charset="0"/>
                <a:ea typeface="Arial" pitchFamily="34" charset="-122"/>
                <a:cs typeface="Arial" pitchFamily="34" charset="-120"/>
              </a:rPr>
              <a:t>Requirement-to-Xray in one session</a:t>
            </a:r>
            <a:endParaRPr lang="en-US" sz="1100" dirty="0"/>
          </a:p>
        </p:txBody>
      </p:sp>
      <p:sp>
        <p:nvSpPr>
          <p:cNvPr id="28" name="Shape 26"/>
          <p:cNvSpPr/>
          <p:nvPr/>
        </p:nvSpPr>
        <p:spPr>
          <a:xfrm>
            <a:off x="4846320" y="2596896"/>
            <a:ext cx="292608" cy="292608"/>
          </a:xfrm>
          <a:prstGeom prst="ellipse">
            <a:avLst/>
          </a:prstGeom>
          <a:solidFill>
            <a:srgbClr val="27AE60"/>
          </a:solidFill>
          <a:ln w="12700">
            <a:solidFill>
              <a:srgbClr val="27AE60"/>
            </a:solidFill>
            <a:prstDash val="solid"/>
          </a:ln>
        </p:spPr>
      </p:sp>
      <p:sp>
        <p:nvSpPr>
          <p:cNvPr id="29" name="Text 27"/>
          <p:cNvSpPr/>
          <p:nvPr/>
        </p:nvSpPr>
        <p:spPr>
          <a:xfrm>
            <a:off x="4846320" y="2578608"/>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30" name="Text 28"/>
          <p:cNvSpPr/>
          <p:nvPr/>
        </p:nvSpPr>
        <p:spPr>
          <a:xfrm>
            <a:off x="5248656" y="2569464"/>
            <a:ext cx="3246120" cy="347472"/>
          </a:xfrm>
          <a:prstGeom prst="rect">
            <a:avLst/>
          </a:prstGeom>
          <a:noFill/>
          <a:ln/>
        </p:spPr>
        <p:txBody>
          <a:bodyPr wrap="square" rtlCol="0" anchor="ctr"/>
          <a:lstStyle/>
          <a:p>
            <a:pPr marL="0" indent="0">
              <a:buNone/>
            </a:pPr>
            <a:r>
              <a:rPr lang="en-US" sz="1100" dirty="0">
                <a:solidFill>
                  <a:srgbClr val="4A5568"/>
                </a:solidFill>
                <a:latin typeface="Arial" pitchFamily="34" charset="0"/>
                <a:ea typeface="Arial" pitchFamily="34" charset="-122"/>
                <a:cs typeface="Arial" pitchFamily="34" charset="-120"/>
              </a:rPr>
              <a:t>Full traceability: requirement → scenario → test case</a:t>
            </a:r>
            <a:endParaRPr lang="en-US" sz="1100" dirty="0"/>
          </a:p>
        </p:txBody>
      </p:sp>
      <p:sp>
        <p:nvSpPr>
          <p:cNvPr id="31" name="Shape 29"/>
          <p:cNvSpPr/>
          <p:nvPr/>
        </p:nvSpPr>
        <p:spPr>
          <a:xfrm>
            <a:off x="4846320" y="3136392"/>
            <a:ext cx="292608" cy="292608"/>
          </a:xfrm>
          <a:prstGeom prst="ellipse">
            <a:avLst/>
          </a:prstGeom>
          <a:solidFill>
            <a:srgbClr val="27AE60"/>
          </a:solidFill>
          <a:ln w="12700">
            <a:solidFill>
              <a:srgbClr val="27AE60"/>
            </a:solidFill>
            <a:prstDash val="solid"/>
          </a:ln>
        </p:spPr>
      </p:sp>
      <p:sp>
        <p:nvSpPr>
          <p:cNvPr id="32" name="Text 30"/>
          <p:cNvSpPr/>
          <p:nvPr/>
        </p:nvSpPr>
        <p:spPr>
          <a:xfrm>
            <a:off x="4846320" y="3118104"/>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33" name="Text 31"/>
          <p:cNvSpPr/>
          <p:nvPr/>
        </p:nvSpPr>
        <p:spPr>
          <a:xfrm>
            <a:off x="5248656" y="3108960"/>
            <a:ext cx="3246120" cy="347472"/>
          </a:xfrm>
          <a:prstGeom prst="rect">
            <a:avLst/>
          </a:prstGeom>
          <a:noFill/>
          <a:ln/>
        </p:spPr>
        <p:txBody>
          <a:bodyPr wrap="square" rtlCol="0" anchor="ctr"/>
          <a:lstStyle/>
          <a:p>
            <a:pPr marL="0" indent="0">
              <a:buNone/>
            </a:pPr>
            <a:r>
              <a:rPr lang="en-US" sz="1100" dirty="0">
                <a:solidFill>
                  <a:srgbClr val="4A5568"/>
                </a:solidFill>
                <a:latin typeface="Arial" pitchFamily="34" charset="0"/>
                <a:ea typeface="Arial" pitchFamily="34" charset="-122"/>
                <a:cs typeface="Arial" pitchFamily="34" charset="-120"/>
              </a:rPr>
              <a:t>SHA-256 fingerprinting eliminates duplicate pushes</a:t>
            </a:r>
            <a:endParaRPr lang="en-US" sz="1100" dirty="0"/>
          </a:p>
        </p:txBody>
      </p:sp>
      <p:sp>
        <p:nvSpPr>
          <p:cNvPr id="34" name="Shape 32"/>
          <p:cNvSpPr/>
          <p:nvPr/>
        </p:nvSpPr>
        <p:spPr>
          <a:xfrm>
            <a:off x="4846320" y="3675888"/>
            <a:ext cx="292608" cy="292608"/>
          </a:xfrm>
          <a:prstGeom prst="ellipse">
            <a:avLst/>
          </a:prstGeom>
          <a:solidFill>
            <a:srgbClr val="27AE60"/>
          </a:solidFill>
          <a:ln w="12700">
            <a:solidFill>
              <a:srgbClr val="27AE60"/>
            </a:solidFill>
            <a:prstDash val="solid"/>
          </a:ln>
        </p:spPr>
      </p:sp>
      <p:sp>
        <p:nvSpPr>
          <p:cNvPr id="35" name="Text 33"/>
          <p:cNvSpPr/>
          <p:nvPr/>
        </p:nvSpPr>
        <p:spPr>
          <a:xfrm>
            <a:off x="4846320" y="3657600"/>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36" name="Text 34"/>
          <p:cNvSpPr/>
          <p:nvPr/>
        </p:nvSpPr>
        <p:spPr>
          <a:xfrm>
            <a:off x="5248656" y="3648456"/>
            <a:ext cx="3246120" cy="347472"/>
          </a:xfrm>
          <a:prstGeom prst="rect">
            <a:avLst/>
          </a:prstGeom>
          <a:noFill/>
          <a:ln/>
        </p:spPr>
        <p:txBody>
          <a:bodyPr wrap="square" rtlCol="0" anchor="ctr"/>
          <a:lstStyle/>
          <a:p>
            <a:pPr marL="0" indent="0">
              <a:buNone/>
            </a:pPr>
            <a:r>
              <a:rPr lang="en-US" sz="1100" dirty="0">
                <a:solidFill>
                  <a:srgbClr val="4A5568"/>
                </a:solidFill>
                <a:latin typeface="Arial" pitchFamily="34" charset="0"/>
                <a:ea typeface="Arial" pitchFamily="34" charset="-122"/>
                <a:cs typeface="Arial" pitchFamily="34" charset="-120"/>
              </a:rPr>
              <a:t>Single VS Code panel replaces all context switching</a:t>
            </a:r>
            <a:endParaRPr lang="en-US" sz="1100" dirty="0"/>
          </a:p>
        </p:txBody>
      </p:sp>
      <p:sp>
        <p:nvSpPr>
          <p:cNvPr id="37" name="Shape 35"/>
          <p:cNvSpPr/>
          <p:nvPr/>
        </p:nvSpPr>
        <p:spPr>
          <a:xfrm>
            <a:off x="4846320" y="4215384"/>
            <a:ext cx="292608" cy="292608"/>
          </a:xfrm>
          <a:prstGeom prst="ellipse">
            <a:avLst/>
          </a:prstGeom>
          <a:solidFill>
            <a:srgbClr val="27AE60"/>
          </a:solidFill>
          <a:ln w="12700">
            <a:solidFill>
              <a:srgbClr val="27AE60"/>
            </a:solidFill>
            <a:prstDash val="solid"/>
          </a:ln>
        </p:spPr>
      </p:sp>
      <p:sp>
        <p:nvSpPr>
          <p:cNvPr id="38" name="Text 36"/>
          <p:cNvSpPr/>
          <p:nvPr/>
        </p:nvSpPr>
        <p:spPr>
          <a:xfrm>
            <a:off x="4846320" y="4197096"/>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39" name="Text 37"/>
          <p:cNvSpPr/>
          <p:nvPr/>
        </p:nvSpPr>
        <p:spPr>
          <a:xfrm>
            <a:off x="5248656" y="4187952"/>
            <a:ext cx="3246120" cy="347472"/>
          </a:xfrm>
          <a:prstGeom prst="rect">
            <a:avLst/>
          </a:prstGeom>
          <a:noFill/>
          <a:ln/>
        </p:spPr>
        <p:txBody>
          <a:bodyPr wrap="square" rtlCol="0" anchor="ctr"/>
          <a:lstStyle/>
          <a:p>
            <a:pPr marL="0" indent="0">
              <a:buNone/>
            </a:pPr>
            <a:r>
              <a:rPr lang="en-US" sz="1100" dirty="0">
                <a:solidFill>
                  <a:srgbClr val="4A5568"/>
                </a:solidFill>
                <a:latin typeface="Arial" pitchFamily="34" charset="0"/>
                <a:ea typeface="Arial" pitchFamily="34" charset="-122"/>
                <a:cs typeface="Arial" pitchFamily="34" charset="-120"/>
              </a:rPr>
              <a:t>Structured A–F automation scoring: feasibility + ROI</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8778240" y="4846320"/>
            <a:ext cx="274320" cy="182880"/>
          </a:xfrm>
          <a:prstGeom prst="rect">
            <a:avLst/>
          </a:prstGeom>
          <a:noFill/>
          <a:ln/>
        </p:spPr>
        <p:txBody>
          <a:bodyPr wrap="square" rtlCol="0" anchor="ctr"/>
          <a:lstStyle/>
          <a:p>
            <a:pPr marL="0" indent="0" algn="r">
              <a:buNone/>
            </a:pPr>
            <a:r>
              <a:rPr lang="en-US" sz="800" dirty="0">
                <a:solidFill>
                  <a:srgbClr val="8898AA"/>
                </a:solidFill>
                <a:latin typeface="Arial" pitchFamily="34" charset="0"/>
                <a:ea typeface="Arial" pitchFamily="34" charset="-122"/>
                <a:cs typeface="Arial" pitchFamily="34" charset="-120"/>
              </a:rPr>
              <a:t>3</a:t>
            </a:r>
            <a:endParaRPr lang="en-US" sz="800" dirty="0"/>
          </a:p>
        </p:txBody>
      </p:sp>
      <p:sp>
        <p:nvSpPr>
          <p:cNvPr id="3" name="Shape 1"/>
          <p:cNvSpPr/>
          <p:nvPr/>
        </p:nvSpPr>
        <p:spPr>
          <a:xfrm>
            <a:off x="457200" y="274320"/>
            <a:ext cx="1371600" cy="256032"/>
          </a:xfrm>
          <a:prstGeom prst="roundRect">
            <a:avLst>
              <a:gd name="adj" fmla="val 21429"/>
            </a:avLst>
          </a:prstGeom>
          <a:solidFill>
            <a:srgbClr val="028090"/>
          </a:solidFill>
          <a:ln w="12700">
            <a:solidFill>
              <a:srgbClr val="028090"/>
            </a:solidFill>
            <a:prstDash val="solid"/>
          </a:ln>
        </p:spPr>
      </p:sp>
      <p:sp>
        <p:nvSpPr>
          <p:cNvPr id="4" name="Text 2"/>
          <p:cNvSpPr/>
          <p:nvPr/>
        </p:nvSpPr>
        <p:spPr>
          <a:xfrm>
            <a:off x="457200" y="274320"/>
            <a:ext cx="1371600" cy="256032"/>
          </a:xfrm>
          <a:prstGeom prst="rect">
            <a:avLst/>
          </a:prstGeom>
          <a:noFill/>
          <a:ln/>
        </p:spPr>
        <p:txBody>
          <a:bodyPr wrap="square" lIns="0" tIns="0" rIns="0" bIns="0" rtlCol="0" anchor="ctr"/>
          <a:lstStyle/>
          <a:p>
            <a:pPr marL="0" indent="0" algn="ctr">
              <a:buNone/>
            </a:pPr>
            <a:r>
              <a:rPr lang="en-US" sz="800" b="1" kern="0" spc="150" dirty="0">
                <a:solidFill>
                  <a:srgbClr val="FFFFFF"/>
                </a:solidFill>
                <a:latin typeface="Arial" pitchFamily="34" charset="0"/>
                <a:ea typeface="Arial" pitchFamily="34" charset="-122"/>
                <a:cs typeface="Arial" pitchFamily="34" charset="-120"/>
              </a:rPr>
              <a:t>SOLUTION OVERVIEW</a:t>
            </a:r>
            <a:endParaRPr lang="en-US" sz="800" dirty="0"/>
          </a:p>
        </p:txBody>
      </p:sp>
      <p:sp>
        <p:nvSpPr>
          <p:cNvPr id="5" name="Text 3"/>
          <p:cNvSpPr/>
          <p:nvPr/>
        </p:nvSpPr>
        <p:spPr>
          <a:xfrm>
            <a:off x="457200" y="594360"/>
            <a:ext cx="8229600" cy="548640"/>
          </a:xfrm>
          <a:prstGeom prst="rect">
            <a:avLst/>
          </a:prstGeom>
          <a:noFill/>
          <a:ln/>
        </p:spPr>
        <p:txBody>
          <a:bodyPr wrap="square"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What is TraceLM?</a:t>
            </a:r>
            <a:endParaRPr lang="en-US" sz="3000" dirty="0"/>
          </a:p>
        </p:txBody>
      </p:sp>
      <p:sp>
        <p:nvSpPr>
          <p:cNvPr id="6" name="Text 4"/>
          <p:cNvSpPr/>
          <p:nvPr/>
        </p:nvSpPr>
        <p:spPr>
          <a:xfrm>
            <a:off x="457200" y="1170432"/>
            <a:ext cx="8229600" cy="457200"/>
          </a:xfrm>
          <a:prstGeom prst="rect">
            <a:avLst/>
          </a:prstGeom>
          <a:noFill/>
          <a:ln/>
        </p:spPr>
        <p:txBody>
          <a:bodyPr wrap="square" rtlCol="0" anchor="ctr"/>
          <a:lstStyle/>
          <a:p>
            <a:pPr marL="0" indent="0">
              <a:buNone/>
            </a:pPr>
            <a:r>
              <a:rPr lang="en-US" sz="1300" i="1" dirty="0">
                <a:solidFill>
                  <a:srgbClr val="4A5568"/>
                </a:solidFill>
                <a:latin typeface="Arial" pitchFamily="34" charset="0"/>
                <a:ea typeface="Arial" pitchFamily="34" charset="-122"/>
                <a:cs typeface="Arial" pitchFamily="34" charset="-120"/>
              </a:rPr>
              <a:t>A VS Code extension that transforms raw requirements into structured, traceable, Xray-ready test assets using AI — without leaving the development environment.</a:t>
            </a:r>
            <a:endParaRPr lang="en-US" sz="1300" dirty="0"/>
          </a:p>
        </p:txBody>
      </p:sp>
      <p:sp>
        <p:nvSpPr>
          <p:cNvPr id="7" name="Shape 5"/>
          <p:cNvSpPr/>
          <p:nvPr/>
        </p:nvSpPr>
        <p:spPr>
          <a:xfrm>
            <a:off x="457200" y="1737360"/>
            <a:ext cx="2651760" cy="1353312"/>
          </a:xfrm>
          <a:prstGeom prst="roundRect">
            <a:avLst>
              <a:gd name="adj" fmla="val 6757"/>
            </a:avLst>
          </a:prstGeom>
          <a:solidFill>
            <a:srgbClr val="FFFFFF"/>
          </a:solidFill>
          <a:ln w="12700">
            <a:solidFill>
              <a:srgbClr val="D0DAE8"/>
            </a:solidFill>
            <a:prstDash val="solid"/>
          </a:ln>
          <a:effectLst>
            <a:outerShdw blurRad="177800" dist="50800" dir="2700000" algn="bl" rotWithShape="0">
              <a:srgbClr val="000000">
                <a:alpha val="10000"/>
              </a:srgbClr>
            </a:outerShdw>
          </a:effectLst>
        </p:spPr>
      </p:sp>
      <p:sp>
        <p:nvSpPr>
          <p:cNvPr id="8" name="Shape 6"/>
          <p:cNvSpPr/>
          <p:nvPr/>
        </p:nvSpPr>
        <p:spPr>
          <a:xfrm>
            <a:off x="621792" y="1938528"/>
            <a:ext cx="457200" cy="457200"/>
          </a:xfrm>
          <a:prstGeom prst="ellipse">
            <a:avLst/>
          </a:prstGeom>
          <a:solidFill>
            <a:srgbClr val="E4EEF8"/>
          </a:solidFill>
          <a:ln w="12700">
            <a:solidFill>
              <a:srgbClr val="E4EEF8"/>
            </a:solidFill>
            <a:prstDash val="solid"/>
          </a:ln>
        </p:spPr>
      </p:sp>
      <p:sp>
        <p:nvSpPr>
          <p:cNvPr id="9" name="Text 7"/>
          <p:cNvSpPr/>
          <p:nvPr/>
        </p:nvSpPr>
        <p:spPr>
          <a:xfrm>
            <a:off x="621792" y="1920240"/>
            <a:ext cx="457200" cy="457200"/>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10" name="Text 8"/>
          <p:cNvSpPr/>
          <p:nvPr/>
        </p:nvSpPr>
        <p:spPr>
          <a:xfrm>
            <a:off x="1188720" y="1938528"/>
            <a:ext cx="1828800" cy="320040"/>
          </a:xfrm>
          <a:prstGeom prst="rect">
            <a:avLst/>
          </a:prstGeom>
          <a:noFill/>
          <a:ln/>
        </p:spPr>
        <p:txBody>
          <a:bodyPr wrap="square" rtlCol="0" anchor="ctr"/>
          <a:lstStyle/>
          <a:p>
            <a:pPr marL="0" indent="0">
              <a:buNone/>
            </a:pPr>
            <a:r>
              <a:rPr lang="en-US" sz="1100" b="1" dirty="0">
                <a:solidFill>
                  <a:srgbClr val="1B2A4A"/>
                </a:solidFill>
                <a:latin typeface="Arial" pitchFamily="34" charset="0"/>
                <a:ea typeface="Arial" pitchFamily="34" charset="-122"/>
                <a:cs typeface="Arial" pitchFamily="34" charset="-120"/>
              </a:rPr>
              <a:t>Requirements Ingestion</a:t>
            </a:r>
            <a:endParaRPr lang="en-US" sz="1100" dirty="0"/>
          </a:p>
        </p:txBody>
      </p:sp>
      <p:sp>
        <p:nvSpPr>
          <p:cNvPr id="11" name="Text 9"/>
          <p:cNvSpPr/>
          <p:nvPr/>
        </p:nvSpPr>
        <p:spPr>
          <a:xfrm>
            <a:off x="621792" y="2395728"/>
            <a:ext cx="2377440" cy="594360"/>
          </a:xfrm>
          <a:prstGeom prst="rect">
            <a:avLst/>
          </a:prstGeom>
          <a:noFill/>
          <a:ln/>
        </p:spPr>
        <p:txBody>
          <a:bodyPr wrap="square" rtlCol="0" anchor="ctr"/>
          <a:lstStyle/>
          <a:p>
            <a:pPr marL="0" indent="0">
              <a:buNone/>
            </a:pPr>
            <a:r>
              <a:rPr lang="en-US" sz="1000" dirty="0">
                <a:solidFill>
                  <a:srgbClr val="4A5568"/>
                </a:solidFill>
                <a:latin typeface="Arial" pitchFamily="34" charset="0"/>
                <a:ea typeface="Arial" pitchFamily="34" charset="-122"/>
                <a:cs typeface="Arial" pitchFamily="34" charset="-120"/>
              </a:rPr>
              <a:t>Free text, file upload (.txt .md .docx .pdf), Jira pull, or story picker</a:t>
            </a:r>
            <a:endParaRPr lang="en-US" sz="1000" dirty="0"/>
          </a:p>
        </p:txBody>
      </p:sp>
      <p:sp>
        <p:nvSpPr>
          <p:cNvPr id="12" name="Shape 10"/>
          <p:cNvSpPr/>
          <p:nvPr/>
        </p:nvSpPr>
        <p:spPr>
          <a:xfrm>
            <a:off x="3291840" y="1737360"/>
            <a:ext cx="2651760" cy="1353312"/>
          </a:xfrm>
          <a:prstGeom prst="roundRect">
            <a:avLst>
              <a:gd name="adj" fmla="val 6757"/>
            </a:avLst>
          </a:prstGeom>
          <a:solidFill>
            <a:srgbClr val="FFFFFF"/>
          </a:solidFill>
          <a:ln w="12700">
            <a:solidFill>
              <a:srgbClr val="D0DAE8"/>
            </a:solidFill>
            <a:prstDash val="solid"/>
          </a:ln>
          <a:effectLst>
            <a:outerShdw blurRad="177800" dist="50800" dir="2700000" algn="bl" rotWithShape="0">
              <a:srgbClr val="000000">
                <a:alpha val="10000"/>
              </a:srgbClr>
            </a:outerShdw>
          </a:effectLst>
        </p:spPr>
      </p:sp>
      <p:sp>
        <p:nvSpPr>
          <p:cNvPr id="13" name="Shape 11"/>
          <p:cNvSpPr/>
          <p:nvPr/>
        </p:nvSpPr>
        <p:spPr>
          <a:xfrm>
            <a:off x="3456432" y="1938528"/>
            <a:ext cx="457200" cy="457200"/>
          </a:xfrm>
          <a:prstGeom prst="ellipse">
            <a:avLst/>
          </a:prstGeom>
          <a:solidFill>
            <a:srgbClr val="E4EEF8"/>
          </a:solidFill>
          <a:ln w="12700">
            <a:solidFill>
              <a:srgbClr val="E4EEF8"/>
            </a:solidFill>
            <a:prstDash val="solid"/>
          </a:ln>
        </p:spPr>
      </p:sp>
      <p:sp>
        <p:nvSpPr>
          <p:cNvPr id="14" name="Text 12"/>
          <p:cNvSpPr/>
          <p:nvPr/>
        </p:nvSpPr>
        <p:spPr>
          <a:xfrm>
            <a:off x="3456432" y="1920240"/>
            <a:ext cx="457200" cy="457200"/>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15" name="Text 13"/>
          <p:cNvSpPr/>
          <p:nvPr/>
        </p:nvSpPr>
        <p:spPr>
          <a:xfrm>
            <a:off x="4023360" y="1938528"/>
            <a:ext cx="1828800" cy="320040"/>
          </a:xfrm>
          <a:prstGeom prst="rect">
            <a:avLst/>
          </a:prstGeom>
          <a:noFill/>
          <a:ln/>
        </p:spPr>
        <p:txBody>
          <a:bodyPr wrap="square" rtlCol="0" anchor="ctr"/>
          <a:lstStyle/>
          <a:p>
            <a:pPr marL="0" indent="0">
              <a:buNone/>
            </a:pPr>
            <a:r>
              <a:rPr lang="en-US" sz="1100" b="1" dirty="0">
                <a:solidFill>
                  <a:srgbClr val="1B2A4A"/>
                </a:solidFill>
                <a:latin typeface="Arial" pitchFamily="34" charset="0"/>
                <a:ea typeface="Arial" pitchFamily="34" charset="-122"/>
                <a:cs typeface="Arial" pitchFamily="34" charset="-120"/>
              </a:rPr>
              <a:t>Requirement Enhancement</a:t>
            </a:r>
            <a:endParaRPr lang="en-US" sz="1100" dirty="0"/>
          </a:p>
        </p:txBody>
      </p:sp>
      <p:sp>
        <p:nvSpPr>
          <p:cNvPr id="16" name="Text 14"/>
          <p:cNvSpPr/>
          <p:nvPr/>
        </p:nvSpPr>
        <p:spPr>
          <a:xfrm>
            <a:off x="3456432" y="2395728"/>
            <a:ext cx="2377440" cy="594360"/>
          </a:xfrm>
          <a:prstGeom prst="rect">
            <a:avLst/>
          </a:prstGeom>
          <a:noFill/>
          <a:ln/>
        </p:spPr>
        <p:txBody>
          <a:bodyPr wrap="square" rtlCol="0" anchor="ctr"/>
          <a:lstStyle/>
          <a:p>
            <a:pPr marL="0" indent="0">
              <a:buNone/>
            </a:pPr>
            <a:r>
              <a:rPr lang="en-US" sz="1000" dirty="0">
                <a:solidFill>
                  <a:srgbClr val="4A5568"/>
                </a:solidFill>
                <a:latin typeface="Arial" pitchFamily="34" charset="0"/>
                <a:ea typeface="Arial" pitchFamily="34" charset="-122"/>
                <a:cs typeface="Arial" pitchFamily="34" charset="-120"/>
              </a:rPr>
              <a:t>AI analysis: gaps, NFRs, risks, benchmarks, clarifying questions</a:t>
            </a:r>
            <a:endParaRPr lang="en-US" sz="1000" dirty="0"/>
          </a:p>
        </p:txBody>
      </p:sp>
      <p:sp>
        <p:nvSpPr>
          <p:cNvPr id="17" name="Shape 15"/>
          <p:cNvSpPr/>
          <p:nvPr/>
        </p:nvSpPr>
        <p:spPr>
          <a:xfrm>
            <a:off x="6126480" y="1737360"/>
            <a:ext cx="2651760" cy="1353312"/>
          </a:xfrm>
          <a:prstGeom prst="roundRect">
            <a:avLst>
              <a:gd name="adj" fmla="val 6757"/>
            </a:avLst>
          </a:prstGeom>
          <a:solidFill>
            <a:srgbClr val="FFFFFF"/>
          </a:solidFill>
          <a:ln w="12700">
            <a:solidFill>
              <a:srgbClr val="D0DAE8"/>
            </a:solidFill>
            <a:prstDash val="solid"/>
          </a:ln>
          <a:effectLst>
            <a:outerShdw blurRad="177800" dist="50800" dir="2700000" algn="bl" rotWithShape="0">
              <a:srgbClr val="000000">
                <a:alpha val="10000"/>
              </a:srgbClr>
            </a:outerShdw>
          </a:effectLst>
        </p:spPr>
      </p:sp>
      <p:sp>
        <p:nvSpPr>
          <p:cNvPr id="18" name="Shape 16"/>
          <p:cNvSpPr/>
          <p:nvPr/>
        </p:nvSpPr>
        <p:spPr>
          <a:xfrm>
            <a:off x="6291072" y="1938528"/>
            <a:ext cx="457200" cy="457200"/>
          </a:xfrm>
          <a:prstGeom prst="ellipse">
            <a:avLst/>
          </a:prstGeom>
          <a:solidFill>
            <a:srgbClr val="E4EEF8"/>
          </a:solidFill>
          <a:ln w="12700">
            <a:solidFill>
              <a:srgbClr val="E4EEF8"/>
            </a:solidFill>
            <a:prstDash val="solid"/>
          </a:ln>
        </p:spPr>
      </p:sp>
      <p:sp>
        <p:nvSpPr>
          <p:cNvPr id="19" name="Text 17"/>
          <p:cNvSpPr/>
          <p:nvPr/>
        </p:nvSpPr>
        <p:spPr>
          <a:xfrm>
            <a:off x="6291072" y="1920240"/>
            <a:ext cx="457200" cy="457200"/>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20" name="Text 18"/>
          <p:cNvSpPr/>
          <p:nvPr/>
        </p:nvSpPr>
        <p:spPr>
          <a:xfrm>
            <a:off x="6858000" y="1938528"/>
            <a:ext cx="1828800" cy="320040"/>
          </a:xfrm>
          <a:prstGeom prst="rect">
            <a:avLst/>
          </a:prstGeom>
          <a:noFill/>
          <a:ln/>
        </p:spPr>
        <p:txBody>
          <a:bodyPr wrap="square" rtlCol="0" anchor="ctr"/>
          <a:lstStyle/>
          <a:p>
            <a:pPr marL="0" indent="0">
              <a:buNone/>
            </a:pPr>
            <a:r>
              <a:rPr lang="en-US" sz="1100" b="1" dirty="0">
                <a:solidFill>
                  <a:srgbClr val="1B2A4A"/>
                </a:solidFill>
                <a:latin typeface="Arial" pitchFamily="34" charset="0"/>
                <a:ea typeface="Arial" pitchFamily="34" charset="-122"/>
                <a:cs typeface="Arial" pitchFamily="34" charset="-120"/>
              </a:rPr>
              <a:t>Test Scenario Generation</a:t>
            </a:r>
            <a:endParaRPr lang="en-US" sz="1100" dirty="0"/>
          </a:p>
        </p:txBody>
      </p:sp>
      <p:sp>
        <p:nvSpPr>
          <p:cNvPr id="21" name="Text 19"/>
          <p:cNvSpPr/>
          <p:nvPr/>
        </p:nvSpPr>
        <p:spPr>
          <a:xfrm>
            <a:off x="6291072" y="2395728"/>
            <a:ext cx="2377440" cy="594360"/>
          </a:xfrm>
          <a:prstGeom prst="rect">
            <a:avLst/>
          </a:prstGeom>
          <a:noFill/>
          <a:ln/>
        </p:spPr>
        <p:txBody>
          <a:bodyPr wrap="square" rtlCol="0" anchor="ctr"/>
          <a:lstStyle/>
          <a:p>
            <a:pPr marL="0" indent="0">
              <a:buNone/>
            </a:pPr>
            <a:r>
              <a:rPr lang="en-US" sz="1000" dirty="0">
                <a:solidFill>
                  <a:srgbClr val="4A5568"/>
                </a:solidFill>
                <a:latin typeface="Arial" pitchFamily="34" charset="0"/>
                <a:ea typeface="Arial" pitchFamily="34" charset="-122"/>
                <a:cs typeface="Arial" pitchFamily="34" charset="-120"/>
              </a:rPr>
              <a:t>Structured scenarios with traceability to source requirements</a:t>
            </a:r>
            <a:endParaRPr lang="en-US" sz="1000" dirty="0"/>
          </a:p>
        </p:txBody>
      </p:sp>
      <p:sp>
        <p:nvSpPr>
          <p:cNvPr id="22" name="Shape 20"/>
          <p:cNvSpPr/>
          <p:nvPr/>
        </p:nvSpPr>
        <p:spPr>
          <a:xfrm>
            <a:off x="457200" y="3246120"/>
            <a:ext cx="2651760" cy="1353312"/>
          </a:xfrm>
          <a:prstGeom prst="roundRect">
            <a:avLst>
              <a:gd name="adj" fmla="val 6757"/>
            </a:avLst>
          </a:prstGeom>
          <a:solidFill>
            <a:srgbClr val="FFFFFF"/>
          </a:solidFill>
          <a:ln w="12700">
            <a:solidFill>
              <a:srgbClr val="D0DAE8"/>
            </a:solidFill>
            <a:prstDash val="solid"/>
          </a:ln>
          <a:effectLst>
            <a:outerShdw blurRad="177800" dist="50800" dir="2700000" algn="bl" rotWithShape="0">
              <a:srgbClr val="000000">
                <a:alpha val="10000"/>
              </a:srgbClr>
            </a:outerShdw>
          </a:effectLst>
        </p:spPr>
      </p:sp>
      <p:sp>
        <p:nvSpPr>
          <p:cNvPr id="23" name="Shape 21"/>
          <p:cNvSpPr/>
          <p:nvPr/>
        </p:nvSpPr>
        <p:spPr>
          <a:xfrm>
            <a:off x="621792" y="3447288"/>
            <a:ext cx="457200" cy="457200"/>
          </a:xfrm>
          <a:prstGeom prst="ellipse">
            <a:avLst/>
          </a:prstGeom>
          <a:solidFill>
            <a:srgbClr val="E8F5F0"/>
          </a:solidFill>
          <a:ln w="12700">
            <a:solidFill>
              <a:srgbClr val="E8F5F0"/>
            </a:solidFill>
            <a:prstDash val="solid"/>
          </a:ln>
        </p:spPr>
      </p:sp>
      <p:sp>
        <p:nvSpPr>
          <p:cNvPr id="24" name="Text 22"/>
          <p:cNvSpPr/>
          <p:nvPr/>
        </p:nvSpPr>
        <p:spPr>
          <a:xfrm>
            <a:off x="621792" y="3429000"/>
            <a:ext cx="457200" cy="457200"/>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25" name="Text 23"/>
          <p:cNvSpPr/>
          <p:nvPr/>
        </p:nvSpPr>
        <p:spPr>
          <a:xfrm>
            <a:off x="1188720" y="3447288"/>
            <a:ext cx="1828800" cy="320040"/>
          </a:xfrm>
          <a:prstGeom prst="rect">
            <a:avLst/>
          </a:prstGeom>
          <a:noFill/>
          <a:ln/>
        </p:spPr>
        <p:txBody>
          <a:bodyPr wrap="square" rtlCol="0" anchor="ctr"/>
          <a:lstStyle/>
          <a:p>
            <a:pPr marL="0" indent="0">
              <a:buNone/>
            </a:pPr>
            <a:r>
              <a:rPr lang="en-US" sz="1100" b="1" dirty="0">
                <a:solidFill>
                  <a:srgbClr val="1B2A4A"/>
                </a:solidFill>
                <a:latin typeface="Arial" pitchFamily="34" charset="0"/>
                <a:ea typeface="Arial" pitchFamily="34" charset="-122"/>
                <a:cs typeface="Arial" pitchFamily="34" charset="-120"/>
              </a:rPr>
              <a:t>Test Case Generation</a:t>
            </a:r>
            <a:endParaRPr lang="en-US" sz="1100" dirty="0"/>
          </a:p>
        </p:txBody>
      </p:sp>
      <p:sp>
        <p:nvSpPr>
          <p:cNvPr id="26" name="Text 24"/>
          <p:cNvSpPr/>
          <p:nvPr/>
        </p:nvSpPr>
        <p:spPr>
          <a:xfrm>
            <a:off x="621792" y="3904488"/>
            <a:ext cx="2377440" cy="594360"/>
          </a:xfrm>
          <a:prstGeom prst="rect">
            <a:avLst/>
          </a:prstGeom>
          <a:noFill/>
          <a:ln/>
        </p:spPr>
        <p:txBody>
          <a:bodyPr wrap="square" rtlCol="0" anchor="ctr"/>
          <a:lstStyle/>
          <a:p>
            <a:pPr marL="0" indent="0">
              <a:buNone/>
            </a:pPr>
            <a:r>
              <a:rPr lang="en-US" sz="1000" dirty="0">
                <a:solidFill>
                  <a:srgbClr val="4A5568"/>
                </a:solidFill>
                <a:latin typeface="Arial" pitchFamily="34" charset="0"/>
                <a:ea typeface="Arial" pitchFamily="34" charset="-122"/>
                <a:cs typeface="Arial" pitchFamily="34" charset="-120"/>
              </a:rPr>
              <a:t>Executable cases with Gherkin BDD, layer, and priority assignment</a:t>
            </a:r>
            <a:endParaRPr lang="en-US" sz="1000" dirty="0"/>
          </a:p>
        </p:txBody>
      </p:sp>
      <p:sp>
        <p:nvSpPr>
          <p:cNvPr id="27" name="Shape 25"/>
          <p:cNvSpPr/>
          <p:nvPr/>
        </p:nvSpPr>
        <p:spPr>
          <a:xfrm>
            <a:off x="3291840" y="3246120"/>
            <a:ext cx="2651760" cy="1353312"/>
          </a:xfrm>
          <a:prstGeom prst="roundRect">
            <a:avLst>
              <a:gd name="adj" fmla="val 6757"/>
            </a:avLst>
          </a:prstGeom>
          <a:solidFill>
            <a:srgbClr val="FFFFFF"/>
          </a:solidFill>
          <a:ln w="12700">
            <a:solidFill>
              <a:srgbClr val="D0DAE8"/>
            </a:solidFill>
            <a:prstDash val="solid"/>
          </a:ln>
          <a:effectLst>
            <a:outerShdw blurRad="177800" dist="50800" dir="2700000" algn="bl" rotWithShape="0">
              <a:srgbClr val="000000">
                <a:alpha val="10000"/>
              </a:srgbClr>
            </a:outerShdw>
          </a:effectLst>
        </p:spPr>
      </p:sp>
      <p:sp>
        <p:nvSpPr>
          <p:cNvPr id="28" name="Shape 26"/>
          <p:cNvSpPr/>
          <p:nvPr/>
        </p:nvSpPr>
        <p:spPr>
          <a:xfrm>
            <a:off x="3456432" y="3447288"/>
            <a:ext cx="457200" cy="457200"/>
          </a:xfrm>
          <a:prstGeom prst="ellipse">
            <a:avLst/>
          </a:prstGeom>
          <a:solidFill>
            <a:srgbClr val="E8F5F0"/>
          </a:solidFill>
          <a:ln w="12700">
            <a:solidFill>
              <a:srgbClr val="E8F5F0"/>
            </a:solidFill>
            <a:prstDash val="solid"/>
          </a:ln>
        </p:spPr>
      </p:sp>
      <p:sp>
        <p:nvSpPr>
          <p:cNvPr id="29" name="Text 27"/>
          <p:cNvSpPr/>
          <p:nvPr/>
        </p:nvSpPr>
        <p:spPr>
          <a:xfrm>
            <a:off x="3456432" y="3429000"/>
            <a:ext cx="457200" cy="457200"/>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30" name="Text 28"/>
          <p:cNvSpPr/>
          <p:nvPr/>
        </p:nvSpPr>
        <p:spPr>
          <a:xfrm>
            <a:off x="4023360" y="3447288"/>
            <a:ext cx="1828800" cy="320040"/>
          </a:xfrm>
          <a:prstGeom prst="rect">
            <a:avLst/>
          </a:prstGeom>
          <a:noFill/>
          <a:ln/>
        </p:spPr>
        <p:txBody>
          <a:bodyPr wrap="square" rtlCol="0" anchor="ctr"/>
          <a:lstStyle/>
          <a:p>
            <a:pPr marL="0" indent="0">
              <a:buNone/>
            </a:pPr>
            <a:r>
              <a:rPr lang="en-US" sz="1100" b="1" dirty="0">
                <a:solidFill>
                  <a:srgbClr val="1B2A4A"/>
                </a:solidFill>
                <a:latin typeface="Arial" pitchFamily="34" charset="0"/>
                <a:ea typeface="Arial" pitchFamily="34" charset="-122"/>
                <a:cs typeface="Arial" pitchFamily="34" charset="-120"/>
              </a:rPr>
              <a:t>Automation Analysis</a:t>
            </a:r>
            <a:endParaRPr lang="en-US" sz="1100" dirty="0"/>
          </a:p>
        </p:txBody>
      </p:sp>
      <p:sp>
        <p:nvSpPr>
          <p:cNvPr id="31" name="Text 29"/>
          <p:cNvSpPr/>
          <p:nvPr/>
        </p:nvSpPr>
        <p:spPr>
          <a:xfrm>
            <a:off x="3456432" y="3904488"/>
            <a:ext cx="2377440" cy="594360"/>
          </a:xfrm>
          <a:prstGeom prst="rect">
            <a:avLst/>
          </a:prstGeom>
          <a:noFill/>
          <a:ln/>
        </p:spPr>
        <p:txBody>
          <a:bodyPr wrap="square" rtlCol="0" anchor="ctr"/>
          <a:lstStyle/>
          <a:p>
            <a:pPr marL="0" indent="0">
              <a:buNone/>
            </a:pPr>
            <a:r>
              <a:rPr lang="en-US" sz="1000" dirty="0">
                <a:solidFill>
                  <a:srgbClr val="4A5568"/>
                </a:solidFill>
                <a:latin typeface="Arial" pitchFamily="34" charset="0"/>
                <a:ea typeface="Arial" pitchFamily="34" charset="-122"/>
                <a:cs typeface="Arial" pitchFamily="34" charset="-120"/>
              </a:rPr>
              <a:t>A–F assessment: feasibility (1–5) + ROI score (1–10) per case</a:t>
            </a:r>
            <a:endParaRPr lang="en-US" sz="1000" dirty="0"/>
          </a:p>
        </p:txBody>
      </p:sp>
      <p:sp>
        <p:nvSpPr>
          <p:cNvPr id="32" name="Shape 30"/>
          <p:cNvSpPr/>
          <p:nvPr/>
        </p:nvSpPr>
        <p:spPr>
          <a:xfrm>
            <a:off x="6126480" y="3246120"/>
            <a:ext cx="2651760" cy="1353312"/>
          </a:xfrm>
          <a:prstGeom prst="roundRect">
            <a:avLst>
              <a:gd name="adj" fmla="val 6757"/>
            </a:avLst>
          </a:prstGeom>
          <a:solidFill>
            <a:schemeClr val="accent2"/>
          </a:solidFill>
          <a:ln w="12700">
            <a:solidFill>
              <a:srgbClr val="D0DAE8"/>
            </a:solidFill>
            <a:prstDash val="solid"/>
          </a:ln>
          <a:effectLst>
            <a:outerShdw blurRad="177800" dist="50800" dir="2700000" algn="bl" rotWithShape="0">
              <a:srgbClr val="000000">
                <a:alpha val="10000"/>
              </a:srgbClr>
            </a:outerShdw>
          </a:effectLst>
        </p:spPr>
      </p:sp>
      <p:sp>
        <p:nvSpPr>
          <p:cNvPr id="33" name="Shape 31"/>
          <p:cNvSpPr/>
          <p:nvPr/>
        </p:nvSpPr>
        <p:spPr>
          <a:xfrm>
            <a:off x="6291072" y="3447288"/>
            <a:ext cx="457200" cy="457200"/>
          </a:xfrm>
          <a:prstGeom prst="ellipse">
            <a:avLst/>
          </a:prstGeom>
          <a:solidFill>
            <a:srgbClr val="E8F5F0"/>
          </a:solidFill>
          <a:ln w="12700">
            <a:solidFill>
              <a:srgbClr val="E8F5F0"/>
            </a:solidFill>
            <a:prstDash val="solid"/>
          </a:ln>
        </p:spPr>
      </p:sp>
      <p:sp>
        <p:nvSpPr>
          <p:cNvPr id="34" name="Text 32"/>
          <p:cNvSpPr/>
          <p:nvPr/>
        </p:nvSpPr>
        <p:spPr>
          <a:xfrm>
            <a:off x="6291072" y="3429000"/>
            <a:ext cx="457200" cy="457200"/>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35" name="Text 33"/>
          <p:cNvSpPr/>
          <p:nvPr/>
        </p:nvSpPr>
        <p:spPr>
          <a:xfrm>
            <a:off x="6858000" y="3447288"/>
            <a:ext cx="1828800" cy="320040"/>
          </a:xfrm>
          <a:prstGeom prst="rect">
            <a:avLst/>
          </a:prstGeom>
          <a:noFill/>
          <a:ln/>
        </p:spPr>
        <p:txBody>
          <a:bodyPr wrap="square" rtlCol="0" anchor="ctr"/>
          <a:lstStyle/>
          <a:p>
            <a:pPr marL="0" indent="0">
              <a:buNone/>
            </a:pPr>
            <a:r>
              <a:rPr lang="en-US" sz="1100" b="1" dirty="0">
                <a:solidFill>
                  <a:srgbClr val="1B2A4A"/>
                </a:solidFill>
                <a:latin typeface="Arial" pitchFamily="34" charset="0"/>
                <a:ea typeface="Arial" pitchFamily="34" charset="-122"/>
                <a:cs typeface="Arial" pitchFamily="34" charset="-120"/>
              </a:rPr>
              <a:t>Xray Push + </a:t>
            </a:r>
            <a:r>
              <a:rPr lang="en-US" sz="1100" b="1" dirty="0">
                <a:solidFill>
                  <a:srgbClr val="00B050"/>
                </a:solidFill>
                <a:latin typeface="Arial" pitchFamily="34" charset="0"/>
                <a:ea typeface="Arial" pitchFamily="34" charset="-122"/>
                <a:cs typeface="Arial" pitchFamily="34" charset="-120"/>
              </a:rPr>
              <a:t>Export</a:t>
            </a:r>
            <a:endParaRPr lang="en-US" sz="1100" dirty="0">
              <a:solidFill>
                <a:srgbClr val="00B050"/>
              </a:solidFill>
            </a:endParaRPr>
          </a:p>
        </p:txBody>
      </p:sp>
      <p:sp>
        <p:nvSpPr>
          <p:cNvPr id="36" name="Text 34"/>
          <p:cNvSpPr/>
          <p:nvPr/>
        </p:nvSpPr>
        <p:spPr>
          <a:xfrm>
            <a:off x="6291072" y="3904488"/>
            <a:ext cx="2377440" cy="594360"/>
          </a:xfrm>
          <a:prstGeom prst="rect">
            <a:avLst/>
          </a:prstGeom>
          <a:noFill/>
          <a:ln/>
        </p:spPr>
        <p:txBody>
          <a:bodyPr wrap="square" rtlCol="0" anchor="ctr"/>
          <a:lstStyle/>
          <a:p>
            <a:pPr marL="0" indent="0">
              <a:buNone/>
            </a:pPr>
            <a:r>
              <a:rPr lang="en-US" sz="1000" dirty="0">
                <a:solidFill>
                  <a:srgbClr val="4A5568"/>
                </a:solidFill>
                <a:latin typeface="Arial" pitchFamily="34" charset="0"/>
                <a:ea typeface="Arial" pitchFamily="34" charset="-122"/>
                <a:cs typeface="Arial" pitchFamily="34" charset="-120"/>
              </a:rPr>
              <a:t>Batch push with deduplication, retry, and 4 export formats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8778240" y="4846320"/>
            <a:ext cx="274320" cy="182880"/>
          </a:xfrm>
          <a:prstGeom prst="rect">
            <a:avLst/>
          </a:prstGeom>
          <a:noFill/>
          <a:ln/>
        </p:spPr>
        <p:txBody>
          <a:bodyPr wrap="square" rtlCol="0" anchor="ctr"/>
          <a:lstStyle/>
          <a:p>
            <a:pPr marL="0" indent="0" algn="r">
              <a:buNone/>
            </a:pPr>
            <a:r>
              <a:rPr lang="en-US" sz="800" dirty="0">
                <a:solidFill>
                  <a:srgbClr val="8898AA"/>
                </a:solidFill>
                <a:latin typeface="Arial" pitchFamily="34" charset="0"/>
                <a:ea typeface="Arial" pitchFamily="34" charset="-122"/>
                <a:cs typeface="Arial" pitchFamily="34" charset="-120"/>
              </a:rPr>
              <a:t>4</a:t>
            </a:r>
            <a:endParaRPr lang="en-US" sz="800" dirty="0"/>
          </a:p>
        </p:txBody>
      </p:sp>
      <p:sp>
        <p:nvSpPr>
          <p:cNvPr id="3" name="Shape 1"/>
          <p:cNvSpPr/>
          <p:nvPr/>
        </p:nvSpPr>
        <p:spPr>
          <a:xfrm>
            <a:off x="457200" y="274320"/>
            <a:ext cx="1371600" cy="256032"/>
          </a:xfrm>
          <a:prstGeom prst="roundRect">
            <a:avLst>
              <a:gd name="adj" fmla="val 21429"/>
            </a:avLst>
          </a:prstGeom>
          <a:solidFill>
            <a:srgbClr val="028090"/>
          </a:solidFill>
          <a:ln w="12700">
            <a:solidFill>
              <a:srgbClr val="028090"/>
            </a:solidFill>
            <a:prstDash val="solid"/>
          </a:ln>
        </p:spPr>
      </p:sp>
      <p:sp>
        <p:nvSpPr>
          <p:cNvPr id="4" name="Text 2"/>
          <p:cNvSpPr/>
          <p:nvPr/>
        </p:nvSpPr>
        <p:spPr>
          <a:xfrm>
            <a:off x="457200" y="274320"/>
            <a:ext cx="1371600" cy="256032"/>
          </a:xfrm>
          <a:prstGeom prst="rect">
            <a:avLst/>
          </a:prstGeom>
          <a:noFill/>
          <a:ln/>
        </p:spPr>
        <p:txBody>
          <a:bodyPr wrap="square" lIns="0" tIns="0" rIns="0" bIns="0" rtlCol="0" anchor="ctr"/>
          <a:lstStyle/>
          <a:p>
            <a:pPr marL="0" indent="0" algn="ctr">
              <a:buNone/>
            </a:pPr>
            <a:r>
              <a:rPr lang="en-US" sz="800" b="1" kern="0" spc="150" dirty="0">
                <a:solidFill>
                  <a:srgbClr val="FFFFFF"/>
                </a:solidFill>
                <a:latin typeface="Arial" pitchFamily="34" charset="0"/>
                <a:ea typeface="Arial" pitchFamily="34" charset="-122"/>
                <a:cs typeface="Arial" pitchFamily="34" charset="-120"/>
              </a:rPr>
              <a:t>HOW IT WORKS</a:t>
            </a:r>
            <a:endParaRPr lang="en-US" sz="800" dirty="0"/>
          </a:p>
        </p:txBody>
      </p:sp>
      <p:sp>
        <p:nvSpPr>
          <p:cNvPr id="5" name="Text 3"/>
          <p:cNvSpPr/>
          <p:nvPr/>
        </p:nvSpPr>
        <p:spPr>
          <a:xfrm>
            <a:off x="457200" y="594360"/>
            <a:ext cx="8229600" cy="50292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End-to-End Workflow</a:t>
            </a:r>
            <a:endParaRPr lang="en-US" sz="3000" dirty="0"/>
          </a:p>
        </p:txBody>
      </p:sp>
      <p:sp>
        <p:nvSpPr>
          <p:cNvPr id="6" name="Shape 4"/>
          <p:cNvSpPr/>
          <p:nvPr/>
        </p:nvSpPr>
        <p:spPr>
          <a:xfrm>
            <a:off x="347472" y="1417320"/>
            <a:ext cx="1078992" cy="2011680"/>
          </a:xfrm>
          <a:prstGeom prst="roundRect">
            <a:avLst>
              <a:gd name="adj" fmla="val 8475"/>
            </a:avLst>
          </a:prstGeom>
          <a:solidFill>
            <a:srgbClr val="1F3A5F"/>
          </a:solidFill>
          <a:ln w="12700">
            <a:solidFill>
              <a:srgbClr val="2A4A72"/>
            </a:solidFill>
            <a:prstDash val="solid"/>
          </a:ln>
          <a:effectLst>
            <a:outerShdw blurRad="127000" dist="38100" dir="2700000" algn="bl" rotWithShape="0">
              <a:srgbClr val="000000">
                <a:alpha val="12000"/>
              </a:srgbClr>
            </a:outerShdw>
          </a:effectLst>
        </p:spPr>
      </p:sp>
      <p:sp>
        <p:nvSpPr>
          <p:cNvPr id="7" name="Shape 5"/>
          <p:cNvSpPr/>
          <p:nvPr/>
        </p:nvSpPr>
        <p:spPr>
          <a:xfrm>
            <a:off x="694944" y="1563624"/>
            <a:ext cx="384048" cy="384048"/>
          </a:xfrm>
          <a:prstGeom prst="ellipse">
            <a:avLst/>
          </a:prstGeom>
          <a:solidFill>
            <a:srgbClr val="028090"/>
          </a:solidFill>
          <a:ln w="12700">
            <a:solidFill>
              <a:srgbClr val="028090"/>
            </a:solidFill>
            <a:prstDash val="solid"/>
          </a:ln>
        </p:spPr>
      </p:sp>
      <p:sp>
        <p:nvSpPr>
          <p:cNvPr id="8" name="Text 6"/>
          <p:cNvSpPr/>
          <p:nvPr/>
        </p:nvSpPr>
        <p:spPr>
          <a:xfrm>
            <a:off x="694944" y="1563624"/>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9" name="Text 7"/>
          <p:cNvSpPr/>
          <p:nvPr/>
        </p:nvSpPr>
        <p:spPr>
          <a:xfrm>
            <a:off x="347472" y="2039112"/>
            <a:ext cx="1078992" cy="292608"/>
          </a:xfrm>
          <a:prstGeom prst="rect">
            <a:avLst/>
          </a:prstGeom>
          <a:noFill/>
          <a:ln/>
        </p:spPr>
        <p:txBody>
          <a:bodyPr wrap="square" rtlCol="0" anchor="ctr"/>
          <a:lstStyle/>
          <a:p>
            <a:pPr marL="0" indent="0" algn="ctr">
              <a:buNone/>
            </a:pPr>
            <a:r>
              <a:rPr lang="en-US" sz="1050" b="1" dirty="0">
                <a:solidFill>
                  <a:srgbClr val="FFFFFF"/>
                </a:solidFill>
                <a:latin typeface="Arial" pitchFamily="34" charset="0"/>
                <a:ea typeface="Arial" pitchFamily="34" charset="-122"/>
                <a:cs typeface="Arial" pitchFamily="34" charset="-120"/>
              </a:rPr>
              <a:t>Configure</a:t>
            </a:r>
            <a:endParaRPr lang="en-US" sz="1050" dirty="0"/>
          </a:p>
        </p:txBody>
      </p:sp>
      <p:sp>
        <p:nvSpPr>
          <p:cNvPr id="10" name="Text 8"/>
          <p:cNvSpPr/>
          <p:nvPr/>
        </p:nvSpPr>
        <p:spPr>
          <a:xfrm>
            <a:off x="347472" y="2350008"/>
            <a:ext cx="1078992" cy="868680"/>
          </a:xfrm>
          <a:prstGeom prst="rect">
            <a:avLst/>
          </a:prstGeom>
          <a:noFill/>
          <a:ln/>
        </p:spPr>
        <p:txBody>
          <a:bodyPr wrap="square" rtlCol="0" anchor="ctr"/>
          <a:lstStyle/>
          <a:p>
            <a:pPr marL="0" indent="0" algn="ctr">
              <a:buNone/>
            </a:pPr>
            <a:r>
              <a:rPr lang="en-US" sz="900" dirty="0">
                <a:solidFill>
                  <a:srgbClr val="8BAEC8"/>
                </a:solidFill>
                <a:latin typeface="Arial" pitchFamily="34" charset="0"/>
                <a:ea typeface="Arial" pitchFamily="34" charset="-122"/>
                <a:cs typeface="Arial" pitchFamily="34" charset="-120"/>
              </a:rPr>
              <a:t>Set LLM provider</a:t>
            </a:r>
            <a:endParaRPr lang="en-US" sz="900" dirty="0"/>
          </a:p>
          <a:p>
            <a:pPr marL="0" indent="0" algn="ctr">
              <a:buNone/>
            </a:pPr>
            <a:r>
              <a:rPr lang="en-US" sz="900" dirty="0">
                <a:solidFill>
                  <a:srgbClr val="8BAEC8"/>
                </a:solidFill>
                <a:latin typeface="Arial" pitchFamily="34" charset="0"/>
                <a:ea typeface="Arial" pitchFamily="34" charset="-122"/>
                <a:cs typeface="Arial" pitchFamily="34" charset="-120"/>
              </a:rPr>
              <a:t>&amp; Jira/Xray keys</a:t>
            </a:r>
            <a:endParaRPr lang="en-US" sz="900" dirty="0"/>
          </a:p>
        </p:txBody>
      </p:sp>
      <p:sp>
        <p:nvSpPr>
          <p:cNvPr id="11" name="Shape 9"/>
          <p:cNvSpPr/>
          <p:nvPr/>
        </p:nvSpPr>
        <p:spPr>
          <a:xfrm>
            <a:off x="1444752" y="2423160"/>
            <a:ext cx="128016" cy="0"/>
          </a:xfrm>
          <a:prstGeom prst="line">
            <a:avLst/>
          </a:prstGeom>
          <a:noFill/>
          <a:ln w="19050">
            <a:solidFill>
              <a:srgbClr val="028090"/>
            </a:solidFill>
            <a:prstDash val="solid"/>
          </a:ln>
        </p:spPr>
      </p:sp>
      <p:sp>
        <p:nvSpPr>
          <p:cNvPr id="12" name="Shape 10"/>
          <p:cNvSpPr/>
          <p:nvPr/>
        </p:nvSpPr>
        <p:spPr>
          <a:xfrm>
            <a:off x="1591056" y="1417320"/>
            <a:ext cx="1078992" cy="2011680"/>
          </a:xfrm>
          <a:prstGeom prst="roundRect">
            <a:avLst>
              <a:gd name="adj" fmla="val 8475"/>
            </a:avLst>
          </a:prstGeom>
          <a:solidFill>
            <a:srgbClr val="1F3A5F"/>
          </a:solidFill>
          <a:ln w="12700">
            <a:solidFill>
              <a:srgbClr val="2A4A72"/>
            </a:solidFill>
            <a:prstDash val="solid"/>
          </a:ln>
          <a:effectLst>
            <a:outerShdw blurRad="127000" dist="38100" dir="2700000" algn="bl" rotWithShape="0">
              <a:srgbClr val="000000">
                <a:alpha val="12000"/>
              </a:srgbClr>
            </a:outerShdw>
          </a:effectLst>
        </p:spPr>
      </p:sp>
      <p:sp>
        <p:nvSpPr>
          <p:cNvPr id="13" name="Shape 11"/>
          <p:cNvSpPr/>
          <p:nvPr/>
        </p:nvSpPr>
        <p:spPr>
          <a:xfrm>
            <a:off x="1938528" y="1563624"/>
            <a:ext cx="384048" cy="384048"/>
          </a:xfrm>
          <a:prstGeom prst="ellipse">
            <a:avLst/>
          </a:prstGeom>
          <a:solidFill>
            <a:srgbClr val="028090"/>
          </a:solidFill>
          <a:ln w="12700">
            <a:solidFill>
              <a:srgbClr val="028090"/>
            </a:solidFill>
            <a:prstDash val="solid"/>
          </a:ln>
        </p:spPr>
      </p:sp>
      <p:sp>
        <p:nvSpPr>
          <p:cNvPr id="14" name="Text 12"/>
          <p:cNvSpPr/>
          <p:nvPr/>
        </p:nvSpPr>
        <p:spPr>
          <a:xfrm>
            <a:off x="1938528" y="1563624"/>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5" name="Text 13"/>
          <p:cNvSpPr/>
          <p:nvPr/>
        </p:nvSpPr>
        <p:spPr>
          <a:xfrm>
            <a:off x="1591056" y="2039112"/>
            <a:ext cx="1078992" cy="292608"/>
          </a:xfrm>
          <a:prstGeom prst="rect">
            <a:avLst/>
          </a:prstGeom>
          <a:noFill/>
          <a:ln/>
        </p:spPr>
        <p:txBody>
          <a:bodyPr wrap="square" rtlCol="0" anchor="ctr"/>
          <a:lstStyle/>
          <a:p>
            <a:pPr marL="0" indent="0" algn="ctr">
              <a:buNone/>
            </a:pPr>
            <a:r>
              <a:rPr lang="en-US" sz="1050" b="1" dirty="0">
                <a:solidFill>
                  <a:srgbClr val="FFFFFF"/>
                </a:solidFill>
                <a:latin typeface="Arial" pitchFamily="34" charset="0"/>
                <a:ea typeface="Arial" pitchFamily="34" charset="-122"/>
                <a:cs typeface="Arial" pitchFamily="34" charset="-120"/>
              </a:rPr>
              <a:t>Requirements</a:t>
            </a:r>
            <a:endParaRPr lang="en-US" sz="1050" dirty="0"/>
          </a:p>
        </p:txBody>
      </p:sp>
      <p:sp>
        <p:nvSpPr>
          <p:cNvPr id="16" name="Text 14"/>
          <p:cNvSpPr/>
          <p:nvPr/>
        </p:nvSpPr>
        <p:spPr>
          <a:xfrm>
            <a:off x="1591056" y="2350008"/>
            <a:ext cx="1078992" cy="868680"/>
          </a:xfrm>
          <a:prstGeom prst="rect">
            <a:avLst/>
          </a:prstGeom>
          <a:noFill/>
          <a:ln/>
        </p:spPr>
        <p:txBody>
          <a:bodyPr wrap="square" rtlCol="0" anchor="ctr"/>
          <a:lstStyle/>
          <a:p>
            <a:pPr marL="0" indent="0" algn="ctr">
              <a:buNone/>
            </a:pPr>
            <a:r>
              <a:rPr lang="en-US" sz="900" dirty="0">
                <a:solidFill>
                  <a:srgbClr val="8BAEC8"/>
                </a:solidFill>
                <a:latin typeface="Arial" pitchFamily="34" charset="0"/>
                <a:ea typeface="Arial" pitchFamily="34" charset="-122"/>
                <a:cs typeface="Arial" pitchFamily="34" charset="-120"/>
              </a:rPr>
              <a:t>Paste, upload,</a:t>
            </a:r>
            <a:endParaRPr lang="en-US" sz="900" dirty="0"/>
          </a:p>
          <a:p>
            <a:pPr marL="0" indent="0" algn="ctr">
              <a:buNone/>
            </a:pPr>
            <a:r>
              <a:rPr lang="en-US" sz="900" dirty="0">
                <a:solidFill>
                  <a:srgbClr val="8BAEC8"/>
                </a:solidFill>
                <a:latin typeface="Arial" pitchFamily="34" charset="0"/>
                <a:ea typeface="Arial" pitchFamily="34" charset="-122"/>
                <a:cs typeface="Arial" pitchFamily="34" charset="-120"/>
              </a:rPr>
              <a:t>or pull from Jira</a:t>
            </a:r>
            <a:endParaRPr lang="en-US" sz="900" dirty="0"/>
          </a:p>
        </p:txBody>
      </p:sp>
      <p:sp>
        <p:nvSpPr>
          <p:cNvPr id="17" name="Shape 15"/>
          <p:cNvSpPr/>
          <p:nvPr/>
        </p:nvSpPr>
        <p:spPr>
          <a:xfrm>
            <a:off x="2688336" y="2423160"/>
            <a:ext cx="128016" cy="0"/>
          </a:xfrm>
          <a:prstGeom prst="line">
            <a:avLst/>
          </a:prstGeom>
          <a:noFill/>
          <a:ln w="19050">
            <a:solidFill>
              <a:srgbClr val="028090"/>
            </a:solidFill>
            <a:prstDash val="solid"/>
          </a:ln>
        </p:spPr>
      </p:sp>
      <p:sp>
        <p:nvSpPr>
          <p:cNvPr id="18" name="Shape 16"/>
          <p:cNvSpPr/>
          <p:nvPr/>
        </p:nvSpPr>
        <p:spPr>
          <a:xfrm>
            <a:off x="2834640" y="1417320"/>
            <a:ext cx="1078992" cy="2011680"/>
          </a:xfrm>
          <a:prstGeom prst="roundRect">
            <a:avLst>
              <a:gd name="adj" fmla="val 8475"/>
            </a:avLst>
          </a:prstGeom>
          <a:solidFill>
            <a:srgbClr val="1F3A5F"/>
          </a:solidFill>
          <a:ln w="12700">
            <a:solidFill>
              <a:srgbClr val="2A4A72"/>
            </a:solidFill>
            <a:prstDash val="solid"/>
          </a:ln>
          <a:effectLst>
            <a:outerShdw blurRad="127000" dist="38100" dir="2700000" algn="bl" rotWithShape="0">
              <a:srgbClr val="000000">
                <a:alpha val="12000"/>
              </a:srgbClr>
            </a:outerShdw>
          </a:effectLst>
        </p:spPr>
      </p:sp>
      <p:sp>
        <p:nvSpPr>
          <p:cNvPr id="19" name="Shape 17"/>
          <p:cNvSpPr/>
          <p:nvPr/>
        </p:nvSpPr>
        <p:spPr>
          <a:xfrm>
            <a:off x="3182112" y="1563624"/>
            <a:ext cx="384048" cy="384048"/>
          </a:xfrm>
          <a:prstGeom prst="ellipse">
            <a:avLst/>
          </a:prstGeom>
          <a:solidFill>
            <a:srgbClr val="02A8BC"/>
          </a:solidFill>
          <a:ln w="12700">
            <a:solidFill>
              <a:srgbClr val="02A8BC"/>
            </a:solidFill>
            <a:prstDash val="solid"/>
          </a:ln>
        </p:spPr>
      </p:sp>
      <p:sp>
        <p:nvSpPr>
          <p:cNvPr id="20" name="Text 18"/>
          <p:cNvSpPr/>
          <p:nvPr/>
        </p:nvSpPr>
        <p:spPr>
          <a:xfrm>
            <a:off x="3182112" y="1563624"/>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1" name="Text 19"/>
          <p:cNvSpPr/>
          <p:nvPr/>
        </p:nvSpPr>
        <p:spPr>
          <a:xfrm>
            <a:off x="2834640" y="2039112"/>
            <a:ext cx="1078992" cy="292608"/>
          </a:xfrm>
          <a:prstGeom prst="rect">
            <a:avLst/>
          </a:prstGeom>
          <a:noFill/>
          <a:ln/>
        </p:spPr>
        <p:txBody>
          <a:bodyPr wrap="square" rtlCol="0" anchor="ctr"/>
          <a:lstStyle/>
          <a:p>
            <a:pPr marL="0" indent="0" algn="ctr">
              <a:buNone/>
            </a:pPr>
            <a:r>
              <a:rPr lang="en-US" sz="1050" b="1" dirty="0">
                <a:solidFill>
                  <a:srgbClr val="FFFFFF"/>
                </a:solidFill>
                <a:latin typeface="Arial" pitchFamily="34" charset="0"/>
                <a:ea typeface="Arial" pitchFamily="34" charset="-122"/>
                <a:cs typeface="Arial" pitchFamily="34" charset="-120"/>
              </a:rPr>
              <a:t>Enhance</a:t>
            </a:r>
            <a:endParaRPr lang="en-US" sz="1050" dirty="0"/>
          </a:p>
        </p:txBody>
      </p:sp>
      <p:sp>
        <p:nvSpPr>
          <p:cNvPr id="22" name="Text 20"/>
          <p:cNvSpPr/>
          <p:nvPr/>
        </p:nvSpPr>
        <p:spPr>
          <a:xfrm>
            <a:off x="2834640" y="2350008"/>
            <a:ext cx="1078992" cy="868680"/>
          </a:xfrm>
          <a:prstGeom prst="rect">
            <a:avLst/>
          </a:prstGeom>
          <a:noFill/>
          <a:ln/>
        </p:spPr>
        <p:txBody>
          <a:bodyPr wrap="square" rtlCol="0" anchor="ctr"/>
          <a:lstStyle/>
          <a:p>
            <a:pPr marL="0" indent="0" algn="ctr">
              <a:buNone/>
            </a:pPr>
            <a:r>
              <a:rPr lang="en-US" sz="900" dirty="0">
                <a:solidFill>
                  <a:srgbClr val="8BAEC8"/>
                </a:solidFill>
                <a:latin typeface="Arial" pitchFamily="34" charset="0"/>
                <a:ea typeface="Arial" pitchFamily="34" charset="-122"/>
                <a:cs typeface="Arial" pitchFamily="34" charset="-120"/>
              </a:rPr>
              <a:t>AI identifies gaps,</a:t>
            </a:r>
            <a:endParaRPr lang="en-US" sz="900" dirty="0"/>
          </a:p>
          <a:p>
            <a:pPr marL="0" indent="0" algn="ctr">
              <a:buNone/>
            </a:pPr>
            <a:r>
              <a:rPr lang="en-US" sz="900" dirty="0">
                <a:solidFill>
                  <a:srgbClr val="8BAEC8"/>
                </a:solidFill>
                <a:latin typeface="Arial" pitchFamily="34" charset="0"/>
                <a:ea typeface="Arial" pitchFamily="34" charset="-122"/>
                <a:cs typeface="Arial" pitchFamily="34" charset="-120"/>
              </a:rPr>
              <a:t>risks &amp; NFRs</a:t>
            </a:r>
            <a:endParaRPr lang="en-US" sz="900" dirty="0"/>
          </a:p>
        </p:txBody>
      </p:sp>
      <p:sp>
        <p:nvSpPr>
          <p:cNvPr id="23" name="Shape 21"/>
          <p:cNvSpPr/>
          <p:nvPr/>
        </p:nvSpPr>
        <p:spPr>
          <a:xfrm>
            <a:off x="3931920" y="2423160"/>
            <a:ext cx="128016" cy="0"/>
          </a:xfrm>
          <a:prstGeom prst="line">
            <a:avLst/>
          </a:prstGeom>
          <a:noFill/>
          <a:ln w="19050">
            <a:solidFill>
              <a:srgbClr val="028090"/>
            </a:solidFill>
            <a:prstDash val="solid"/>
          </a:ln>
        </p:spPr>
      </p:sp>
      <p:sp>
        <p:nvSpPr>
          <p:cNvPr id="24" name="Shape 22"/>
          <p:cNvSpPr/>
          <p:nvPr/>
        </p:nvSpPr>
        <p:spPr>
          <a:xfrm>
            <a:off x="4078224" y="1417320"/>
            <a:ext cx="1078992" cy="2011680"/>
          </a:xfrm>
          <a:prstGeom prst="roundRect">
            <a:avLst>
              <a:gd name="adj" fmla="val 8475"/>
            </a:avLst>
          </a:prstGeom>
          <a:solidFill>
            <a:srgbClr val="1F3A5F"/>
          </a:solidFill>
          <a:ln w="12700">
            <a:solidFill>
              <a:srgbClr val="2A4A72"/>
            </a:solidFill>
            <a:prstDash val="solid"/>
          </a:ln>
          <a:effectLst>
            <a:outerShdw blurRad="127000" dist="38100" dir="2700000" algn="bl" rotWithShape="0">
              <a:srgbClr val="000000">
                <a:alpha val="12000"/>
              </a:srgbClr>
            </a:outerShdw>
          </a:effectLst>
        </p:spPr>
      </p:sp>
      <p:sp>
        <p:nvSpPr>
          <p:cNvPr id="25" name="Shape 23"/>
          <p:cNvSpPr/>
          <p:nvPr/>
        </p:nvSpPr>
        <p:spPr>
          <a:xfrm>
            <a:off x="4425696" y="1563624"/>
            <a:ext cx="384048" cy="384048"/>
          </a:xfrm>
          <a:prstGeom prst="ellipse">
            <a:avLst/>
          </a:prstGeom>
          <a:solidFill>
            <a:srgbClr val="02A8BC"/>
          </a:solidFill>
          <a:ln w="12700">
            <a:solidFill>
              <a:srgbClr val="02A8BC"/>
            </a:solidFill>
            <a:prstDash val="solid"/>
          </a:ln>
        </p:spPr>
      </p:sp>
      <p:sp>
        <p:nvSpPr>
          <p:cNvPr id="26" name="Text 24"/>
          <p:cNvSpPr/>
          <p:nvPr/>
        </p:nvSpPr>
        <p:spPr>
          <a:xfrm>
            <a:off x="4425696" y="1563624"/>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7" name="Text 25"/>
          <p:cNvSpPr/>
          <p:nvPr/>
        </p:nvSpPr>
        <p:spPr>
          <a:xfrm>
            <a:off x="4078224" y="2039112"/>
            <a:ext cx="1078992" cy="292608"/>
          </a:xfrm>
          <a:prstGeom prst="rect">
            <a:avLst/>
          </a:prstGeom>
          <a:noFill/>
          <a:ln/>
        </p:spPr>
        <p:txBody>
          <a:bodyPr wrap="square" rtlCol="0" anchor="ctr"/>
          <a:lstStyle/>
          <a:p>
            <a:pPr marL="0" indent="0" algn="ctr">
              <a:buNone/>
            </a:pPr>
            <a:r>
              <a:rPr lang="en-US" sz="1050" b="1" dirty="0">
                <a:solidFill>
                  <a:srgbClr val="FFFFFF"/>
                </a:solidFill>
                <a:latin typeface="Arial" pitchFamily="34" charset="0"/>
                <a:ea typeface="Arial" pitchFamily="34" charset="-122"/>
                <a:cs typeface="Arial" pitchFamily="34" charset="-120"/>
              </a:rPr>
              <a:t>Scenarios</a:t>
            </a:r>
            <a:endParaRPr lang="en-US" sz="1050" dirty="0"/>
          </a:p>
        </p:txBody>
      </p:sp>
      <p:sp>
        <p:nvSpPr>
          <p:cNvPr id="28" name="Text 26"/>
          <p:cNvSpPr/>
          <p:nvPr/>
        </p:nvSpPr>
        <p:spPr>
          <a:xfrm>
            <a:off x="4078224" y="2350008"/>
            <a:ext cx="1078992" cy="868680"/>
          </a:xfrm>
          <a:prstGeom prst="rect">
            <a:avLst/>
          </a:prstGeom>
          <a:noFill/>
          <a:ln/>
        </p:spPr>
        <p:txBody>
          <a:bodyPr wrap="square" rtlCol="0" anchor="ctr"/>
          <a:lstStyle/>
          <a:p>
            <a:pPr marL="0" indent="0" algn="ctr">
              <a:buNone/>
            </a:pPr>
            <a:r>
              <a:rPr lang="en-US" sz="900" dirty="0">
                <a:solidFill>
                  <a:srgbClr val="8BAEC8"/>
                </a:solidFill>
                <a:latin typeface="Arial" pitchFamily="34" charset="0"/>
                <a:ea typeface="Arial" pitchFamily="34" charset="-122"/>
                <a:cs typeface="Arial" pitchFamily="34" charset="-120"/>
              </a:rPr>
              <a:t>Traceable test</a:t>
            </a:r>
            <a:endParaRPr lang="en-US" sz="900" dirty="0"/>
          </a:p>
          <a:p>
            <a:pPr marL="0" indent="0" algn="ctr">
              <a:buNone/>
            </a:pPr>
            <a:r>
              <a:rPr lang="en-US" sz="900" dirty="0">
                <a:solidFill>
                  <a:srgbClr val="8BAEC8"/>
                </a:solidFill>
                <a:latin typeface="Arial" pitchFamily="34" charset="0"/>
                <a:ea typeface="Arial" pitchFamily="34" charset="-122"/>
                <a:cs typeface="Arial" pitchFamily="34" charset="-120"/>
              </a:rPr>
              <a:t>scenarios generated</a:t>
            </a:r>
            <a:endParaRPr lang="en-US" sz="900" dirty="0"/>
          </a:p>
        </p:txBody>
      </p:sp>
      <p:sp>
        <p:nvSpPr>
          <p:cNvPr id="29" name="Shape 27"/>
          <p:cNvSpPr/>
          <p:nvPr/>
        </p:nvSpPr>
        <p:spPr>
          <a:xfrm>
            <a:off x="5175504" y="2423160"/>
            <a:ext cx="128016" cy="0"/>
          </a:xfrm>
          <a:prstGeom prst="line">
            <a:avLst/>
          </a:prstGeom>
          <a:noFill/>
          <a:ln w="19050">
            <a:solidFill>
              <a:srgbClr val="028090"/>
            </a:solidFill>
            <a:prstDash val="solid"/>
          </a:ln>
        </p:spPr>
      </p:sp>
      <p:sp>
        <p:nvSpPr>
          <p:cNvPr id="30" name="Shape 28"/>
          <p:cNvSpPr/>
          <p:nvPr/>
        </p:nvSpPr>
        <p:spPr>
          <a:xfrm>
            <a:off x="5321808" y="1417320"/>
            <a:ext cx="1078992" cy="2011680"/>
          </a:xfrm>
          <a:prstGeom prst="roundRect">
            <a:avLst>
              <a:gd name="adj" fmla="val 8475"/>
            </a:avLst>
          </a:prstGeom>
          <a:solidFill>
            <a:srgbClr val="1F3A5F"/>
          </a:solidFill>
          <a:ln w="12700">
            <a:solidFill>
              <a:srgbClr val="2A4A72"/>
            </a:solidFill>
            <a:prstDash val="solid"/>
          </a:ln>
          <a:effectLst>
            <a:outerShdw blurRad="127000" dist="38100" dir="2700000" algn="bl" rotWithShape="0">
              <a:srgbClr val="000000">
                <a:alpha val="12000"/>
              </a:srgbClr>
            </a:outerShdw>
          </a:effectLst>
        </p:spPr>
      </p:sp>
      <p:sp>
        <p:nvSpPr>
          <p:cNvPr id="31" name="Shape 29"/>
          <p:cNvSpPr/>
          <p:nvPr/>
        </p:nvSpPr>
        <p:spPr>
          <a:xfrm>
            <a:off x="5669280" y="1563624"/>
            <a:ext cx="384048" cy="384048"/>
          </a:xfrm>
          <a:prstGeom prst="ellipse">
            <a:avLst/>
          </a:prstGeom>
          <a:solidFill>
            <a:srgbClr val="028090"/>
          </a:solidFill>
          <a:ln w="12700">
            <a:solidFill>
              <a:srgbClr val="028090"/>
            </a:solidFill>
            <a:prstDash val="solid"/>
          </a:ln>
        </p:spPr>
      </p:sp>
      <p:sp>
        <p:nvSpPr>
          <p:cNvPr id="32" name="Text 30"/>
          <p:cNvSpPr/>
          <p:nvPr/>
        </p:nvSpPr>
        <p:spPr>
          <a:xfrm>
            <a:off x="5669280" y="1563624"/>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33" name="Text 31"/>
          <p:cNvSpPr/>
          <p:nvPr/>
        </p:nvSpPr>
        <p:spPr>
          <a:xfrm>
            <a:off x="5321808" y="2039112"/>
            <a:ext cx="1078992" cy="292608"/>
          </a:xfrm>
          <a:prstGeom prst="rect">
            <a:avLst/>
          </a:prstGeom>
          <a:noFill/>
          <a:ln/>
        </p:spPr>
        <p:txBody>
          <a:bodyPr wrap="square" rtlCol="0" anchor="ctr"/>
          <a:lstStyle/>
          <a:p>
            <a:pPr marL="0" indent="0" algn="ctr">
              <a:buNone/>
            </a:pPr>
            <a:r>
              <a:rPr lang="en-US" sz="1050" b="1" dirty="0">
                <a:solidFill>
                  <a:srgbClr val="FFFFFF"/>
                </a:solidFill>
                <a:latin typeface="Arial" pitchFamily="34" charset="0"/>
                <a:ea typeface="Arial" pitchFamily="34" charset="-122"/>
                <a:cs typeface="Arial" pitchFamily="34" charset="-120"/>
              </a:rPr>
              <a:t>Test Cases</a:t>
            </a:r>
            <a:endParaRPr lang="en-US" sz="1050" dirty="0"/>
          </a:p>
        </p:txBody>
      </p:sp>
      <p:sp>
        <p:nvSpPr>
          <p:cNvPr id="34" name="Text 32"/>
          <p:cNvSpPr/>
          <p:nvPr/>
        </p:nvSpPr>
        <p:spPr>
          <a:xfrm>
            <a:off x="5321808" y="2350008"/>
            <a:ext cx="1078992" cy="868680"/>
          </a:xfrm>
          <a:prstGeom prst="rect">
            <a:avLst/>
          </a:prstGeom>
          <a:noFill/>
          <a:ln/>
        </p:spPr>
        <p:txBody>
          <a:bodyPr wrap="square" rtlCol="0" anchor="ctr"/>
          <a:lstStyle/>
          <a:p>
            <a:pPr marL="0" indent="0" algn="ctr">
              <a:buNone/>
            </a:pPr>
            <a:r>
              <a:rPr lang="en-US" sz="900" dirty="0">
                <a:solidFill>
                  <a:srgbClr val="8BAEC8"/>
                </a:solidFill>
                <a:latin typeface="Arial" pitchFamily="34" charset="0"/>
                <a:ea typeface="Arial" pitchFamily="34" charset="-122"/>
                <a:cs typeface="Arial" pitchFamily="34" charset="-120"/>
              </a:rPr>
              <a:t>Gherkin BDD cases</a:t>
            </a:r>
            <a:endParaRPr lang="en-US" sz="900" dirty="0"/>
          </a:p>
          <a:p>
            <a:pPr marL="0" indent="0" algn="ctr">
              <a:buNone/>
            </a:pPr>
            <a:r>
              <a:rPr lang="en-US" sz="900" dirty="0">
                <a:solidFill>
                  <a:srgbClr val="8BAEC8"/>
                </a:solidFill>
                <a:latin typeface="Arial" pitchFamily="34" charset="0"/>
                <a:ea typeface="Arial" pitchFamily="34" charset="-122"/>
                <a:cs typeface="Arial" pitchFamily="34" charset="-120"/>
              </a:rPr>
              <a:t>with layer &amp; priority</a:t>
            </a:r>
            <a:endParaRPr lang="en-US" sz="900" dirty="0"/>
          </a:p>
        </p:txBody>
      </p:sp>
      <p:sp>
        <p:nvSpPr>
          <p:cNvPr id="35" name="Shape 33"/>
          <p:cNvSpPr/>
          <p:nvPr/>
        </p:nvSpPr>
        <p:spPr>
          <a:xfrm>
            <a:off x="6419088" y="2423160"/>
            <a:ext cx="128016" cy="0"/>
          </a:xfrm>
          <a:prstGeom prst="line">
            <a:avLst/>
          </a:prstGeom>
          <a:noFill/>
          <a:ln w="19050">
            <a:solidFill>
              <a:srgbClr val="028090"/>
            </a:solidFill>
            <a:prstDash val="solid"/>
          </a:ln>
        </p:spPr>
      </p:sp>
      <p:sp>
        <p:nvSpPr>
          <p:cNvPr id="36" name="Shape 34"/>
          <p:cNvSpPr/>
          <p:nvPr/>
        </p:nvSpPr>
        <p:spPr>
          <a:xfrm>
            <a:off x="6565392" y="1417320"/>
            <a:ext cx="1078992" cy="2011680"/>
          </a:xfrm>
          <a:prstGeom prst="roundRect">
            <a:avLst>
              <a:gd name="adj" fmla="val 8475"/>
            </a:avLst>
          </a:prstGeom>
          <a:solidFill>
            <a:srgbClr val="1F3A5F"/>
          </a:solidFill>
          <a:ln w="12700">
            <a:solidFill>
              <a:srgbClr val="2A4A72"/>
            </a:solidFill>
            <a:prstDash val="solid"/>
          </a:ln>
          <a:effectLst>
            <a:outerShdw blurRad="127000" dist="38100" dir="2700000" algn="bl" rotWithShape="0">
              <a:srgbClr val="000000">
                <a:alpha val="12000"/>
              </a:srgbClr>
            </a:outerShdw>
          </a:effectLst>
        </p:spPr>
      </p:sp>
      <p:sp>
        <p:nvSpPr>
          <p:cNvPr id="37" name="Shape 35"/>
          <p:cNvSpPr/>
          <p:nvPr/>
        </p:nvSpPr>
        <p:spPr>
          <a:xfrm>
            <a:off x="6912864" y="1563624"/>
            <a:ext cx="384048" cy="384048"/>
          </a:xfrm>
          <a:prstGeom prst="ellipse">
            <a:avLst/>
          </a:prstGeom>
          <a:solidFill>
            <a:srgbClr val="028090"/>
          </a:solidFill>
          <a:ln w="12700">
            <a:solidFill>
              <a:srgbClr val="028090"/>
            </a:solidFill>
            <a:prstDash val="solid"/>
          </a:ln>
        </p:spPr>
      </p:sp>
      <p:sp>
        <p:nvSpPr>
          <p:cNvPr id="38" name="Text 36"/>
          <p:cNvSpPr/>
          <p:nvPr/>
        </p:nvSpPr>
        <p:spPr>
          <a:xfrm>
            <a:off x="6912864" y="1563624"/>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39" name="Text 37"/>
          <p:cNvSpPr/>
          <p:nvPr/>
        </p:nvSpPr>
        <p:spPr>
          <a:xfrm>
            <a:off x="6565392" y="2039112"/>
            <a:ext cx="1078992" cy="292608"/>
          </a:xfrm>
          <a:prstGeom prst="rect">
            <a:avLst/>
          </a:prstGeom>
          <a:noFill/>
          <a:ln/>
        </p:spPr>
        <p:txBody>
          <a:bodyPr wrap="square" rtlCol="0" anchor="ctr"/>
          <a:lstStyle/>
          <a:p>
            <a:pPr marL="0" indent="0" algn="ctr">
              <a:buNone/>
            </a:pPr>
            <a:r>
              <a:rPr lang="en-US" sz="1050" b="1" dirty="0">
                <a:solidFill>
                  <a:srgbClr val="FFFFFF"/>
                </a:solidFill>
                <a:latin typeface="Arial" pitchFamily="34" charset="0"/>
                <a:ea typeface="Arial" pitchFamily="34" charset="-122"/>
                <a:cs typeface="Arial" pitchFamily="34" charset="-120"/>
              </a:rPr>
              <a:t>Automation</a:t>
            </a:r>
            <a:endParaRPr lang="en-US" sz="1050" dirty="0"/>
          </a:p>
        </p:txBody>
      </p:sp>
      <p:sp>
        <p:nvSpPr>
          <p:cNvPr id="40" name="Text 38"/>
          <p:cNvSpPr/>
          <p:nvPr/>
        </p:nvSpPr>
        <p:spPr>
          <a:xfrm>
            <a:off x="6565392" y="2350008"/>
            <a:ext cx="1078992" cy="868680"/>
          </a:xfrm>
          <a:prstGeom prst="rect">
            <a:avLst/>
          </a:prstGeom>
          <a:noFill/>
          <a:ln/>
        </p:spPr>
        <p:txBody>
          <a:bodyPr wrap="square" rtlCol="0" anchor="ctr"/>
          <a:lstStyle/>
          <a:p>
            <a:pPr marL="0" indent="0" algn="ctr">
              <a:buNone/>
            </a:pPr>
            <a:r>
              <a:rPr lang="en-US" sz="900" dirty="0">
                <a:solidFill>
                  <a:srgbClr val="8BAEC8"/>
                </a:solidFill>
                <a:latin typeface="Arial" pitchFamily="34" charset="0"/>
                <a:ea typeface="Arial" pitchFamily="34" charset="-122"/>
                <a:cs typeface="Arial" pitchFamily="34" charset="-120"/>
              </a:rPr>
              <a:t>A–F analysis:</a:t>
            </a:r>
            <a:endParaRPr lang="en-US" sz="900" dirty="0"/>
          </a:p>
          <a:p>
            <a:pPr marL="0" indent="0" algn="ctr">
              <a:buNone/>
            </a:pPr>
            <a:r>
              <a:rPr lang="en-US" sz="900" dirty="0">
                <a:solidFill>
                  <a:srgbClr val="8BAEC8"/>
                </a:solidFill>
                <a:latin typeface="Arial" pitchFamily="34" charset="0"/>
                <a:ea typeface="Arial" pitchFamily="34" charset="-122"/>
                <a:cs typeface="Arial" pitchFamily="34" charset="-120"/>
              </a:rPr>
              <a:t>feasibility &amp; ROI</a:t>
            </a:r>
            <a:endParaRPr lang="en-US" sz="900" dirty="0"/>
          </a:p>
        </p:txBody>
      </p:sp>
      <p:sp>
        <p:nvSpPr>
          <p:cNvPr id="41" name="Shape 39"/>
          <p:cNvSpPr/>
          <p:nvPr/>
        </p:nvSpPr>
        <p:spPr>
          <a:xfrm>
            <a:off x="7662672" y="2423160"/>
            <a:ext cx="128016" cy="0"/>
          </a:xfrm>
          <a:prstGeom prst="line">
            <a:avLst/>
          </a:prstGeom>
          <a:noFill/>
          <a:ln w="19050">
            <a:solidFill>
              <a:srgbClr val="028090"/>
            </a:solidFill>
            <a:prstDash val="solid"/>
          </a:ln>
        </p:spPr>
      </p:sp>
      <p:sp>
        <p:nvSpPr>
          <p:cNvPr id="42" name="Shape 40"/>
          <p:cNvSpPr/>
          <p:nvPr/>
        </p:nvSpPr>
        <p:spPr>
          <a:xfrm>
            <a:off x="7808976" y="1417320"/>
            <a:ext cx="1078992" cy="2011680"/>
          </a:xfrm>
          <a:prstGeom prst="roundRect">
            <a:avLst>
              <a:gd name="adj" fmla="val 8475"/>
            </a:avLst>
          </a:prstGeom>
          <a:solidFill>
            <a:srgbClr val="1F3A5F"/>
          </a:solidFill>
          <a:ln w="12700">
            <a:solidFill>
              <a:srgbClr val="2A4A72"/>
            </a:solidFill>
            <a:prstDash val="solid"/>
          </a:ln>
          <a:effectLst>
            <a:outerShdw blurRad="127000" dist="38100" dir="2700000" algn="bl" rotWithShape="0">
              <a:srgbClr val="000000">
                <a:alpha val="12000"/>
              </a:srgbClr>
            </a:outerShdw>
          </a:effectLst>
        </p:spPr>
      </p:sp>
      <p:sp>
        <p:nvSpPr>
          <p:cNvPr id="43" name="Shape 41"/>
          <p:cNvSpPr/>
          <p:nvPr/>
        </p:nvSpPr>
        <p:spPr>
          <a:xfrm>
            <a:off x="8156448" y="1563624"/>
            <a:ext cx="384048" cy="384048"/>
          </a:xfrm>
          <a:prstGeom prst="ellipse">
            <a:avLst/>
          </a:prstGeom>
          <a:solidFill>
            <a:srgbClr val="E67E22"/>
          </a:solidFill>
          <a:ln w="12700">
            <a:solidFill>
              <a:srgbClr val="E67E22"/>
            </a:solidFill>
            <a:prstDash val="solid"/>
          </a:ln>
        </p:spPr>
      </p:sp>
      <p:sp>
        <p:nvSpPr>
          <p:cNvPr id="44" name="Text 42"/>
          <p:cNvSpPr/>
          <p:nvPr/>
        </p:nvSpPr>
        <p:spPr>
          <a:xfrm>
            <a:off x="8156448" y="1563624"/>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7</a:t>
            </a:r>
            <a:endParaRPr lang="en-US" sz="1400" dirty="0"/>
          </a:p>
        </p:txBody>
      </p:sp>
      <p:sp>
        <p:nvSpPr>
          <p:cNvPr id="45" name="Text 43"/>
          <p:cNvSpPr/>
          <p:nvPr/>
        </p:nvSpPr>
        <p:spPr>
          <a:xfrm>
            <a:off x="7808976" y="2039112"/>
            <a:ext cx="1078992" cy="292608"/>
          </a:xfrm>
          <a:prstGeom prst="rect">
            <a:avLst/>
          </a:prstGeom>
          <a:noFill/>
          <a:ln/>
        </p:spPr>
        <p:txBody>
          <a:bodyPr wrap="square" rtlCol="0" anchor="ctr"/>
          <a:lstStyle/>
          <a:p>
            <a:pPr marL="0" indent="0" algn="ctr">
              <a:buNone/>
            </a:pPr>
            <a:r>
              <a:rPr lang="en-US" sz="1050" b="1" dirty="0">
                <a:solidFill>
                  <a:srgbClr val="FFFFFF"/>
                </a:solidFill>
                <a:latin typeface="Arial" pitchFamily="34" charset="0"/>
                <a:ea typeface="Arial" pitchFamily="34" charset="-122"/>
                <a:cs typeface="Arial" pitchFamily="34" charset="-120"/>
              </a:rPr>
              <a:t>Push to Xray</a:t>
            </a:r>
            <a:endParaRPr lang="en-US" sz="1050" dirty="0"/>
          </a:p>
        </p:txBody>
      </p:sp>
      <p:sp>
        <p:nvSpPr>
          <p:cNvPr id="46" name="Text 44"/>
          <p:cNvSpPr/>
          <p:nvPr/>
        </p:nvSpPr>
        <p:spPr>
          <a:xfrm>
            <a:off x="7808976" y="2350008"/>
            <a:ext cx="1078992" cy="868680"/>
          </a:xfrm>
          <a:prstGeom prst="rect">
            <a:avLst/>
          </a:prstGeom>
          <a:noFill/>
          <a:ln/>
        </p:spPr>
        <p:txBody>
          <a:bodyPr wrap="square" rtlCol="0" anchor="ctr"/>
          <a:lstStyle/>
          <a:p>
            <a:pPr marL="0" indent="0" algn="ctr">
              <a:buNone/>
            </a:pPr>
            <a:r>
              <a:rPr lang="en-US" sz="900" dirty="0">
                <a:solidFill>
                  <a:srgbClr val="8BAEC8"/>
                </a:solidFill>
                <a:latin typeface="Arial" pitchFamily="34" charset="0"/>
                <a:ea typeface="Arial" pitchFamily="34" charset="-122"/>
                <a:cs typeface="Arial" pitchFamily="34" charset="-120"/>
              </a:rPr>
              <a:t>Batch push with</a:t>
            </a:r>
            <a:endParaRPr lang="en-US" sz="900" dirty="0"/>
          </a:p>
          <a:p>
            <a:pPr marL="0" indent="0" algn="ctr">
              <a:buNone/>
            </a:pPr>
            <a:r>
              <a:rPr lang="en-US" sz="900" dirty="0">
                <a:solidFill>
                  <a:srgbClr val="8BAEC8"/>
                </a:solidFill>
                <a:latin typeface="Arial" pitchFamily="34" charset="0"/>
                <a:ea typeface="Arial" pitchFamily="34" charset="-122"/>
                <a:cs typeface="Arial" pitchFamily="34" charset="-120"/>
              </a:rPr>
              <a:t>dedup &amp; retry</a:t>
            </a:r>
            <a:endParaRPr lang="en-US" sz="900" dirty="0"/>
          </a:p>
        </p:txBody>
      </p:sp>
      <p:sp>
        <p:nvSpPr>
          <p:cNvPr id="47" name="Shape 45"/>
          <p:cNvSpPr/>
          <p:nvPr/>
        </p:nvSpPr>
        <p:spPr>
          <a:xfrm>
            <a:off x="347472" y="3703320"/>
            <a:ext cx="8449056" cy="475488"/>
          </a:xfrm>
          <a:prstGeom prst="roundRect">
            <a:avLst>
              <a:gd name="adj" fmla="val 15385"/>
            </a:avLst>
          </a:prstGeom>
          <a:solidFill>
            <a:srgbClr val="0D3B5E"/>
          </a:solidFill>
          <a:ln w="12700">
            <a:solidFill>
              <a:srgbClr val="02A8BC"/>
            </a:solidFill>
            <a:prstDash val="solid"/>
          </a:ln>
        </p:spPr>
      </p:sp>
      <p:sp>
        <p:nvSpPr>
          <p:cNvPr id="48" name="Text 46"/>
          <p:cNvSpPr/>
          <p:nvPr/>
        </p:nvSpPr>
        <p:spPr>
          <a:xfrm>
            <a:off x="457200" y="3730752"/>
            <a:ext cx="8229600" cy="402336"/>
          </a:xfrm>
          <a:prstGeom prst="rect">
            <a:avLst/>
          </a:prstGeom>
          <a:noFill/>
          <a:ln/>
        </p:spPr>
        <p:txBody>
          <a:bodyPr wrap="square" rtlCol="0" anchor="ctr"/>
          <a:lstStyle/>
          <a:p>
            <a:pPr marL="0" indent="0">
              <a:buNone/>
            </a:pPr>
            <a:r>
              <a:rPr lang="en-US" sz="1100" b="1" dirty="0">
                <a:solidFill>
                  <a:srgbClr val="02A8BC"/>
                </a:solidFill>
                <a:latin typeface="Arial" pitchFamily="34" charset="0"/>
                <a:ea typeface="Arial" pitchFamily="34" charset="-122"/>
                <a:cs typeface="Arial" pitchFamily="34" charset="-120"/>
              </a:rPr>
              <a:t>⚡  "Generate All Artifacts" — triggers steps 3–6 sequentially in one click, with live progress display</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name="Slide 5">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8778240" y="4846320"/>
            <a:ext cx="274320" cy="182880"/>
          </a:xfrm>
          <a:prstGeom prst="rect">
            <a:avLst/>
          </a:prstGeom>
          <a:noFill/>
          <a:ln/>
        </p:spPr>
        <p:txBody>
          <a:bodyPr wrap="square" rtlCol="0" anchor="ctr"/>
          <a:lstStyle/>
          <a:p>
            <a:pPr marL="0" indent="0" algn="r">
              <a:buNone/>
            </a:pPr>
            <a:r>
              <a:rPr lang="en-US" sz="800" dirty="0">
                <a:solidFill>
                  <a:srgbClr val="8898AA"/>
                </a:solidFill>
                <a:latin typeface="Arial" pitchFamily="34" charset="0"/>
                <a:ea typeface="Arial" pitchFamily="34" charset="-122"/>
                <a:cs typeface="Arial" pitchFamily="34" charset="-120"/>
              </a:rPr>
              <a:t>5</a:t>
            </a:r>
            <a:endParaRPr lang="en-US" sz="800" dirty="0"/>
          </a:p>
        </p:txBody>
      </p:sp>
      <p:sp>
        <p:nvSpPr>
          <p:cNvPr id="3" name="Shape 1"/>
          <p:cNvSpPr/>
          <p:nvPr/>
        </p:nvSpPr>
        <p:spPr>
          <a:xfrm>
            <a:off x="457200" y="274320"/>
            <a:ext cx="1371600" cy="256032"/>
          </a:xfrm>
          <a:prstGeom prst="roundRect">
            <a:avLst>
              <a:gd name="adj" fmla="val 21429"/>
            </a:avLst>
          </a:prstGeom>
          <a:solidFill>
            <a:srgbClr val="1B2A4A"/>
          </a:solidFill>
          <a:ln w="12700">
            <a:solidFill>
              <a:srgbClr val="1B2A4A"/>
            </a:solidFill>
            <a:prstDash val="solid"/>
          </a:ln>
        </p:spPr>
      </p:sp>
      <p:sp>
        <p:nvSpPr>
          <p:cNvPr id="4" name="Text 2"/>
          <p:cNvSpPr/>
          <p:nvPr/>
        </p:nvSpPr>
        <p:spPr>
          <a:xfrm>
            <a:off x="457200" y="274320"/>
            <a:ext cx="1371600" cy="256032"/>
          </a:xfrm>
          <a:prstGeom prst="rect">
            <a:avLst/>
          </a:prstGeom>
          <a:noFill/>
          <a:ln/>
        </p:spPr>
        <p:txBody>
          <a:bodyPr wrap="square" lIns="0" tIns="0" rIns="0" bIns="0" rtlCol="0" anchor="ctr"/>
          <a:lstStyle/>
          <a:p>
            <a:pPr marL="0" indent="0" algn="ctr">
              <a:buNone/>
            </a:pPr>
            <a:r>
              <a:rPr lang="en-US" sz="800" b="1" kern="0" spc="150" dirty="0">
                <a:solidFill>
                  <a:srgbClr val="FFFFFF"/>
                </a:solidFill>
                <a:latin typeface="Arial" pitchFamily="34" charset="0"/>
                <a:ea typeface="Arial" pitchFamily="34" charset="-122"/>
                <a:cs typeface="Arial" pitchFamily="34" charset="-120"/>
              </a:rPr>
              <a:t>BUSINESS VALUE</a:t>
            </a:r>
            <a:endParaRPr lang="en-US" sz="800" dirty="0"/>
          </a:p>
        </p:txBody>
      </p:sp>
      <p:sp>
        <p:nvSpPr>
          <p:cNvPr id="5" name="Text 3"/>
          <p:cNvSpPr/>
          <p:nvPr/>
        </p:nvSpPr>
        <p:spPr>
          <a:xfrm>
            <a:off x="457200" y="594360"/>
            <a:ext cx="8229600" cy="548640"/>
          </a:xfrm>
          <a:prstGeom prst="rect">
            <a:avLst/>
          </a:prstGeom>
          <a:noFill/>
          <a:ln/>
        </p:spPr>
        <p:txBody>
          <a:bodyPr wrap="square"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Key Metrics &amp; Business Impact</a:t>
            </a:r>
            <a:endParaRPr lang="en-US" sz="3000" dirty="0"/>
          </a:p>
        </p:txBody>
      </p:sp>
      <p:sp>
        <p:nvSpPr>
          <p:cNvPr id="6" name="Shape 4"/>
          <p:cNvSpPr/>
          <p:nvPr/>
        </p:nvSpPr>
        <p:spPr>
          <a:xfrm>
            <a:off x="457200" y="1234440"/>
            <a:ext cx="1965960" cy="1298448"/>
          </a:xfrm>
          <a:prstGeom prst="roundRect">
            <a:avLst>
              <a:gd name="adj" fmla="val 7042"/>
            </a:avLst>
          </a:prstGeom>
          <a:solidFill>
            <a:srgbClr val="1B2A4A"/>
          </a:solidFill>
          <a:ln w="12700">
            <a:solidFill>
              <a:srgbClr val="1B2A4A"/>
            </a:solidFill>
            <a:prstDash val="solid"/>
          </a:ln>
          <a:effectLst>
            <a:outerShdw blurRad="177800" dist="50800" dir="2700000" algn="bl" rotWithShape="0">
              <a:srgbClr val="000000">
                <a:alpha val="10000"/>
              </a:srgbClr>
            </a:outerShdw>
          </a:effectLst>
        </p:spPr>
      </p:sp>
      <p:sp>
        <p:nvSpPr>
          <p:cNvPr id="7" name="Text 5"/>
          <p:cNvSpPr/>
          <p:nvPr/>
        </p:nvSpPr>
        <p:spPr>
          <a:xfrm>
            <a:off x="457200" y="1399032"/>
            <a:ext cx="1965960" cy="594360"/>
          </a:xfrm>
          <a:prstGeom prst="rect">
            <a:avLst/>
          </a:prstGeom>
          <a:noFill/>
          <a:ln/>
        </p:spPr>
        <p:txBody>
          <a:bodyPr wrap="square" lIns="0" tIns="0" rIns="0" bIns="0" rtlCol="0" anchor="ctr"/>
          <a:lstStyle/>
          <a:p>
            <a:pPr marL="0" indent="0" algn="ctr">
              <a:buNone/>
            </a:pPr>
            <a:r>
              <a:rPr lang="en-US" sz="3800" b="1" dirty="0">
                <a:solidFill>
                  <a:srgbClr val="FFFFFF"/>
                </a:solidFill>
                <a:latin typeface="Cambria" pitchFamily="34" charset="0"/>
                <a:ea typeface="Cambria" pitchFamily="34" charset="-122"/>
                <a:cs typeface="Cambria" pitchFamily="34" charset="-120"/>
              </a:rPr>
              <a:t>v0.0.4</a:t>
            </a:r>
            <a:endParaRPr lang="en-US" sz="3800" dirty="0"/>
          </a:p>
        </p:txBody>
      </p:sp>
      <p:sp>
        <p:nvSpPr>
          <p:cNvPr id="8" name="Text 6"/>
          <p:cNvSpPr/>
          <p:nvPr/>
        </p:nvSpPr>
        <p:spPr>
          <a:xfrm>
            <a:off x="457200" y="1984248"/>
            <a:ext cx="1965960" cy="228600"/>
          </a:xfrm>
          <a:prstGeom prst="rect">
            <a:avLst/>
          </a:prstGeom>
          <a:noFill/>
          <a:ln/>
        </p:spPr>
        <p:txBody>
          <a:bodyPr wrap="square" lIns="0" tIns="0" rIns="0" bIns="0" rtlCol="0" anchor="ctr"/>
          <a:lstStyle/>
          <a:p>
            <a:pPr marL="0" indent="0" algn="ctr">
              <a:buNone/>
            </a:pPr>
            <a:r>
              <a:rPr lang="en-US" sz="1100" b="1" dirty="0">
                <a:solidFill>
                  <a:srgbClr val="8BAEC8"/>
                </a:solidFill>
                <a:latin typeface="Arial" pitchFamily="34" charset="0"/>
                <a:ea typeface="Arial" pitchFamily="34" charset="-122"/>
                <a:cs typeface="Arial" pitchFamily="34" charset="-120"/>
              </a:rPr>
              <a:t>Current Release</a:t>
            </a:r>
            <a:endParaRPr lang="en-US" sz="1100" dirty="0"/>
          </a:p>
        </p:txBody>
      </p:sp>
      <p:sp>
        <p:nvSpPr>
          <p:cNvPr id="9" name="Text 7"/>
          <p:cNvSpPr/>
          <p:nvPr/>
        </p:nvSpPr>
        <p:spPr>
          <a:xfrm>
            <a:off x="457200" y="2203704"/>
            <a:ext cx="1965960" cy="182880"/>
          </a:xfrm>
          <a:prstGeom prst="rect">
            <a:avLst/>
          </a:prstGeom>
          <a:noFill/>
          <a:ln/>
        </p:spPr>
        <p:txBody>
          <a:bodyPr wrap="square" lIns="0" tIns="0" rIns="0" bIns="0" rtlCol="0" anchor="ctr"/>
          <a:lstStyle/>
          <a:p>
            <a:pPr marL="0" indent="0" algn="ctr">
              <a:buNone/>
            </a:pPr>
            <a:r>
              <a:rPr lang="en-US" sz="900" dirty="0">
                <a:solidFill>
                  <a:srgbClr val="8BAEC8"/>
                </a:solidFill>
                <a:latin typeface="Arial" pitchFamily="34" charset="0"/>
                <a:ea typeface="Arial" pitchFamily="34" charset="-122"/>
                <a:cs typeface="Arial" pitchFamily="34" charset="-120"/>
              </a:rPr>
              <a:t>Live on GitHub</a:t>
            </a:r>
            <a:endParaRPr lang="en-US" sz="900" dirty="0"/>
          </a:p>
        </p:txBody>
      </p:sp>
      <p:sp>
        <p:nvSpPr>
          <p:cNvPr id="10" name="Shape 8"/>
          <p:cNvSpPr/>
          <p:nvPr/>
        </p:nvSpPr>
        <p:spPr>
          <a:xfrm>
            <a:off x="2651760" y="1234440"/>
            <a:ext cx="1965960" cy="1298448"/>
          </a:xfrm>
          <a:prstGeom prst="roundRect">
            <a:avLst>
              <a:gd name="adj" fmla="val 7042"/>
            </a:avLst>
          </a:prstGeom>
          <a:solidFill>
            <a:srgbClr val="028090"/>
          </a:solidFill>
          <a:ln w="12700">
            <a:solidFill>
              <a:srgbClr val="028090"/>
            </a:solidFill>
            <a:prstDash val="solid"/>
          </a:ln>
          <a:effectLst>
            <a:outerShdw blurRad="177800" dist="50800" dir="2700000" algn="bl" rotWithShape="0">
              <a:srgbClr val="000000">
                <a:alpha val="10000"/>
              </a:srgbClr>
            </a:outerShdw>
          </a:effectLst>
        </p:spPr>
      </p:sp>
      <p:sp>
        <p:nvSpPr>
          <p:cNvPr id="11" name="Text 9"/>
          <p:cNvSpPr/>
          <p:nvPr/>
        </p:nvSpPr>
        <p:spPr>
          <a:xfrm>
            <a:off x="2651760" y="1399032"/>
            <a:ext cx="1965960" cy="594360"/>
          </a:xfrm>
          <a:prstGeom prst="rect">
            <a:avLst/>
          </a:prstGeom>
          <a:noFill/>
          <a:ln/>
        </p:spPr>
        <p:txBody>
          <a:bodyPr wrap="square" lIns="0" tIns="0" rIns="0" bIns="0" rtlCol="0" anchor="ctr"/>
          <a:lstStyle/>
          <a:p>
            <a:pPr marL="0" indent="0" algn="ctr">
              <a:buNone/>
            </a:pPr>
            <a:r>
              <a:rPr lang="en-US" sz="3800" b="1" dirty="0">
                <a:solidFill>
                  <a:srgbClr val="FFFFFF"/>
                </a:solidFill>
                <a:latin typeface="Cambria" pitchFamily="34" charset="0"/>
                <a:ea typeface="Cambria" pitchFamily="34" charset="-122"/>
                <a:cs typeface="Cambria" pitchFamily="34" charset="-120"/>
              </a:rPr>
              <a:t>3</a:t>
            </a:r>
            <a:endParaRPr lang="en-US" sz="3800" dirty="0"/>
          </a:p>
        </p:txBody>
      </p:sp>
      <p:sp>
        <p:nvSpPr>
          <p:cNvPr id="12" name="Text 10"/>
          <p:cNvSpPr/>
          <p:nvPr/>
        </p:nvSpPr>
        <p:spPr>
          <a:xfrm>
            <a:off x="2651760" y="1984248"/>
            <a:ext cx="1965960" cy="228600"/>
          </a:xfrm>
          <a:prstGeom prst="rect">
            <a:avLst/>
          </a:prstGeom>
          <a:noFill/>
          <a:ln/>
        </p:spPr>
        <p:txBody>
          <a:bodyPr wrap="square" lIns="0" tIns="0" rIns="0" bIns="0" rtlCol="0" anchor="ctr"/>
          <a:lstStyle/>
          <a:p>
            <a:pPr marL="0" indent="0" algn="ctr">
              <a:buNone/>
            </a:pPr>
            <a:r>
              <a:rPr lang="en-US" sz="1100" b="1" dirty="0">
                <a:solidFill>
                  <a:srgbClr val="A0D8D0"/>
                </a:solidFill>
                <a:latin typeface="Arial" pitchFamily="34" charset="0"/>
                <a:ea typeface="Arial" pitchFamily="34" charset="-122"/>
                <a:cs typeface="Arial" pitchFamily="34" charset="-120"/>
              </a:rPr>
              <a:t>LLM Providers</a:t>
            </a:r>
            <a:endParaRPr lang="en-US" sz="1100" dirty="0"/>
          </a:p>
        </p:txBody>
      </p:sp>
      <p:sp>
        <p:nvSpPr>
          <p:cNvPr id="13" name="Text 11"/>
          <p:cNvSpPr/>
          <p:nvPr/>
        </p:nvSpPr>
        <p:spPr>
          <a:xfrm>
            <a:off x="2651760" y="2203704"/>
            <a:ext cx="1965960" cy="182880"/>
          </a:xfrm>
          <a:prstGeom prst="rect">
            <a:avLst/>
          </a:prstGeom>
          <a:noFill/>
          <a:ln/>
        </p:spPr>
        <p:txBody>
          <a:bodyPr wrap="square" lIns="0" tIns="0" rIns="0" bIns="0" rtlCol="0" anchor="ctr"/>
          <a:lstStyle/>
          <a:p>
            <a:pPr marL="0" indent="0" algn="ctr">
              <a:buNone/>
            </a:pPr>
            <a:r>
              <a:rPr lang="en-US" sz="900" dirty="0">
                <a:solidFill>
                  <a:srgbClr val="A0D8D0"/>
                </a:solidFill>
                <a:latin typeface="Arial" pitchFamily="34" charset="0"/>
                <a:ea typeface="Arial" pitchFamily="34" charset="-122"/>
                <a:cs typeface="Arial" pitchFamily="34" charset="-120"/>
              </a:rPr>
              <a:t>OpenAI · Anthropic · Gemini</a:t>
            </a:r>
            <a:endParaRPr lang="en-US" sz="900" dirty="0"/>
          </a:p>
        </p:txBody>
      </p:sp>
      <p:sp>
        <p:nvSpPr>
          <p:cNvPr id="14" name="Shape 12"/>
          <p:cNvSpPr/>
          <p:nvPr/>
        </p:nvSpPr>
        <p:spPr>
          <a:xfrm>
            <a:off x="4846320" y="1234440"/>
            <a:ext cx="1965960" cy="1298448"/>
          </a:xfrm>
          <a:prstGeom prst="roundRect">
            <a:avLst>
              <a:gd name="adj" fmla="val 7042"/>
            </a:avLst>
          </a:prstGeom>
          <a:solidFill>
            <a:srgbClr val="1A6B3A"/>
          </a:solidFill>
          <a:ln w="12700">
            <a:solidFill>
              <a:srgbClr val="1A6B3A"/>
            </a:solidFill>
            <a:prstDash val="solid"/>
          </a:ln>
          <a:effectLst>
            <a:outerShdw blurRad="177800" dist="50800" dir="2700000" algn="bl" rotWithShape="0">
              <a:srgbClr val="000000">
                <a:alpha val="10000"/>
              </a:srgbClr>
            </a:outerShdw>
          </a:effectLst>
        </p:spPr>
      </p:sp>
      <p:sp>
        <p:nvSpPr>
          <p:cNvPr id="15" name="Text 13"/>
          <p:cNvSpPr/>
          <p:nvPr/>
        </p:nvSpPr>
        <p:spPr>
          <a:xfrm>
            <a:off x="4846320" y="1399032"/>
            <a:ext cx="1965960" cy="594360"/>
          </a:xfrm>
          <a:prstGeom prst="rect">
            <a:avLst/>
          </a:prstGeom>
          <a:noFill/>
          <a:ln/>
        </p:spPr>
        <p:txBody>
          <a:bodyPr wrap="square" lIns="0" tIns="0" rIns="0" bIns="0" rtlCol="0" anchor="ctr"/>
          <a:lstStyle/>
          <a:p>
            <a:pPr marL="0" indent="0" algn="ctr">
              <a:buNone/>
            </a:pPr>
            <a:r>
              <a:rPr lang="en-US" sz="3800" b="1" dirty="0">
                <a:solidFill>
                  <a:srgbClr val="FFFFFF"/>
                </a:solidFill>
                <a:latin typeface="Cambria" pitchFamily="34" charset="0"/>
                <a:ea typeface="Cambria" pitchFamily="34" charset="-122"/>
                <a:cs typeface="Cambria" pitchFamily="34" charset="-120"/>
              </a:rPr>
              <a:t>9</a:t>
            </a:r>
            <a:endParaRPr lang="en-US" sz="3800" dirty="0"/>
          </a:p>
        </p:txBody>
      </p:sp>
      <p:sp>
        <p:nvSpPr>
          <p:cNvPr id="16" name="Text 14"/>
          <p:cNvSpPr/>
          <p:nvPr/>
        </p:nvSpPr>
        <p:spPr>
          <a:xfrm>
            <a:off x="4846320" y="1984248"/>
            <a:ext cx="1965960" cy="228600"/>
          </a:xfrm>
          <a:prstGeom prst="rect">
            <a:avLst/>
          </a:prstGeom>
          <a:noFill/>
          <a:ln/>
        </p:spPr>
        <p:txBody>
          <a:bodyPr wrap="square" lIns="0" tIns="0" rIns="0" bIns="0" rtlCol="0" anchor="ctr"/>
          <a:lstStyle/>
          <a:p>
            <a:pPr marL="0" indent="0" algn="ctr">
              <a:buNone/>
            </a:pPr>
            <a:r>
              <a:rPr lang="en-US" sz="1100" b="1" dirty="0">
                <a:solidFill>
                  <a:srgbClr val="A0D8A0"/>
                </a:solidFill>
                <a:latin typeface="Arial" pitchFamily="34" charset="0"/>
                <a:ea typeface="Arial" pitchFamily="34" charset="-122"/>
                <a:cs typeface="Arial" pitchFamily="34" charset="-120"/>
              </a:rPr>
              <a:t>Workflow Steps</a:t>
            </a:r>
            <a:endParaRPr lang="en-US" sz="1100" dirty="0"/>
          </a:p>
        </p:txBody>
      </p:sp>
      <p:sp>
        <p:nvSpPr>
          <p:cNvPr id="17" name="Text 15"/>
          <p:cNvSpPr/>
          <p:nvPr/>
        </p:nvSpPr>
        <p:spPr>
          <a:xfrm>
            <a:off x="4846320" y="2203704"/>
            <a:ext cx="1965960" cy="182880"/>
          </a:xfrm>
          <a:prstGeom prst="rect">
            <a:avLst/>
          </a:prstGeom>
          <a:noFill/>
          <a:ln/>
        </p:spPr>
        <p:txBody>
          <a:bodyPr wrap="square" lIns="0" tIns="0" rIns="0" bIns="0" rtlCol="0" anchor="ctr"/>
          <a:lstStyle/>
          <a:p>
            <a:pPr marL="0" indent="0" algn="ctr">
              <a:buNone/>
            </a:pPr>
            <a:r>
              <a:rPr lang="en-US" sz="900" dirty="0">
                <a:solidFill>
                  <a:srgbClr val="A0D8A0"/>
                </a:solidFill>
                <a:latin typeface="Arial" pitchFamily="34" charset="0"/>
                <a:ea typeface="Arial" pitchFamily="34" charset="-122"/>
                <a:cs typeface="Arial" pitchFamily="34" charset="-120"/>
              </a:rPr>
              <a:t>Configure → Push to Xray</a:t>
            </a:r>
            <a:endParaRPr lang="en-US" sz="900" dirty="0"/>
          </a:p>
        </p:txBody>
      </p:sp>
      <p:sp>
        <p:nvSpPr>
          <p:cNvPr id="18" name="Shape 16"/>
          <p:cNvSpPr/>
          <p:nvPr/>
        </p:nvSpPr>
        <p:spPr>
          <a:xfrm>
            <a:off x="7040880" y="1234440"/>
            <a:ext cx="1965960" cy="1298448"/>
          </a:xfrm>
          <a:prstGeom prst="roundRect">
            <a:avLst>
              <a:gd name="adj" fmla="val 7042"/>
            </a:avLst>
          </a:prstGeom>
          <a:solidFill>
            <a:srgbClr val="E67E22"/>
          </a:solidFill>
          <a:ln w="12700">
            <a:solidFill>
              <a:srgbClr val="E67E22"/>
            </a:solidFill>
            <a:prstDash val="solid"/>
          </a:ln>
          <a:effectLst>
            <a:outerShdw blurRad="177800" dist="50800" dir="2700000" algn="bl" rotWithShape="0">
              <a:srgbClr val="000000">
                <a:alpha val="10000"/>
              </a:srgbClr>
            </a:outerShdw>
          </a:effectLst>
        </p:spPr>
      </p:sp>
      <p:sp>
        <p:nvSpPr>
          <p:cNvPr id="19" name="Text 17"/>
          <p:cNvSpPr/>
          <p:nvPr/>
        </p:nvSpPr>
        <p:spPr>
          <a:xfrm>
            <a:off x="7040880" y="1399032"/>
            <a:ext cx="1965960" cy="594360"/>
          </a:xfrm>
          <a:prstGeom prst="rect">
            <a:avLst/>
          </a:prstGeom>
          <a:noFill/>
          <a:ln/>
        </p:spPr>
        <p:txBody>
          <a:bodyPr wrap="square" lIns="0" tIns="0" rIns="0" bIns="0" rtlCol="0" anchor="ctr"/>
          <a:lstStyle/>
          <a:p>
            <a:pPr marL="0" indent="0" algn="ctr">
              <a:buNone/>
            </a:pPr>
            <a:r>
              <a:rPr lang="en-US" sz="3800" b="1" dirty="0">
                <a:solidFill>
                  <a:srgbClr val="FFFFFF"/>
                </a:solidFill>
                <a:latin typeface="Cambria" pitchFamily="34" charset="0"/>
                <a:ea typeface="Cambria" pitchFamily="34" charset="-122"/>
                <a:cs typeface="Cambria" pitchFamily="34" charset="-120"/>
              </a:rPr>
              <a:t>4</a:t>
            </a:r>
            <a:endParaRPr lang="en-US" sz="3800" dirty="0"/>
          </a:p>
        </p:txBody>
      </p:sp>
      <p:sp>
        <p:nvSpPr>
          <p:cNvPr id="20" name="Text 18"/>
          <p:cNvSpPr/>
          <p:nvPr/>
        </p:nvSpPr>
        <p:spPr>
          <a:xfrm>
            <a:off x="7040880" y="1984248"/>
            <a:ext cx="1965960" cy="228600"/>
          </a:xfrm>
          <a:prstGeom prst="rect">
            <a:avLst/>
          </a:prstGeom>
          <a:noFill/>
          <a:ln/>
        </p:spPr>
        <p:txBody>
          <a:bodyPr wrap="square" lIns="0" tIns="0" rIns="0" bIns="0" rtlCol="0" anchor="ctr"/>
          <a:lstStyle/>
          <a:p>
            <a:pPr marL="0" indent="0" algn="ctr">
              <a:buNone/>
            </a:pPr>
            <a:r>
              <a:rPr lang="en-US" sz="1100" b="1" dirty="0">
                <a:solidFill>
                  <a:srgbClr val="F5CBA0"/>
                </a:solidFill>
                <a:latin typeface="Arial" pitchFamily="34" charset="0"/>
                <a:ea typeface="Arial" pitchFamily="34" charset="-122"/>
                <a:cs typeface="Arial" pitchFamily="34" charset="-120"/>
              </a:rPr>
              <a:t>Export Formats</a:t>
            </a:r>
            <a:endParaRPr lang="en-US" sz="1100" dirty="0"/>
          </a:p>
        </p:txBody>
      </p:sp>
      <p:sp>
        <p:nvSpPr>
          <p:cNvPr id="21" name="Text 19"/>
          <p:cNvSpPr/>
          <p:nvPr/>
        </p:nvSpPr>
        <p:spPr>
          <a:xfrm>
            <a:off x="7040880" y="2203704"/>
            <a:ext cx="1965960" cy="182880"/>
          </a:xfrm>
          <a:prstGeom prst="rect">
            <a:avLst/>
          </a:prstGeom>
          <a:noFill/>
          <a:ln/>
        </p:spPr>
        <p:txBody>
          <a:bodyPr wrap="square" lIns="0" tIns="0" rIns="0" bIns="0" rtlCol="0" anchor="ctr"/>
          <a:lstStyle/>
          <a:p>
            <a:pPr marL="0" indent="0" algn="ctr">
              <a:buNone/>
            </a:pPr>
            <a:r>
              <a:rPr lang="en-US" sz="900" dirty="0">
                <a:solidFill>
                  <a:srgbClr val="F5CBA0"/>
                </a:solidFill>
                <a:latin typeface="Arial" pitchFamily="34" charset="0"/>
                <a:ea typeface="Arial" pitchFamily="34" charset="-122"/>
                <a:cs typeface="Arial" pitchFamily="34" charset="-120"/>
              </a:rPr>
              <a:t>.feature · CSV · JSON</a:t>
            </a:r>
            <a:endParaRPr lang="en-US" sz="900" dirty="0"/>
          </a:p>
        </p:txBody>
      </p:sp>
      <p:sp>
        <p:nvSpPr>
          <p:cNvPr id="22" name="Shape 20"/>
          <p:cNvSpPr/>
          <p:nvPr/>
        </p:nvSpPr>
        <p:spPr>
          <a:xfrm>
            <a:off x="457200" y="2743200"/>
            <a:ext cx="4069080" cy="1051560"/>
          </a:xfrm>
          <a:prstGeom prst="roundRect">
            <a:avLst>
              <a:gd name="adj" fmla="val 8696"/>
            </a:avLst>
          </a:prstGeom>
          <a:solidFill>
            <a:srgbClr val="FFFFFF"/>
          </a:solidFill>
          <a:ln w="12700">
            <a:solidFill>
              <a:srgbClr val="D0DAE8"/>
            </a:solidFill>
            <a:prstDash val="solid"/>
          </a:ln>
          <a:effectLst>
            <a:outerShdw blurRad="177800" dist="50800" dir="2700000" algn="bl" rotWithShape="0">
              <a:srgbClr val="000000">
                <a:alpha val="10000"/>
              </a:srgbClr>
            </a:outerShdw>
          </a:effectLst>
        </p:spPr>
      </p:sp>
      <p:sp>
        <p:nvSpPr>
          <p:cNvPr id="23" name="Shape 21"/>
          <p:cNvSpPr/>
          <p:nvPr/>
        </p:nvSpPr>
        <p:spPr>
          <a:xfrm>
            <a:off x="621792" y="3035808"/>
            <a:ext cx="457200" cy="457200"/>
          </a:xfrm>
          <a:prstGeom prst="ellipse">
            <a:avLst/>
          </a:prstGeom>
          <a:solidFill>
            <a:srgbClr val="E4EEF8"/>
          </a:solidFill>
          <a:ln w="12700">
            <a:solidFill>
              <a:srgbClr val="E4EEF8"/>
            </a:solidFill>
            <a:prstDash val="solid"/>
          </a:ln>
        </p:spPr>
      </p:sp>
      <p:sp>
        <p:nvSpPr>
          <p:cNvPr id="24" name="Text 22"/>
          <p:cNvSpPr/>
          <p:nvPr/>
        </p:nvSpPr>
        <p:spPr>
          <a:xfrm>
            <a:off x="621792" y="3017520"/>
            <a:ext cx="457200" cy="457200"/>
          </a:xfrm>
          <a:prstGeom prst="rect">
            <a:avLst/>
          </a:prstGeom>
          <a:noFill/>
          <a:ln/>
        </p:spPr>
        <p:txBody>
          <a:bodyPr wrap="square" lIns="0" tIns="0" rIns="0" bIns="0" rtlCol="0" anchor="ctr"/>
          <a:lstStyle/>
          <a:p>
            <a:pPr marL="0" indent="0" algn="ctr">
              <a:buNone/>
            </a:pPr>
            <a:r>
              <a:rPr lang="en-US" sz="1700" dirty="0">
                <a:solidFill>
                  <a:srgbClr val="000000"/>
                </a:solidFill>
              </a:rPr>
              <a:t>🎯</a:t>
            </a:r>
            <a:endParaRPr lang="en-US" sz="1700" dirty="0"/>
          </a:p>
        </p:txBody>
      </p:sp>
      <p:sp>
        <p:nvSpPr>
          <p:cNvPr id="25" name="Text 23"/>
          <p:cNvSpPr/>
          <p:nvPr/>
        </p:nvSpPr>
        <p:spPr>
          <a:xfrm>
            <a:off x="1207008" y="2871216"/>
            <a:ext cx="3182112" cy="274320"/>
          </a:xfrm>
          <a:prstGeom prst="rect">
            <a:avLst/>
          </a:prstGeom>
          <a:noFill/>
          <a:ln/>
        </p:spPr>
        <p:txBody>
          <a:bodyPr wrap="square" rtlCol="0" anchor="ctr"/>
          <a:lstStyle/>
          <a:p>
            <a:pPr marL="0" indent="0">
              <a:buNone/>
            </a:pPr>
            <a:r>
              <a:rPr lang="en-US" sz="1200" b="1" dirty="0">
                <a:solidFill>
                  <a:srgbClr val="1B2A4A"/>
                </a:solidFill>
                <a:latin typeface="Arial" pitchFamily="34" charset="0"/>
                <a:ea typeface="Arial" pitchFamily="34" charset="-122"/>
                <a:cs typeface="Arial" pitchFamily="34" charset="-120"/>
              </a:rPr>
              <a:t>Zero Context Switching</a:t>
            </a:r>
            <a:endParaRPr lang="en-US" sz="1200" dirty="0"/>
          </a:p>
        </p:txBody>
      </p:sp>
      <p:sp>
        <p:nvSpPr>
          <p:cNvPr id="26" name="Text 24"/>
          <p:cNvSpPr/>
          <p:nvPr/>
        </p:nvSpPr>
        <p:spPr>
          <a:xfrm>
            <a:off x="1207008" y="3145536"/>
            <a:ext cx="3182112" cy="566928"/>
          </a:xfrm>
          <a:prstGeom prst="rect">
            <a:avLst/>
          </a:prstGeom>
          <a:noFill/>
          <a:ln/>
        </p:spPr>
        <p:txBody>
          <a:bodyPr wrap="square" rtlCol="0" anchor="ctr"/>
          <a:lstStyle/>
          <a:p>
            <a:pPr marL="0" indent="0">
              <a:buNone/>
            </a:pPr>
            <a:r>
              <a:rPr lang="en-US" sz="1000" dirty="0">
                <a:solidFill>
                  <a:srgbClr val="4A5568"/>
                </a:solidFill>
                <a:latin typeface="Arial" pitchFamily="34" charset="0"/>
                <a:ea typeface="Arial" pitchFamily="34" charset="-122"/>
                <a:cs typeface="Arial" pitchFamily="34" charset="-120"/>
              </a:rPr>
              <a:t>Requirements, generation, and Xray push all happen in one VS Code panel. No tab hopping, no copy-pasting between tools.</a:t>
            </a:r>
            <a:endParaRPr lang="en-US" sz="1000" dirty="0"/>
          </a:p>
        </p:txBody>
      </p:sp>
      <p:sp>
        <p:nvSpPr>
          <p:cNvPr id="27" name="Shape 25"/>
          <p:cNvSpPr/>
          <p:nvPr/>
        </p:nvSpPr>
        <p:spPr>
          <a:xfrm>
            <a:off x="4800600" y="2743200"/>
            <a:ext cx="4069080" cy="1051560"/>
          </a:xfrm>
          <a:prstGeom prst="roundRect">
            <a:avLst>
              <a:gd name="adj" fmla="val 8696"/>
            </a:avLst>
          </a:prstGeom>
          <a:solidFill>
            <a:srgbClr val="FFFFFF"/>
          </a:solidFill>
          <a:ln w="12700">
            <a:solidFill>
              <a:srgbClr val="D0DAE8"/>
            </a:solidFill>
            <a:prstDash val="solid"/>
          </a:ln>
          <a:effectLst>
            <a:outerShdw blurRad="177800" dist="50800" dir="2700000" algn="bl" rotWithShape="0">
              <a:srgbClr val="000000">
                <a:alpha val="10000"/>
              </a:srgbClr>
            </a:outerShdw>
          </a:effectLst>
        </p:spPr>
      </p:sp>
      <p:sp>
        <p:nvSpPr>
          <p:cNvPr id="28" name="Shape 26"/>
          <p:cNvSpPr/>
          <p:nvPr/>
        </p:nvSpPr>
        <p:spPr>
          <a:xfrm>
            <a:off x="4965192" y="3035808"/>
            <a:ext cx="457200" cy="457200"/>
          </a:xfrm>
          <a:prstGeom prst="ellipse">
            <a:avLst/>
          </a:prstGeom>
          <a:solidFill>
            <a:srgbClr val="E4EEF8"/>
          </a:solidFill>
          <a:ln w="12700">
            <a:solidFill>
              <a:srgbClr val="E4EEF8"/>
            </a:solidFill>
            <a:prstDash val="solid"/>
          </a:ln>
        </p:spPr>
      </p:sp>
      <p:sp>
        <p:nvSpPr>
          <p:cNvPr id="29" name="Text 27"/>
          <p:cNvSpPr/>
          <p:nvPr/>
        </p:nvSpPr>
        <p:spPr>
          <a:xfrm>
            <a:off x="4965192" y="3017520"/>
            <a:ext cx="457200" cy="457200"/>
          </a:xfrm>
          <a:prstGeom prst="rect">
            <a:avLst/>
          </a:prstGeom>
          <a:noFill/>
          <a:ln/>
        </p:spPr>
        <p:txBody>
          <a:bodyPr wrap="square" lIns="0" tIns="0" rIns="0" bIns="0" rtlCol="0" anchor="ctr"/>
          <a:lstStyle/>
          <a:p>
            <a:pPr marL="0" indent="0" algn="ctr">
              <a:buNone/>
            </a:pPr>
            <a:r>
              <a:rPr lang="en-US" sz="1700" dirty="0">
                <a:solidFill>
                  <a:srgbClr val="000000"/>
                </a:solidFill>
              </a:rPr>
              <a:t>🔐</a:t>
            </a:r>
            <a:endParaRPr lang="en-US" sz="1700" dirty="0"/>
          </a:p>
        </p:txBody>
      </p:sp>
      <p:sp>
        <p:nvSpPr>
          <p:cNvPr id="30" name="Text 28"/>
          <p:cNvSpPr/>
          <p:nvPr/>
        </p:nvSpPr>
        <p:spPr>
          <a:xfrm>
            <a:off x="5550408" y="2871216"/>
            <a:ext cx="3182112" cy="274320"/>
          </a:xfrm>
          <a:prstGeom prst="rect">
            <a:avLst/>
          </a:prstGeom>
          <a:noFill/>
          <a:ln/>
        </p:spPr>
        <p:txBody>
          <a:bodyPr wrap="square" rtlCol="0" anchor="ctr"/>
          <a:lstStyle/>
          <a:p>
            <a:pPr marL="0" indent="0">
              <a:buNone/>
            </a:pPr>
            <a:r>
              <a:rPr lang="en-US" sz="1200" b="1" dirty="0">
                <a:solidFill>
                  <a:srgbClr val="1B2A4A"/>
                </a:solidFill>
                <a:latin typeface="Arial" pitchFamily="34" charset="0"/>
                <a:ea typeface="Arial" pitchFamily="34" charset="-122"/>
                <a:cs typeface="Arial" pitchFamily="34" charset="-120"/>
              </a:rPr>
              <a:t>Enterprise-Grade Security</a:t>
            </a:r>
            <a:endParaRPr lang="en-US" sz="1200" dirty="0"/>
          </a:p>
        </p:txBody>
      </p:sp>
      <p:sp>
        <p:nvSpPr>
          <p:cNvPr id="31" name="Text 29"/>
          <p:cNvSpPr/>
          <p:nvPr/>
        </p:nvSpPr>
        <p:spPr>
          <a:xfrm>
            <a:off x="5550408" y="3145536"/>
            <a:ext cx="3182112" cy="566928"/>
          </a:xfrm>
          <a:prstGeom prst="rect">
            <a:avLst/>
          </a:prstGeom>
          <a:noFill/>
          <a:ln/>
        </p:spPr>
        <p:txBody>
          <a:bodyPr wrap="square" rtlCol="0" anchor="ctr"/>
          <a:lstStyle/>
          <a:p>
            <a:pPr marL="0" indent="0">
              <a:buNone/>
            </a:pPr>
            <a:r>
              <a:rPr lang="en-US" sz="1000" dirty="0">
                <a:solidFill>
                  <a:srgbClr val="4A5568"/>
                </a:solidFill>
                <a:latin typeface="Arial" pitchFamily="34" charset="0"/>
                <a:ea typeface="Arial" pitchFamily="34" charset="-122"/>
                <a:cs typeface="Arial" pitchFamily="34" charset="-120"/>
              </a:rPr>
              <a:t>All API keys stored in OS-native SecretStorage. Xray uses OAuth 2.0. No credentials ever committed or logged.</a:t>
            </a:r>
            <a:endParaRPr lang="en-US" sz="1000" dirty="0"/>
          </a:p>
        </p:txBody>
      </p:sp>
      <p:sp>
        <p:nvSpPr>
          <p:cNvPr id="32" name="Shape 30"/>
          <p:cNvSpPr/>
          <p:nvPr/>
        </p:nvSpPr>
        <p:spPr>
          <a:xfrm>
            <a:off x="457200" y="3913632"/>
            <a:ext cx="4069080" cy="1051560"/>
          </a:xfrm>
          <a:prstGeom prst="roundRect">
            <a:avLst>
              <a:gd name="adj" fmla="val 8696"/>
            </a:avLst>
          </a:prstGeom>
          <a:solidFill>
            <a:srgbClr val="FFFFFF"/>
          </a:solidFill>
          <a:ln w="12700">
            <a:solidFill>
              <a:srgbClr val="D0DAE8"/>
            </a:solidFill>
            <a:prstDash val="solid"/>
          </a:ln>
          <a:effectLst>
            <a:outerShdw blurRad="177800" dist="50800" dir="2700000" algn="bl" rotWithShape="0">
              <a:srgbClr val="000000">
                <a:alpha val="10000"/>
              </a:srgbClr>
            </a:outerShdw>
          </a:effectLst>
        </p:spPr>
      </p:sp>
      <p:sp>
        <p:nvSpPr>
          <p:cNvPr id="33" name="Shape 31"/>
          <p:cNvSpPr/>
          <p:nvPr/>
        </p:nvSpPr>
        <p:spPr>
          <a:xfrm>
            <a:off x="621792" y="4206240"/>
            <a:ext cx="457200" cy="457200"/>
          </a:xfrm>
          <a:prstGeom prst="ellipse">
            <a:avLst/>
          </a:prstGeom>
          <a:solidFill>
            <a:srgbClr val="E4EEF8"/>
          </a:solidFill>
          <a:ln w="12700">
            <a:solidFill>
              <a:srgbClr val="E4EEF8"/>
            </a:solidFill>
            <a:prstDash val="solid"/>
          </a:ln>
        </p:spPr>
      </p:sp>
      <p:sp>
        <p:nvSpPr>
          <p:cNvPr id="34" name="Text 32"/>
          <p:cNvSpPr/>
          <p:nvPr/>
        </p:nvSpPr>
        <p:spPr>
          <a:xfrm>
            <a:off x="621792" y="4187952"/>
            <a:ext cx="457200" cy="457200"/>
          </a:xfrm>
          <a:prstGeom prst="rect">
            <a:avLst/>
          </a:prstGeom>
          <a:noFill/>
          <a:ln/>
        </p:spPr>
        <p:txBody>
          <a:bodyPr wrap="square" lIns="0" tIns="0" rIns="0" bIns="0" rtlCol="0" anchor="ctr"/>
          <a:lstStyle/>
          <a:p>
            <a:pPr marL="0" indent="0" algn="ctr">
              <a:buNone/>
            </a:pPr>
            <a:r>
              <a:rPr lang="en-US" sz="1700" dirty="0">
                <a:solidFill>
                  <a:srgbClr val="000000"/>
                </a:solidFill>
              </a:rPr>
              <a:t>📊</a:t>
            </a:r>
            <a:endParaRPr lang="en-US" sz="1700" dirty="0"/>
          </a:p>
        </p:txBody>
      </p:sp>
      <p:sp>
        <p:nvSpPr>
          <p:cNvPr id="35" name="Text 33"/>
          <p:cNvSpPr/>
          <p:nvPr/>
        </p:nvSpPr>
        <p:spPr>
          <a:xfrm>
            <a:off x="1207008" y="4041648"/>
            <a:ext cx="3182112" cy="274320"/>
          </a:xfrm>
          <a:prstGeom prst="rect">
            <a:avLst/>
          </a:prstGeom>
          <a:noFill/>
          <a:ln/>
        </p:spPr>
        <p:txBody>
          <a:bodyPr wrap="square" rtlCol="0" anchor="ctr"/>
          <a:lstStyle/>
          <a:p>
            <a:pPr marL="0" indent="0">
              <a:buNone/>
            </a:pPr>
            <a:r>
              <a:rPr lang="en-US" sz="1200" b="1" dirty="0">
                <a:solidFill>
                  <a:srgbClr val="1B2A4A"/>
                </a:solidFill>
                <a:latin typeface="Arial" pitchFamily="34" charset="0"/>
                <a:ea typeface="Arial" pitchFamily="34" charset="-122"/>
                <a:cs typeface="Arial" pitchFamily="34" charset="-120"/>
              </a:rPr>
              <a:t>Data-Driven Automation</a:t>
            </a:r>
            <a:endParaRPr lang="en-US" sz="1200" dirty="0"/>
          </a:p>
        </p:txBody>
      </p:sp>
      <p:sp>
        <p:nvSpPr>
          <p:cNvPr id="36" name="Text 34"/>
          <p:cNvSpPr/>
          <p:nvPr/>
        </p:nvSpPr>
        <p:spPr>
          <a:xfrm>
            <a:off x="1207008" y="4315968"/>
            <a:ext cx="3182112" cy="566928"/>
          </a:xfrm>
          <a:prstGeom prst="rect">
            <a:avLst/>
          </a:prstGeom>
          <a:noFill/>
          <a:ln/>
        </p:spPr>
        <p:txBody>
          <a:bodyPr wrap="square" rtlCol="0" anchor="ctr"/>
          <a:lstStyle/>
          <a:p>
            <a:pPr marL="0" indent="0">
              <a:buNone/>
            </a:pPr>
            <a:r>
              <a:rPr lang="en-US" sz="1000" dirty="0">
                <a:solidFill>
                  <a:srgbClr val="4A5568"/>
                </a:solidFill>
                <a:latin typeface="Arial" pitchFamily="34" charset="0"/>
                <a:ea typeface="Arial" pitchFamily="34" charset="-122"/>
                <a:cs typeface="Arial" pitchFamily="34" charset="-120"/>
              </a:rPr>
              <a:t>Every test case receives an objective feasibility score (1–5) and ROI score (1–10). Automation backlog is prioritized, not guessed.</a:t>
            </a:r>
            <a:endParaRPr lang="en-US" sz="1000" dirty="0"/>
          </a:p>
        </p:txBody>
      </p:sp>
      <p:sp>
        <p:nvSpPr>
          <p:cNvPr id="37" name="Shape 35"/>
          <p:cNvSpPr/>
          <p:nvPr/>
        </p:nvSpPr>
        <p:spPr>
          <a:xfrm>
            <a:off x="4800600" y="3913632"/>
            <a:ext cx="4069080" cy="1051560"/>
          </a:xfrm>
          <a:prstGeom prst="roundRect">
            <a:avLst>
              <a:gd name="adj" fmla="val 8696"/>
            </a:avLst>
          </a:prstGeom>
          <a:solidFill>
            <a:srgbClr val="FFFFFF"/>
          </a:solidFill>
          <a:ln w="12700">
            <a:solidFill>
              <a:srgbClr val="D0DAE8"/>
            </a:solidFill>
            <a:prstDash val="solid"/>
          </a:ln>
          <a:effectLst>
            <a:outerShdw blurRad="177800" dist="50800" dir="2700000" algn="bl" rotWithShape="0">
              <a:srgbClr val="000000">
                <a:alpha val="10000"/>
              </a:srgbClr>
            </a:outerShdw>
          </a:effectLst>
        </p:spPr>
      </p:sp>
      <p:sp>
        <p:nvSpPr>
          <p:cNvPr id="38" name="Shape 36"/>
          <p:cNvSpPr/>
          <p:nvPr/>
        </p:nvSpPr>
        <p:spPr>
          <a:xfrm>
            <a:off x="4965192" y="4206240"/>
            <a:ext cx="457200" cy="457200"/>
          </a:xfrm>
          <a:prstGeom prst="ellipse">
            <a:avLst/>
          </a:prstGeom>
          <a:solidFill>
            <a:srgbClr val="E4EEF8"/>
          </a:solidFill>
          <a:ln w="12700">
            <a:solidFill>
              <a:srgbClr val="E4EEF8"/>
            </a:solidFill>
            <a:prstDash val="solid"/>
          </a:ln>
        </p:spPr>
      </p:sp>
      <p:sp>
        <p:nvSpPr>
          <p:cNvPr id="39" name="Text 37"/>
          <p:cNvSpPr/>
          <p:nvPr/>
        </p:nvSpPr>
        <p:spPr>
          <a:xfrm>
            <a:off x="4965192" y="4187952"/>
            <a:ext cx="457200" cy="457200"/>
          </a:xfrm>
          <a:prstGeom prst="rect">
            <a:avLst/>
          </a:prstGeom>
          <a:noFill/>
          <a:ln/>
        </p:spPr>
        <p:txBody>
          <a:bodyPr wrap="square" lIns="0" tIns="0" rIns="0" bIns="0" rtlCol="0" anchor="ctr"/>
          <a:lstStyle/>
          <a:p>
            <a:pPr marL="0" indent="0" algn="ctr">
              <a:buNone/>
            </a:pPr>
            <a:r>
              <a:rPr lang="en-US" sz="1700" dirty="0">
                <a:solidFill>
                  <a:srgbClr val="000000"/>
                </a:solidFill>
              </a:rPr>
              <a:t>♻️</a:t>
            </a:r>
            <a:endParaRPr lang="en-US" sz="1700" dirty="0"/>
          </a:p>
        </p:txBody>
      </p:sp>
      <p:sp>
        <p:nvSpPr>
          <p:cNvPr id="40" name="Text 38"/>
          <p:cNvSpPr/>
          <p:nvPr/>
        </p:nvSpPr>
        <p:spPr>
          <a:xfrm>
            <a:off x="5550408" y="4041648"/>
            <a:ext cx="3182112" cy="274320"/>
          </a:xfrm>
          <a:prstGeom prst="rect">
            <a:avLst/>
          </a:prstGeom>
          <a:noFill/>
          <a:ln/>
        </p:spPr>
        <p:txBody>
          <a:bodyPr wrap="square" rtlCol="0" anchor="ctr"/>
          <a:lstStyle/>
          <a:p>
            <a:pPr marL="0" indent="0">
              <a:buNone/>
            </a:pPr>
            <a:r>
              <a:rPr lang="en-US" sz="1200" b="1" dirty="0">
                <a:solidFill>
                  <a:srgbClr val="1B2A4A"/>
                </a:solidFill>
                <a:latin typeface="Arial" pitchFamily="34" charset="0"/>
                <a:ea typeface="Arial" pitchFamily="34" charset="-122"/>
                <a:cs typeface="Arial" pitchFamily="34" charset="-120"/>
              </a:rPr>
              <a:t>Duplicate Prevention</a:t>
            </a:r>
            <a:endParaRPr lang="en-US" sz="1200" dirty="0"/>
          </a:p>
        </p:txBody>
      </p:sp>
      <p:sp>
        <p:nvSpPr>
          <p:cNvPr id="41" name="Text 39"/>
          <p:cNvSpPr/>
          <p:nvPr/>
        </p:nvSpPr>
        <p:spPr>
          <a:xfrm>
            <a:off x="5550408" y="4315968"/>
            <a:ext cx="3182112" cy="566928"/>
          </a:xfrm>
          <a:prstGeom prst="rect">
            <a:avLst/>
          </a:prstGeom>
          <a:noFill/>
          <a:ln/>
        </p:spPr>
        <p:txBody>
          <a:bodyPr wrap="square" rtlCol="0" anchor="ctr"/>
          <a:lstStyle/>
          <a:p>
            <a:pPr marL="0" indent="0">
              <a:buNone/>
            </a:pPr>
            <a:r>
              <a:rPr lang="en-US" sz="1000" dirty="0">
                <a:solidFill>
                  <a:srgbClr val="4A5568"/>
                </a:solidFill>
                <a:latin typeface="Arial" pitchFamily="34" charset="0"/>
                <a:ea typeface="Arial" pitchFamily="34" charset="-122"/>
                <a:cs typeface="Arial" pitchFamily="34" charset="-120"/>
              </a:rPr>
              <a:t>SHA-256 fingerprinting ensures the same test case is never pushed twice — even across sessions — saving Xray cleanup time.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name="Slide 6">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8778240" y="4846320"/>
            <a:ext cx="274320" cy="182880"/>
          </a:xfrm>
          <a:prstGeom prst="rect">
            <a:avLst/>
          </a:prstGeom>
          <a:noFill/>
          <a:ln/>
        </p:spPr>
        <p:txBody>
          <a:bodyPr wrap="square" rtlCol="0" anchor="ctr"/>
          <a:lstStyle/>
          <a:p>
            <a:pPr marL="0" indent="0" algn="r">
              <a:buNone/>
            </a:pPr>
            <a:r>
              <a:rPr lang="en-US" sz="800" dirty="0">
                <a:solidFill>
                  <a:srgbClr val="8898AA"/>
                </a:solidFill>
                <a:latin typeface="Arial" pitchFamily="34" charset="0"/>
                <a:ea typeface="Arial" pitchFamily="34" charset="-122"/>
                <a:cs typeface="Arial" pitchFamily="34" charset="-120"/>
              </a:rPr>
              <a:t>6</a:t>
            </a:r>
            <a:endParaRPr lang="en-US" sz="800" dirty="0"/>
          </a:p>
        </p:txBody>
      </p:sp>
      <p:sp>
        <p:nvSpPr>
          <p:cNvPr id="3" name="Shape 1"/>
          <p:cNvSpPr/>
          <p:nvPr/>
        </p:nvSpPr>
        <p:spPr>
          <a:xfrm>
            <a:off x="457200" y="274320"/>
            <a:ext cx="1371600" cy="256032"/>
          </a:xfrm>
          <a:prstGeom prst="roundRect">
            <a:avLst>
              <a:gd name="adj" fmla="val 21429"/>
            </a:avLst>
          </a:prstGeom>
          <a:solidFill>
            <a:srgbClr val="028090"/>
          </a:solidFill>
          <a:ln w="12700">
            <a:solidFill>
              <a:srgbClr val="028090"/>
            </a:solidFill>
            <a:prstDash val="solid"/>
          </a:ln>
        </p:spPr>
      </p:sp>
      <p:sp>
        <p:nvSpPr>
          <p:cNvPr id="4" name="Text 2"/>
          <p:cNvSpPr/>
          <p:nvPr/>
        </p:nvSpPr>
        <p:spPr>
          <a:xfrm>
            <a:off x="457200" y="274320"/>
            <a:ext cx="1371600" cy="256032"/>
          </a:xfrm>
          <a:prstGeom prst="rect">
            <a:avLst/>
          </a:prstGeom>
          <a:noFill/>
          <a:ln/>
        </p:spPr>
        <p:txBody>
          <a:bodyPr wrap="square" lIns="0" tIns="0" rIns="0" bIns="0" rtlCol="0" anchor="ctr"/>
          <a:lstStyle/>
          <a:p>
            <a:pPr marL="0" indent="0" algn="ctr">
              <a:buNone/>
            </a:pPr>
            <a:r>
              <a:rPr lang="en-US" sz="800" b="1" kern="0" spc="150" dirty="0">
                <a:solidFill>
                  <a:srgbClr val="FFFFFF"/>
                </a:solidFill>
                <a:latin typeface="Arial" pitchFamily="34" charset="0"/>
                <a:ea typeface="Arial" pitchFamily="34" charset="-122"/>
                <a:cs typeface="Arial" pitchFamily="34" charset="-120"/>
              </a:rPr>
              <a:t>CURRENT STATUS</a:t>
            </a:r>
            <a:endParaRPr lang="en-US" sz="800" dirty="0"/>
          </a:p>
        </p:txBody>
      </p:sp>
      <p:sp>
        <p:nvSpPr>
          <p:cNvPr id="5" name="Text 3"/>
          <p:cNvSpPr/>
          <p:nvPr/>
        </p:nvSpPr>
        <p:spPr>
          <a:xfrm>
            <a:off x="457200" y="594360"/>
            <a:ext cx="8229600" cy="548640"/>
          </a:xfrm>
          <a:prstGeom prst="rect">
            <a:avLst/>
          </a:prstGeom>
          <a:noFill/>
          <a:ln/>
        </p:spPr>
        <p:txBody>
          <a:bodyPr wrap="square"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Release v0.0.4 — Delivered</a:t>
            </a:r>
            <a:endParaRPr lang="en-US" sz="3000" dirty="0"/>
          </a:p>
        </p:txBody>
      </p:sp>
      <p:sp>
        <p:nvSpPr>
          <p:cNvPr id="6" name="Shape 4"/>
          <p:cNvSpPr/>
          <p:nvPr/>
        </p:nvSpPr>
        <p:spPr>
          <a:xfrm>
            <a:off x="457200" y="1243584"/>
            <a:ext cx="8229600" cy="402336"/>
          </a:xfrm>
          <a:prstGeom prst="roundRect">
            <a:avLst>
              <a:gd name="adj" fmla="val 18182"/>
            </a:avLst>
          </a:prstGeom>
          <a:solidFill>
            <a:srgbClr val="E8F8F0"/>
          </a:solidFill>
          <a:ln w="12700">
            <a:solidFill>
              <a:srgbClr val="27AE60"/>
            </a:solidFill>
            <a:prstDash val="solid"/>
          </a:ln>
        </p:spPr>
      </p:sp>
      <p:sp>
        <p:nvSpPr>
          <p:cNvPr id="7" name="Text 5"/>
          <p:cNvSpPr/>
          <p:nvPr/>
        </p:nvSpPr>
        <p:spPr>
          <a:xfrm>
            <a:off x="548640" y="1261872"/>
            <a:ext cx="8046720" cy="365760"/>
          </a:xfrm>
          <a:prstGeom prst="rect">
            <a:avLst/>
          </a:prstGeom>
          <a:noFill/>
          <a:ln/>
        </p:spPr>
        <p:txBody>
          <a:bodyPr wrap="square" rtlCol="0" anchor="ctr"/>
          <a:lstStyle/>
          <a:p>
            <a:pPr marL="0" indent="0">
              <a:buNone/>
            </a:pPr>
            <a:r>
              <a:rPr lang="en-US" sz="1100" b="1" dirty="0">
                <a:solidFill>
                  <a:srgbClr val="1A6B3A"/>
                </a:solidFill>
                <a:latin typeface="Arial" pitchFamily="34" charset="0"/>
                <a:ea typeface="Arial" pitchFamily="34" charset="-122"/>
                <a:cs typeface="Arial" pitchFamily="34" charset="-120"/>
              </a:rPr>
              <a:t>✅  Version 0.0.4 is merged to main and live on GitHub  ·  CI/CD: All checks passed (build-test ✓ · lint ✓ · typecheck ✓)</a:t>
            </a:r>
            <a:endParaRPr lang="en-US" sz="1100" dirty="0"/>
          </a:p>
        </p:txBody>
      </p:sp>
      <p:sp>
        <p:nvSpPr>
          <p:cNvPr id="8" name="Shape 6"/>
          <p:cNvSpPr/>
          <p:nvPr/>
        </p:nvSpPr>
        <p:spPr>
          <a:xfrm>
            <a:off x="457200" y="1810512"/>
            <a:ext cx="8229600" cy="530352"/>
          </a:xfrm>
          <a:prstGeom prst="roundRect">
            <a:avLst>
              <a:gd name="adj" fmla="val 17241"/>
            </a:avLst>
          </a:prstGeom>
          <a:solidFill>
            <a:srgbClr val="FFFFFF"/>
          </a:solidFill>
          <a:ln w="12700">
            <a:solidFill>
              <a:srgbClr val="D0DAE8"/>
            </a:solidFill>
            <a:prstDash val="solid"/>
          </a:ln>
          <a:effectLst>
            <a:outerShdw blurRad="177800" dist="50800" dir="2700000" algn="bl" rotWithShape="0">
              <a:srgbClr val="000000">
                <a:alpha val="10000"/>
              </a:srgbClr>
            </a:outerShdw>
          </a:effectLst>
        </p:spPr>
      </p:sp>
      <p:sp>
        <p:nvSpPr>
          <p:cNvPr id="9" name="Shape 7"/>
          <p:cNvSpPr/>
          <p:nvPr/>
        </p:nvSpPr>
        <p:spPr>
          <a:xfrm>
            <a:off x="603504" y="1929384"/>
            <a:ext cx="292608" cy="292608"/>
          </a:xfrm>
          <a:prstGeom prst="ellipse">
            <a:avLst/>
          </a:prstGeom>
          <a:solidFill>
            <a:srgbClr val="27AE60"/>
          </a:solidFill>
          <a:ln w="12700">
            <a:solidFill>
              <a:srgbClr val="27AE60"/>
            </a:solidFill>
            <a:prstDash val="solid"/>
          </a:ln>
        </p:spPr>
      </p:sp>
      <p:sp>
        <p:nvSpPr>
          <p:cNvPr id="10" name="Text 8"/>
          <p:cNvSpPr/>
          <p:nvPr/>
        </p:nvSpPr>
        <p:spPr>
          <a:xfrm>
            <a:off x="603504" y="1920240"/>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11" name="Text 9"/>
          <p:cNvSpPr/>
          <p:nvPr/>
        </p:nvSpPr>
        <p:spPr>
          <a:xfrm>
            <a:off x="1005839" y="1865376"/>
            <a:ext cx="2639319" cy="237744"/>
          </a:xfrm>
          <a:prstGeom prst="rect">
            <a:avLst/>
          </a:prstGeom>
          <a:noFill/>
          <a:ln/>
        </p:spPr>
        <p:txBody>
          <a:bodyPr wrap="square" rtlCol="0" anchor="ctr"/>
          <a:lstStyle/>
          <a:p>
            <a:pPr marL="0" indent="0">
              <a:buNone/>
            </a:pPr>
            <a:r>
              <a:rPr lang="en-US" sz="1100" b="1" dirty="0">
                <a:solidFill>
                  <a:srgbClr val="1B2A4A"/>
                </a:solidFill>
                <a:latin typeface="Arial" pitchFamily="34" charset="0"/>
                <a:ea typeface="Arial" pitchFamily="34" charset="-122"/>
                <a:cs typeface="Arial" pitchFamily="34" charset="-120"/>
              </a:rPr>
              <a:t>Sequential Generation Workflow</a:t>
            </a:r>
            <a:endParaRPr lang="en-US" sz="1100" dirty="0"/>
          </a:p>
        </p:txBody>
      </p:sp>
      <p:sp>
        <p:nvSpPr>
          <p:cNvPr id="12" name="Text 10"/>
          <p:cNvSpPr/>
          <p:nvPr/>
        </p:nvSpPr>
        <p:spPr>
          <a:xfrm>
            <a:off x="1005840" y="2084832"/>
            <a:ext cx="7498080" cy="219456"/>
          </a:xfrm>
          <a:prstGeom prst="rect">
            <a:avLst/>
          </a:prstGeom>
          <a:noFill/>
          <a:ln/>
        </p:spPr>
        <p:txBody>
          <a:bodyPr wrap="square" rtlCol="0" anchor="ctr"/>
          <a:lstStyle/>
          <a:p>
            <a:pPr marL="0" indent="0">
              <a:buNone/>
            </a:pPr>
            <a:r>
              <a:rPr lang="en-US" sz="1000" dirty="0">
                <a:solidFill>
                  <a:srgbClr val="4A5568"/>
                </a:solidFill>
                <a:latin typeface="Arial" pitchFamily="34" charset="0"/>
                <a:ea typeface="Arial" pitchFamily="34" charset="-122"/>
                <a:cs typeface="Arial" pitchFamily="34" charset="-120"/>
              </a:rPr>
              <a:t>"Generate All Artifacts" button chains all 4 AI steps in sequence with live progress feedback (1/4 → 4/4). Stale-state bug fixed using React refs.</a:t>
            </a:r>
            <a:endParaRPr lang="en-US" sz="1000" dirty="0"/>
          </a:p>
        </p:txBody>
      </p:sp>
      <p:sp>
        <p:nvSpPr>
          <p:cNvPr id="13" name="Shape 11"/>
          <p:cNvSpPr/>
          <p:nvPr/>
        </p:nvSpPr>
        <p:spPr>
          <a:xfrm>
            <a:off x="457200" y="2414016"/>
            <a:ext cx="8229600" cy="530352"/>
          </a:xfrm>
          <a:prstGeom prst="roundRect">
            <a:avLst>
              <a:gd name="adj" fmla="val 17241"/>
            </a:avLst>
          </a:prstGeom>
          <a:solidFill>
            <a:srgbClr val="FFFFFF"/>
          </a:solidFill>
          <a:ln w="12700">
            <a:solidFill>
              <a:srgbClr val="D0DAE8"/>
            </a:solidFill>
            <a:prstDash val="solid"/>
          </a:ln>
          <a:effectLst>
            <a:outerShdw blurRad="177800" dist="50800" dir="2700000" algn="bl" rotWithShape="0">
              <a:srgbClr val="000000">
                <a:alpha val="10000"/>
              </a:srgbClr>
            </a:outerShdw>
          </a:effectLst>
        </p:spPr>
      </p:sp>
      <p:sp>
        <p:nvSpPr>
          <p:cNvPr id="14" name="Shape 12"/>
          <p:cNvSpPr/>
          <p:nvPr/>
        </p:nvSpPr>
        <p:spPr>
          <a:xfrm>
            <a:off x="603504" y="2532888"/>
            <a:ext cx="292608" cy="292608"/>
          </a:xfrm>
          <a:prstGeom prst="ellipse">
            <a:avLst/>
          </a:prstGeom>
          <a:solidFill>
            <a:srgbClr val="27AE60"/>
          </a:solidFill>
          <a:ln w="12700">
            <a:solidFill>
              <a:srgbClr val="27AE60"/>
            </a:solidFill>
            <a:prstDash val="solid"/>
          </a:ln>
        </p:spPr>
      </p:sp>
      <p:sp>
        <p:nvSpPr>
          <p:cNvPr id="15" name="Text 13"/>
          <p:cNvSpPr/>
          <p:nvPr/>
        </p:nvSpPr>
        <p:spPr>
          <a:xfrm>
            <a:off x="603504" y="2523744"/>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16" name="Text 14"/>
          <p:cNvSpPr/>
          <p:nvPr/>
        </p:nvSpPr>
        <p:spPr>
          <a:xfrm>
            <a:off x="1005840" y="2468880"/>
            <a:ext cx="2286000" cy="237744"/>
          </a:xfrm>
          <a:prstGeom prst="rect">
            <a:avLst/>
          </a:prstGeom>
          <a:noFill/>
          <a:ln/>
        </p:spPr>
        <p:txBody>
          <a:bodyPr wrap="square" rtlCol="0" anchor="ctr"/>
          <a:lstStyle/>
          <a:p>
            <a:pPr marL="0" indent="0">
              <a:buNone/>
            </a:pPr>
            <a:r>
              <a:rPr lang="en-US" sz="1100" b="1" dirty="0">
                <a:solidFill>
                  <a:srgbClr val="1B2A4A"/>
                </a:solidFill>
                <a:latin typeface="Arial" pitchFamily="34" charset="0"/>
                <a:ea typeface="Arial" pitchFamily="34" charset="-122"/>
                <a:cs typeface="Arial" pitchFamily="34" charset="-120"/>
              </a:rPr>
              <a:t>Gemini Provider Reliability</a:t>
            </a:r>
            <a:endParaRPr lang="en-US" sz="1100" dirty="0"/>
          </a:p>
        </p:txBody>
      </p:sp>
      <p:sp>
        <p:nvSpPr>
          <p:cNvPr id="17" name="Text 15"/>
          <p:cNvSpPr/>
          <p:nvPr/>
        </p:nvSpPr>
        <p:spPr>
          <a:xfrm>
            <a:off x="1005840" y="2688336"/>
            <a:ext cx="7498080" cy="219456"/>
          </a:xfrm>
          <a:prstGeom prst="rect">
            <a:avLst/>
          </a:prstGeom>
          <a:noFill/>
          <a:ln/>
        </p:spPr>
        <p:txBody>
          <a:bodyPr wrap="square" rtlCol="0" anchor="ctr"/>
          <a:lstStyle/>
          <a:p>
            <a:pPr marL="0" indent="0">
              <a:buNone/>
            </a:pPr>
            <a:r>
              <a:rPr lang="en-US" sz="1000" dirty="0">
                <a:solidFill>
                  <a:srgbClr val="4A5568"/>
                </a:solidFill>
                <a:latin typeface="Arial" pitchFamily="34" charset="0"/>
                <a:ea typeface="Arial" pitchFamily="34" charset="-122"/>
                <a:cs typeface="Arial" pitchFamily="34" charset="-120"/>
              </a:rPr>
              <a:t>Transient retry logic with exponential backoff (1200ms base + jitter). Automatic fallback to available models on 429/503. Audio/TTS models filtered from dropdown.</a:t>
            </a:r>
            <a:endParaRPr lang="en-US" sz="1000" dirty="0"/>
          </a:p>
        </p:txBody>
      </p:sp>
      <p:sp>
        <p:nvSpPr>
          <p:cNvPr id="18" name="Shape 16"/>
          <p:cNvSpPr/>
          <p:nvPr/>
        </p:nvSpPr>
        <p:spPr>
          <a:xfrm>
            <a:off x="457200" y="3017520"/>
            <a:ext cx="8229600" cy="530352"/>
          </a:xfrm>
          <a:prstGeom prst="roundRect">
            <a:avLst>
              <a:gd name="adj" fmla="val 17241"/>
            </a:avLst>
          </a:prstGeom>
          <a:solidFill>
            <a:srgbClr val="FFFFFF"/>
          </a:solidFill>
          <a:ln w="12700">
            <a:solidFill>
              <a:srgbClr val="D0DAE8"/>
            </a:solidFill>
            <a:prstDash val="solid"/>
          </a:ln>
          <a:effectLst>
            <a:outerShdw blurRad="177800" dist="50800" dir="2700000" algn="bl" rotWithShape="0">
              <a:srgbClr val="000000">
                <a:alpha val="10000"/>
              </a:srgbClr>
            </a:outerShdw>
          </a:effectLst>
        </p:spPr>
      </p:sp>
      <p:sp>
        <p:nvSpPr>
          <p:cNvPr id="19" name="Shape 17"/>
          <p:cNvSpPr/>
          <p:nvPr/>
        </p:nvSpPr>
        <p:spPr>
          <a:xfrm>
            <a:off x="603504" y="3136392"/>
            <a:ext cx="292608" cy="292608"/>
          </a:xfrm>
          <a:prstGeom prst="ellipse">
            <a:avLst/>
          </a:prstGeom>
          <a:solidFill>
            <a:srgbClr val="27AE60"/>
          </a:solidFill>
          <a:ln w="12700">
            <a:solidFill>
              <a:srgbClr val="27AE60"/>
            </a:solidFill>
            <a:prstDash val="solid"/>
          </a:ln>
        </p:spPr>
      </p:sp>
      <p:sp>
        <p:nvSpPr>
          <p:cNvPr id="20" name="Text 18"/>
          <p:cNvSpPr/>
          <p:nvPr/>
        </p:nvSpPr>
        <p:spPr>
          <a:xfrm>
            <a:off x="603504" y="3127248"/>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21" name="Text 19"/>
          <p:cNvSpPr/>
          <p:nvPr/>
        </p:nvSpPr>
        <p:spPr>
          <a:xfrm>
            <a:off x="1005840" y="3072384"/>
            <a:ext cx="2286000" cy="237744"/>
          </a:xfrm>
          <a:prstGeom prst="rect">
            <a:avLst/>
          </a:prstGeom>
          <a:noFill/>
          <a:ln/>
        </p:spPr>
        <p:txBody>
          <a:bodyPr wrap="square" rtlCol="0" anchor="ctr"/>
          <a:lstStyle/>
          <a:p>
            <a:pPr marL="0" indent="0">
              <a:buNone/>
            </a:pPr>
            <a:r>
              <a:rPr lang="en-US" sz="1100" b="1" dirty="0">
                <a:solidFill>
                  <a:srgbClr val="1B2A4A"/>
                </a:solidFill>
                <a:latin typeface="Arial" pitchFamily="34" charset="0"/>
                <a:ea typeface="Arial" pitchFamily="34" charset="-122"/>
                <a:cs typeface="Arial" pitchFamily="34" charset="-120"/>
              </a:rPr>
              <a:t>Enhanced CSV Export</a:t>
            </a:r>
            <a:endParaRPr lang="en-US" sz="1100" dirty="0"/>
          </a:p>
        </p:txBody>
      </p:sp>
      <p:sp>
        <p:nvSpPr>
          <p:cNvPr id="22" name="Text 20"/>
          <p:cNvSpPr/>
          <p:nvPr/>
        </p:nvSpPr>
        <p:spPr>
          <a:xfrm>
            <a:off x="1005840" y="3291840"/>
            <a:ext cx="7498080" cy="219456"/>
          </a:xfrm>
          <a:prstGeom prst="rect">
            <a:avLst/>
          </a:prstGeom>
          <a:noFill/>
          <a:ln/>
        </p:spPr>
        <p:txBody>
          <a:bodyPr wrap="square" rtlCol="0" anchor="ctr"/>
          <a:lstStyle/>
          <a:p>
            <a:pPr marL="0" indent="0">
              <a:buNone/>
            </a:pPr>
            <a:r>
              <a:rPr lang="en-US" sz="1000" dirty="0">
                <a:solidFill>
                  <a:srgbClr val="4A5568"/>
                </a:solidFill>
                <a:latin typeface="Arial" pitchFamily="34" charset="0"/>
                <a:ea typeface="Arial" pitchFamily="34" charset="-122"/>
                <a:cs typeface="Arial" pitchFamily="34" charset="-120"/>
              </a:rPr>
              <a:t>Test cases export with 10 columns including Detailed Steps and Test Data. Automation CSV includes feasibility, ROI, and layer breakdown.</a:t>
            </a:r>
            <a:endParaRPr lang="en-US" sz="1000" dirty="0"/>
          </a:p>
        </p:txBody>
      </p:sp>
      <p:sp>
        <p:nvSpPr>
          <p:cNvPr id="23" name="Shape 21"/>
          <p:cNvSpPr/>
          <p:nvPr/>
        </p:nvSpPr>
        <p:spPr>
          <a:xfrm>
            <a:off x="457200" y="3621024"/>
            <a:ext cx="8229600" cy="530352"/>
          </a:xfrm>
          <a:prstGeom prst="roundRect">
            <a:avLst>
              <a:gd name="adj" fmla="val 17241"/>
            </a:avLst>
          </a:prstGeom>
          <a:solidFill>
            <a:srgbClr val="FFFFFF"/>
          </a:solidFill>
          <a:ln w="12700">
            <a:solidFill>
              <a:srgbClr val="D0DAE8"/>
            </a:solidFill>
            <a:prstDash val="solid"/>
          </a:ln>
          <a:effectLst>
            <a:outerShdw blurRad="177800" dist="50800" dir="2700000" algn="bl" rotWithShape="0">
              <a:srgbClr val="000000">
                <a:alpha val="10000"/>
              </a:srgbClr>
            </a:outerShdw>
          </a:effectLst>
        </p:spPr>
      </p:sp>
      <p:sp>
        <p:nvSpPr>
          <p:cNvPr id="24" name="Shape 22"/>
          <p:cNvSpPr/>
          <p:nvPr/>
        </p:nvSpPr>
        <p:spPr>
          <a:xfrm>
            <a:off x="603504" y="3739896"/>
            <a:ext cx="292608" cy="292608"/>
          </a:xfrm>
          <a:prstGeom prst="ellipse">
            <a:avLst/>
          </a:prstGeom>
          <a:solidFill>
            <a:srgbClr val="27AE60"/>
          </a:solidFill>
          <a:ln w="12700">
            <a:solidFill>
              <a:srgbClr val="27AE60"/>
            </a:solidFill>
            <a:prstDash val="solid"/>
          </a:ln>
        </p:spPr>
      </p:sp>
      <p:sp>
        <p:nvSpPr>
          <p:cNvPr id="25" name="Text 23"/>
          <p:cNvSpPr/>
          <p:nvPr/>
        </p:nvSpPr>
        <p:spPr>
          <a:xfrm>
            <a:off x="603504" y="3730752"/>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26" name="Text 24"/>
          <p:cNvSpPr/>
          <p:nvPr/>
        </p:nvSpPr>
        <p:spPr>
          <a:xfrm>
            <a:off x="1005840" y="3675888"/>
            <a:ext cx="2286000" cy="237744"/>
          </a:xfrm>
          <a:prstGeom prst="rect">
            <a:avLst/>
          </a:prstGeom>
          <a:noFill/>
          <a:ln/>
        </p:spPr>
        <p:txBody>
          <a:bodyPr wrap="square" rtlCol="0" anchor="ctr"/>
          <a:lstStyle/>
          <a:p>
            <a:pPr marL="0" indent="0">
              <a:buNone/>
            </a:pPr>
            <a:r>
              <a:rPr lang="en-US" sz="1100" b="1" dirty="0">
                <a:solidFill>
                  <a:srgbClr val="1B2A4A"/>
                </a:solidFill>
                <a:latin typeface="Arial" pitchFamily="34" charset="0"/>
                <a:ea typeface="Arial" pitchFamily="34" charset="-122"/>
                <a:cs typeface="Arial" pitchFamily="34" charset="-120"/>
              </a:rPr>
              <a:t>Responsive UI Layout</a:t>
            </a:r>
            <a:endParaRPr lang="en-US" sz="1100" dirty="0"/>
          </a:p>
        </p:txBody>
      </p:sp>
      <p:sp>
        <p:nvSpPr>
          <p:cNvPr id="27" name="Text 25"/>
          <p:cNvSpPr/>
          <p:nvPr/>
        </p:nvSpPr>
        <p:spPr>
          <a:xfrm>
            <a:off x="1005840" y="3895344"/>
            <a:ext cx="7498080" cy="219456"/>
          </a:xfrm>
          <a:prstGeom prst="rect">
            <a:avLst/>
          </a:prstGeom>
          <a:noFill/>
          <a:ln/>
        </p:spPr>
        <p:txBody>
          <a:bodyPr wrap="square" rtlCol="0" anchor="ctr"/>
          <a:lstStyle/>
          <a:p>
            <a:pPr marL="0" indent="0">
              <a:buNone/>
            </a:pPr>
            <a:r>
              <a:rPr lang="en-US" sz="1000" dirty="0">
                <a:solidFill>
                  <a:srgbClr val="4A5568"/>
                </a:solidFill>
                <a:latin typeface="Arial" pitchFamily="34" charset="0"/>
                <a:ea typeface="Arial" pitchFamily="34" charset="-122"/>
                <a:cs typeface="Arial" pitchFamily="34" charset="-120"/>
              </a:rPr>
              <a:t>Requirements header reorganised: Generate All button moved to requirements tab for logical flow. Mobile-responsive layout for narrow viewports.</a:t>
            </a:r>
            <a:endParaRPr lang="en-US" sz="1000" dirty="0"/>
          </a:p>
        </p:txBody>
      </p:sp>
      <p:sp>
        <p:nvSpPr>
          <p:cNvPr id="28" name="Shape 26"/>
          <p:cNvSpPr/>
          <p:nvPr/>
        </p:nvSpPr>
        <p:spPr>
          <a:xfrm>
            <a:off x="457200" y="4224528"/>
            <a:ext cx="8229600" cy="530352"/>
          </a:xfrm>
          <a:prstGeom prst="roundRect">
            <a:avLst>
              <a:gd name="adj" fmla="val 17241"/>
            </a:avLst>
          </a:prstGeom>
          <a:solidFill>
            <a:srgbClr val="FFFFFF"/>
          </a:solidFill>
          <a:ln w="12700">
            <a:solidFill>
              <a:srgbClr val="D0DAE8"/>
            </a:solidFill>
            <a:prstDash val="solid"/>
          </a:ln>
          <a:effectLst>
            <a:outerShdw blurRad="177800" dist="50800" dir="2700000" algn="bl" rotWithShape="0">
              <a:srgbClr val="000000">
                <a:alpha val="10000"/>
              </a:srgbClr>
            </a:outerShdw>
          </a:effectLst>
        </p:spPr>
      </p:sp>
      <p:sp>
        <p:nvSpPr>
          <p:cNvPr id="29" name="Shape 27"/>
          <p:cNvSpPr/>
          <p:nvPr/>
        </p:nvSpPr>
        <p:spPr>
          <a:xfrm>
            <a:off x="603504" y="4343400"/>
            <a:ext cx="292608" cy="292608"/>
          </a:xfrm>
          <a:prstGeom prst="ellipse">
            <a:avLst/>
          </a:prstGeom>
          <a:solidFill>
            <a:srgbClr val="27AE60"/>
          </a:solidFill>
          <a:ln w="12700">
            <a:solidFill>
              <a:srgbClr val="27AE60"/>
            </a:solidFill>
            <a:prstDash val="solid"/>
          </a:ln>
        </p:spPr>
      </p:sp>
      <p:sp>
        <p:nvSpPr>
          <p:cNvPr id="30" name="Text 28"/>
          <p:cNvSpPr/>
          <p:nvPr/>
        </p:nvSpPr>
        <p:spPr>
          <a:xfrm>
            <a:off x="603504" y="4334256"/>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31" name="Text 29"/>
          <p:cNvSpPr/>
          <p:nvPr/>
        </p:nvSpPr>
        <p:spPr>
          <a:xfrm>
            <a:off x="1005840" y="4279392"/>
            <a:ext cx="2286000" cy="237744"/>
          </a:xfrm>
          <a:prstGeom prst="rect">
            <a:avLst/>
          </a:prstGeom>
          <a:noFill/>
          <a:ln/>
        </p:spPr>
        <p:txBody>
          <a:bodyPr wrap="square" rtlCol="0" anchor="ctr"/>
          <a:lstStyle/>
          <a:p>
            <a:pPr marL="0" indent="0">
              <a:buNone/>
            </a:pPr>
            <a:r>
              <a:rPr lang="en-US" sz="1100" b="1" dirty="0">
                <a:solidFill>
                  <a:srgbClr val="1B2A4A"/>
                </a:solidFill>
                <a:latin typeface="Arial" pitchFamily="34" charset="0"/>
                <a:ea typeface="Arial" pitchFamily="34" charset="-122"/>
                <a:cs typeface="Arial" pitchFamily="34" charset="-120"/>
              </a:rPr>
              <a:t>CLAUDE.md Documentation</a:t>
            </a:r>
            <a:endParaRPr lang="en-US" sz="1100" dirty="0"/>
          </a:p>
        </p:txBody>
      </p:sp>
      <p:sp>
        <p:nvSpPr>
          <p:cNvPr id="32" name="Text 30"/>
          <p:cNvSpPr/>
          <p:nvPr/>
        </p:nvSpPr>
        <p:spPr>
          <a:xfrm>
            <a:off x="1005840" y="4498848"/>
            <a:ext cx="7498080" cy="219456"/>
          </a:xfrm>
          <a:prstGeom prst="rect">
            <a:avLst/>
          </a:prstGeom>
          <a:noFill/>
          <a:ln/>
        </p:spPr>
        <p:txBody>
          <a:bodyPr wrap="square" rtlCol="0" anchor="ctr"/>
          <a:lstStyle/>
          <a:p>
            <a:pPr marL="0" indent="0">
              <a:buNone/>
            </a:pPr>
            <a:r>
              <a:rPr lang="en-US" sz="1000" dirty="0">
                <a:solidFill>
                  <a:srgbClr val="4A5568"/>
                </a:solidFill>
                <a:latin typeface="Arial" pitchFamily="34" charset="0"/>
                <a:ea typeface="Arial" pitchFamily="34" charset="-122"/>
                <a:cs typeface="Arial" pitchFamily="34" charset="-120"/>
              </a:rPr>
              <a:t>Codebase guidance file added for future developers and AI-assisted development workflows.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8778240" y="4846320"/>
            <a:ext cx="274320" cy="182880"/>
          </a:xfrm>
          <a:prstGeom prst="rect">
            <a:avLst/>
          </a:prstGeom>
          <a:noFill/>
          <a:ln/>
        </p:spPr>
        <p:txBody>
          <a:bodyPr wrap="square" rtlCol="0" anchor="ctr"/>
          <a:lstStyle/>
          <a:p>
            <a:pPr marL="0" indent="0" algn="r">
              <a:buNone/>
            </a:pPr>
            <a:r>
              <a:rPr lang="en-US" sz="800" dirty="0">
                <a:solidFill>
                  <a:srgbClr val="8898AA"/>
                </a:solidFill>
                <a:latin typeface="Arial" pitchFamily="34" charset="0"/>
                <a:ea typeface="Arial" pitchFamily="34" charset="-122"/>
                <a:cs typeface="Arial" pitchFamily="34" charset="-120"/>
              </a:rPr>
              <a:t>7</a:t>
            </a:r>
            <a:endParaRPr lang="en-US" sz="800" dirty="0"/>
          </a:p>
        </p:txBody>
      </p:sp>
      <p:sp>
        <p:nvSpPr>
          <p:cNvPr id="3" name="Shape 1"/>
          <p:cNvSpPr/>
          <p:nvPr/>
        </p:nvSpPr>
        <p:spPr>
          <a:xfrm>
            <a:off x="457200" y="274320"/>
            <a:ext cx="1371600" cy="256032"/>
          </a:xfrm>
          <a:prstGeom prst="roundRect">
            <a:avLst>
              <a:gd name="adj" fmla="val 21429"/>
            </a:avLst>
          </a:prstGeom>
          <a:solidFill>
            <a:srgbClr val="028090"/>
          </a:solidFill>
          <a:ln w="12700">
            <a:solidFill>
              <a:srgbClr val="028090"/>
            </a:solidFill>
            <a:prstDash val="solid"/>
          </a:ln>
        </p:spPr>
      </p:sp>
      <p:sp>
        <p:nvSpPr>
          <p:cNvPr id="4" name="Text 2"/>
          <p:cNvSpPr/>
          <p:nvPr/>
        </p:nvSpPr>
        <p:spPr>
          <a:xfrm>
            <a:off x="457200" y="274320"/>
            <a:ext cx="1371600" cy="256032"/>
          </a:xfrm>
          <a:prstGeom prst="rect">
            <a:avLst/>
          </a:prstGeom>
          <a:noFill/>
          <a:ln/>
        </p:spPr>
        <p:txBody>
          <a:bodyPr wrap="square" lIns="0" tIns="0" rIns="0" bIns="0" rtlCol="0" anchor="ctr"/>
          <a:lstStyle/>
          <a:p>
            <a:pPr marL="0" indent="0" algn="ctr">
              <a:buNone/>
            </a:pPr>
            <a:r>
              <a:rPr lang="en-US" sz="800" b="1" kern="0" spc="150" dirty="0">
                <a:solidFill>
                  <a:srgbClr val="FFFFFF"/>
                </a:solidFill>
                <a:latin typeface="Arial" pitchFamily="34" charset="0"/>
                <a:ea typeface="Arial" pitchFamily="34" charset="-122"/>
                <a:cs typeface="Arial" pitchFamily="34" charset="-120"/>
              </a:rPr>
              <a:t>INTEGRATIONS</a:t>
            </a:r>
            <a:endParaRPr lang="en-US" sz="800" dirty="0"/>
          </a:p>
        </p:txBody>
      </p:sp>
      <p:sp>
        <p:nvSpPr>
          <p:cNvPr id="5" name="Text 3"/>
          <p:cNvSpPr/>
          <p:nvPr/>
        </p:nvSpPr>
        <p:spPr>
          <a:xfrm>
            <a:off x="457200" y="594360"/>
            <a:ext cx="8229600" cy="50292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Integration Ecosystem</a:t>
            </a:r>
            <a:endParaRPr lang="en-US" sz="3000" dirty="0"/>
          </a:p>
        </p:txBody>
      </p:sp>
      <p:sp>
        <p:nvSpPr>
          <p:cNvPr id="6" name="Shape 4"/>
          <p:cNvSpPr/>
          <p:nvPr/>
        </p:nvSpPr>
        <p:spPr>
          <a:xfrm>
            <a:off x="3566160" y="1463040"/>
            <a:ext cx="2011680" cy="2011680"/>
          </a:xfrm>
          <a:prstGeom prst="ellipse">
            <a:avLst/>
          </a:prstGeom>
          <a:solidFill>
            <a:srgbClr val="028090"/>
          </a:solidFill>
          <a:ln w="25400">
            <a:solidFill>
              <a:srgbClr val="02A8BC"/>
            </a:solidFill>
            <a:prstDash val="solid"/>
          </a:ln>
          <a:effectLst>
            <a:outerShdw blurRad="127000" dist="38100" dir="2700000" algn="bl" rotWithShape="0">
              <a:srgbClr val="000000">
                <a:alpha val="12000"/>
              </a:srgbClr>
            </a:outerShdw>
          </a:effectLst>
        </p:spPr>
      </p:sp>
      <p:sp>
        <p:nvSpPr>
          <p:cNvPr id="7" name="Text 5"/>
          <p:cNvSpPr/>
          <p:nvPr/>
        </p:nvSpPr>
        <p:spPr>
          <a:xfrm>
            <a:off x="3566160" y="1463040"/>
            <a:ext cx="2011680" cy="1005840"/>
          </a:xfrm>
          <a:prstGeom prst="rect">
            <a:avLst/>
          </a:prstGeom>
          <a:noFill/>
          <a:ln/>
        </p:spPr>
        <p:txBody>
          <a:bodyPr wrap="square" lIns="0" tIns="0" rIns="0" bIns="0" rtlCol="0" anchor="b"/>
          <a:lstStyle/>
          <a:p>
            <a:pPr marL="0" indent="0" algn="ctr">
              <a:buNone/>
            </a:pPr>
            <a:r>
              <a:rPr lang="en-US" sz="1600" b="1" dirty="0">
                <a:solidFill>
                  <a:srgbClr val="FFFFFF"/>
                </a:solidFill>
                <a:latin typeface="Cambria" pitchFamily="34" charset="0"/>
                <a:ea typeface="Cambria" pitchFamily="34" charset="-122"/>
                <a:cs typeface="Cambria" pitchFamily="34" charset="-120"/>
              </a:rPr>
              <a:t>TraceLM</a:t>
            </a:r>
            <a:endParaRPr lang="en-US" sz="1600" dirty="0"/>
          </a:p>
        </p:txBody>
      </p:sp>
      <p:sp>
        <p:nvSpPr>
          <p:cNvPr id="8" name="Text 6"/>
          <p:cNvSpPr/>
          <p:nvPr/>
        </p:nvSpPr>
        <p:spPr>
          <a:xfrm>
            <a:off x="3566160" y="2468880"/>
            <a:ext cx="2011680" cy="1005840"/>
          </a:xfrm>
          <a:prstGeom prst="rect">
            <a:avLst/>
          </a:prstGeom>
          <a:noFill/>
          <a:ln/>
        </p:spPr>
        <p:txBody>
          <a:bodyPr wrap="square" lIns="0" tIns="0" rIns="0" bIns="0" rtlCol="0" anchor="t"/>
          <a:lstStyle/>
          <a:p>
            <a:pPr marL="0" indent="0" algn="ctr">
              <a:buNone/>
            </a:pPr>
            <a:r>
              <a:rPr lang="en-US" sz="950" dirty="0">
                <a:solidFill>
                  <a:srgbClr val="A0D8D0"/>
                </a:solidFill>
                <a:latin typeface="Arial" pitchFamily="34" charset="0"/>
                <a:ea typeface="Arial" pitchFamily="34" charset="-122"/>
                <a:cs typeface="Arial" pitchFamily="34" charset="-120"/>
              </a:rPr>
              <a:t>VS Code</a:t>
            </a:r>
            <a:endParaRPr lang="en-US" sz="950" dirty="0"/>
          </a:p>
          <a:p>
            <a:pPr marL="0" indent="0" algn="ctr">
              <a:buNone/>
            </a:pPr>
            <a:r>
              <a:rPr lang="en-US" sz="950" dirty="0">
                <a:solidFill>
                  <a:srgbClr val="A0D8D0"/>
                </a:solidFill>
                <a:latin typeface="Arial" pitchFamily="34" charset="0"/>
                <a:ea typeface="Arial" pitchFamily="34" charset="-122"/>
                <a:cs typeface="Arial" pitchFamily="34" charset="-120"/>
              </a:rPr>
              <a:t>Extension</a:t>
            </a:r>
            <a:endParaRPr lang="en-US" sz="950" dirty="0"/>
          </a:p>
        </p:txBody>
      </p:sp>
      <p:sp>
        <p:nvSpPr>
          <p:cNvPr id="9" name="Shape 7"/>
          <p:cNvSpPr/>
          <p:nvPr/>
        </p:nvSpPr>
        <p:spPr>
          <a:xfrm>
            <a:off x="320040" y="1188720"/>
            <a:ext cx="2286000" cy="658368"/>
          </a:xfrm>
          <a:prstGeom prst="roundRect">
            <a:avLst>
              <a:gd name="adj" fmla="val 13889"/>
            </a:avLst>
          </a:prstGeom>
          <a:solidFill>
            <a:srgbClr val="1F3A5F"/>
          </a:solidFill>
          <a:ln w="12700">
            <a:solidFill>
              <a:srgbClr val="2A4A72"/>
            </a:solidFill>
            <a:prstDash val="solid"/>
          </a:ln>
          <a:effectLst>
            <a:outerShdw blurRad="127000" dist="38100" dir="2700000" algn="bl" rotWithShape="0">
              <a:srgbClr val="000000">
                <a:alpha val="12000"/>
              </a:srgbClr>
            </a:outerShdw>
          </a:effectLst>
        </p:spPr>
      </p:sp>
      <p:sp>
        <p:nvSpPr>
          <p:cNvPr id="10" name="Shape 8"/>
          <p:cNvSpPr/>
          <p:nvPr/>
        </p:nvSpPr>
        <p:spPr>
          <a:xfrm>
            <a:off x="457200" y="1344168"/>
            <a:ext cx="347472" cy="347472"/>
          </a:xfrm>
          <a:prstGeom prst="ellipse">
            <a:avLst/>
          </a:prstGeom>
          <a:solidFill>
            <a:srgbClr val="0A5C2B"/>
          </a:solidFill>
          <a:ln w="12700">
            <a:solidFill>
              <a:srgbClr val="0A5C2B"/>
            </a:solidFill>
            <a:prstDash val="solid"/>
          </a:ln>
        </p:spPr>
      </p:sp>
      <p:sp>
        <p:nvSpPr>
          <p:cNvPr id="11" name="Text 9"/>
          <p:cNvSpPr/>
          <p:nvPr/>
        </p:nvSpPr>
        <p:spPr>
          <a:xfrm>
            <a:off x="932688" y="1243584"/>
            <a:ext cx="1572768" cy="256032"/>
          </a:xfrm>
          <a:prstGeom prst="rect">
            <a:avLst/>
          </a:prstGeom>
          <a:noFill/>
          <a:ln/>
        </p:spPr>
        <p:txBody>
          <a:bodyPr wrap="square" rtlCol="0" anchor="ctr"/>
          <a:lstStyle/>
          <a:p>
            <a:pPr marL="0" indent="0">
              <a:buNone/>
            </a:pPr>
            <a:r>
              <a:rPr lang="en-US" sz="1100" b="1" dirty="0">
                <a:solidFill>
                  <a:srgbClr val="FFFFFF"/>
                </a:solidFill>
                <a:latin typeface="Arial" pitchFamily="34" charset="0"/>
                <a:ea typeface="Arial" pitchFamily="34" charset="-122"/>
                <a:cs typeface="Arial" pitchFamily="34" charset="-120"/>
              </a:rPr>
              <a:t>OpenAI</a:t>
            </a:r>
            <a:endParaRPr lang="en-US" sz="1100" dirty="0"/>
          </a:p>
        </p:txBody>
      </p:sp>
      <p:sp>
        <p:nvSpPr>
          <p:cNvPr id="12" name="Text 10"/>
          <p:cNvSpPr/>
          <p:nvPr/>
        </p:nvSpPr>
        <p:spPr>
          <a:xfrm>
            <a:off x="932688" y="1499616"/>
            <a:ext cx="1572768" cy="219456"/>
          </a:xfrm>
          <a:prstGeom prst="rect">
            <a:avLst/>
          </a:prstGeom>
          <a:noFill/>
          <a:ln/>
        </p:spPr>
        <p:txBody>
          <a:bodyPr wrap="square" rtlCol="0" anchor="ctr"/>
          <a:lstStyle/>
          <a:p>
            <a:pPr marL="0" indent="0">
              <a:buNone/>
            </a:pPr>
            <a:r>
              <a:rPr lang="en-US" sz="900" dirty="0">
                <a:solidFill>
                  <a:srgbClr val="8BAEC8"/>
                </a:solidFill>
                <a:latin typeface="Arial" pitchFamily="34" charset="0"/>
                <a:ea typeface="Arial" pitchFamily="34" charset="-122"/>
                <a:cs typeface="Arial" pitchFamily="34" charset="-120"/>
              </a:rPr>
              <a:t>GPT-4o / 4.1</a:t>
            </a:r>
            <a:endParaRPr lang="en-US" sz="900" dirty="0"/>
          </a:p>
        </p:txBody>
      </p:sp>
      <p:sp>
        <p:nvSpPr>
          <p:cNvPr id="13" name="Shape 11"/>
          <p:cNvSpPr/>
          <p:nvPr/>
        </p:nvSpPr>
        <p:spPr>
          <a:xfrm>
            <a:off x="2606040" y="1517904"/>
            <a:ext cx="960120" cy="0"/>
          </a:xfrm>
          <a:prstGeom prst="line">
            <a:avLst/>
          </a:prstGeom>
          <a:noFill/>
          <a:ln w="12700">
            <a:solidFill>
              <a:srgbClr val="028090"/>
            </a:solidFill>
            <a:prstDash val="dashDot"/>
          </a:ln>
        </p:spPr>
      </p:sp>
      <p:sp>
        <p:nvSpPr>
          <p:cNvPr id="14" name="Shape 12"/>
          <p:cNvSpPr/>
          <p:nvPr/>
        </p:nvSpPr>
        <p:spPr>
          <a:xfrm>
            <a:off x="320040" y="2148840"/>
            <a:ext cx="2286000" cy="658368"/>
          </a:xfrm>
          <a:prstGeom prst="roundRect">
            <a:avLst>
              <a:gd name="adj" fmla="val 13889"/>
            </a:avLst>
          </a:prstGeom>
          <a:solidFill>
            <a:srgbClr val="1F3A5F"/>
          </a:solidFill>
          <a:ln w="12700">
            <a:solidFill>
              <a:srgbClr val="2A4A72"/>
            </a:solidFill>
            <a:prstDash val="solid"/>
          </a:ln>
          <a:effectLst>
            <a:outerShdw blurRad="127000" dist="38100" dir="2700000" algn="bl" rotWithShape="0">
              <a:srgbClr val="000000">
                <a:alpha val="12000"/>
              </a:srgbClr>
            </a:outerShdw>
          </a:effectLst>
        </p:spPr>
      </p:sp>
      <p:sp>
        <p:nvSpPr>
          <p:cNvPr id="15" name="Shape 13"/>
          <p:cNvSpPr/>
          <p:nvPr/>
        </p:nvSpPr>
        <p:spPr>
          <a:xfrm>
            <a:off x="457200" y="2304288"/>
            <a:ext cx="347472" cy="347472"/>
          </a:xfrm>
          <a:prstGeom prst="ellipse">
            <a:avLst/>
          </a:prstGeom>
          <a:solidFill>
            <a:srgbClr val="5B3270"/>
          </a:solidFill>
          <a:ln w="12700">
            <a:solidFill>
              <a:srgbClr val="5B3270"/>
            </a:solidFill>
            <a:prstDash val="solid"/>
          </a:ln>
        </p:spPr>
      </p:sp>
      <p:sp>
        <p:nvSpPr>
          <p:cNvPr id="16" name="Text 14"/>
          <p:cNvSpPr/>
          <p:nvPr/>
        </p:nvSpPr>
        <p:spPr>
          <a:xfrm>
            <a:off x="932688" y="2203704"/>
            <a:ext cx="1572768" cy="256032"/>
          </a:xfrm>
          <a:prstGeom prst="rect">
            <a:avLst/>
          </a:prstGeom>
          <a:noFill/>
          <a:ln/>
        </p:spPr>
        <p:txBody>
          <a:bodyPr wrap="square" rtlCol="0" anchor="ctr"/>
          <a:lstStyle/>
          <a:p>
            <a:pPr marL="0" indent="0">
              <a:buNone/>
            </a:pPr>
            <a:r>
              <a:rPr lang="en-US" sz="1100" b="1" dirty="0">
                <a:solidFill>
                  <a:srgbClr val="FFFFFF"/>
                </a:solidFill>
                <a:latin typeface="Arial" pitchFamily="34" charset="0"/>
                <a:ea typeface="Arial" pitchFamily="34" charset="-122"/>
                <a:cs typeface="Arial" pitchFamily="34" charset="-120"/>
              </a:rPr>
              <a:t>Anthropic</a:t>
            </a:r>
            <a:endParaRPr lang="en-US" sz="1100" dirty="0"/>
          </a:p>
        </p:txBody>
      </p:sp>
      <p:sp>
        <p:nvSpPr>
          <p:cNvPr id="17" name="Text 15"/>
          <p:cNvSpPr/>
          <p:nvPr/>
        </p:nvSpPr>
        <p:spPr>
          <a:xfrm>
            <a:off x="932688" y="2459736"/>
            <a:ext cx="1572768" cy="219456"/>
          </a:xfrm>
          <a:prstGeom prst="rect">
            <a:avLst/>
          </a:prstGeom>
          <a:noFill/>
          <a:ln/>
        </p:spPr>
        <p:txBody>
          <a:bodyPr wrap="square" rtlCol="0" anchor="ctr"/>
          <a:lstStyle/>
          <a:p>
            <a:pPr marL="0" indent="0">
              <a:buNone/>
            </a:pPr>
            <a:r>
              <a:rPr lang="en-US" sz="900" dirty="0">
                <a:solidFill>
                  <a:srgbClr val="8BAEC8"/>
                </a:solidFill>
                <a:latin typeface="Arial" pitchFamily="34" charset="0"/>
                <a:ea typeface="Arial" pitchFamily="34" charset="-122"/>
                <a:cs typeface="Arial" pitchFamily="34" charset="-120"/>
              </a:rPr>
              <a:t>Claude 3.5 Sonnet</a:t>
            </a:r>
            <a:endParaRPr lang="en-US" sz="900" dirty="0"/>
          </a:p>
        </p:txBody>
      </p:sp>
      <p:sp>
        <p:nvSpPr>
          <p:cNvPr id="18" name="Shape 16"/>
          <p:cNvSpPr/>
          <p:nvPr/>
        </p:nvSpPr>
        <p:spPr>
          <a:xfrm>
            <a:off x="2606040" y="2478024"/>
            <a:ext cx="960120" cy="0"/>
          </a:xfrm>
          <a:prstGeom prst="line">
            <a:avLst/>
          </a:prstGeom>
          <a:noFill/>
          <a:ln w="12700">
            <a:solidFill>
              <a:srgbClr val="028090"/>
            </a:solidFill>
            <a:prstDash val="dashDot"/>
          </a:ln>
        </p:spPr>
      </p:sp>
      <p:sp>
        <p:nvSpPr>
          <p:cNvPr id="19" name="Shape 17"/>
          <p:cNvSpPr/>
          <p:nvPr/>
        </p:nvSpPr>
        <p:spPr>
          <a:xfrm>
            <a:off x="320040" y="3108960"/>
            <a:ext cx="2286000" cy="658368"/>
          </a:xfrm>
          <a:prstGeom prst="roundRect">
            <a:avLst>
              <a:gd name="adj" fmla="val 13889"/>
            </a:avLst>
          </a:prstGeom>
          <a:solidFill>
            <a:srgbClr val="1F3A5F"/>
          </a:solidFill>
          <a:ln w="12700">
            <a:solidFill>
              <a:srgbClr val="2A4A72"/>
            </a:solidFill>
            <a:prstDash val="solid"/>
          </a:ln>
          <a:effectLst>
            <a:outerShdw blurRad="127000" dist="38100" dir="2700000" algn="bl" rotWithShape="0">
              <a:srgbClr val="000000">
                <a:alpha val="12000"/>
              </a:srgbClr>
            </a:outerShdw>
          </a:effectLst>
        </p:spPr>
      </p:sp>
      <p:sp>
        <p:nvSpPr>
          <p:cNvPr id="20" name="Shape 18"/>
          <p:cNvSpPr/>
          <p:nvPr/>
        </p:nvSpPr>
        <p:spPr>
          <a:xfrm>
            <a:off x="457200" y="3264408"/>
            <a:ext cx="347472" cy="347472"/>
          </a:xfrm>
          <a:prstGeom prst="ellipse">
            <a:avLst/>
          </a:prstGeom>
          <a:solidFill>
            <a:srgbClr val="1A56A3"/>
          </a:solidFill>
          <a:ln w="12700">
            <a:solidFill>
              <a:srgbClr val="1A56A3"/>
            </a:solidFill>
            <a:prstDash val="solid"/>
          </a:ln>
        </p:spPr>
      </p:sp>
      <p:sp>
        <p:nvSpPr>
          <p:cNvPr id="21" name="Text 19"/>
          <p:cNvSpPr/>
          <p:nvPr/>
        </p:nvSpPr>
        <p:spPr>
          <a:xfrm>
            <a:off x="932688" y="3163824"/>
            <a:ext cx="1572768" cy="256032"/>
          </a:xfrm>
          <a:prstGeom prst="rect">
            <a:avLst/>
          </a:prstGeom>
          <a:noFill/>
          <a:ln/>
        </p:spPr>
        <p:txBody>
          <a:bodyPr wrap="square" rtlCol="0" anchor="ctr"/>
          <a:lstStyle/>
          <a:p>
            <a:pPr marL="0" indent="0">
              <a:buNone/>
            </a:pPr>
            <a:r>
              <a:rPr lang="en-US" sz="1100" b="1" dirty="0">
                <a:solidFill>
                  <a:srgbClr val="FFFFFF"/>
                </a:solidFill>
                <a:latin typeface="Arial" pitchFamily="34" charset="0"/>
                <a:ea typeface="Arial" pitchFamily="34" charset="-122"/>
                <a:cs typeface="Arial" pitchFamily="34" charset="-120"/>
              </a:rPr>
              <a:t>Google Gemini</a:t>
            </a:r>
            <a:endParaRPr lang="en-US" sz="1100" dirty="0"/>
          </a:p>
        </p:txBody>
      </p:sp>
      <p:sp>
        <p:nvSpPr>
          <p:cNvPr id="22" name="Text 20"/>
          <p:cNvSpPr/>
          <p:nvPr/>
        </p:nvSpPr>
        <p:spPr>
          <a:xfrm>
            <a:off x="932688" y="3419856"/>
            <a:ext cx="1572768" cy="219456"/>
          </a:xfrm>
          <a:prstGeom prst="rect">
            <a:avLst/>
          </a:prstGeom>
          <a:noFill/>
          <a:ln/>
        </p:spPr>
        <p:txBody>
          <a:bodyPr wrap="square" rtlCol="0" anchor="ctr"/>
          <a:lstStyle/>
          <a:p>
            <a:pPr marL="0" indent="0">
              <a:buNone/>
            </a:pPr>
            <a:r>
              <a:rPr lang="en-US" sz="900" b="1" dirty="0">
                <a:solidFill>
                  <a:srgbClr val="00B050"/>
                </a:solidFill>
                <a:latin typeface="Arial" pitchFamily="34" charset="0"/>
                <a:ea typeface="Arial" pitchFamily="34" charset="-122"/>
                <a:cs typeface="Arial" pitchFamily="34" charset="-120"/>
              </a:rPr>
              <a:t>2.5 Flash </a:t>
            </a:r>
            <a:r>
              <a:rPr lang="en-US" sz="900" dirty="0">
                <a:solidFill>
                  <a:srgbClr val="8BAEC8"/>
                </a:solidFill>
                <a:latin typeface="Arial" pitchFamily="34" charset="0"/>
                <a:ea typeface="Arial" pitchFamily="34" charset="-122"/>
                <a:cs typeface="Arial" pitchFamily="34" charset="-120"/>
              </a:rPr>
              <a:t>/ Pro</a:t>
            </a:r>
            <a:endParaRPr lang="en-US" sz="900" dirty="0"/>
          </a:p>
        </p:txBody>
      </p:sp>
      <p:sp>
        <p:nvSpPr>
          <p:cNvPr id="23" name="Shape 21"/>
          <p:cNvSpPr/>
          <p:nvPr/>
        </p:nvSpPr>
        <p:spPr>
          <a:xfrm>
            <a:off x="2606040" y="3438144"/>
            <a:ext cx="960120" cy="0"/>
          </a:xfrm>
          <a:prstGeom prst="line">
            <a:avLst/>
          </a:prstGeom>
          <a:noFill/>
          <a:ln w="12700">
            <a:solidFill>
              <a:srgbClr val="028090"/>
            </a:solidFill>
            <a:prstDash val="dashDot"/>
          </a:ln>
        </p:spPr>
      </p:sp>
      <p:sp>
        <p:nvSpPr>
          <p:cNvPr id="24" name="Shape 22"/>
          <p:cNvSpPr/>
          <p:nvPr/>
        </p:nvSpPr>
        <p:spPr>
          <a:xfrm>
            <a:off x="6537960" y="1371600"/>
            <a:ext cx="2286000" cy="658368"/>
          </a:xfrm>
          <a:prstGeom prst="roundRect">
            <a:avLst>
              <a:gd name="adj" fmla="val 13889"/>
            </a:avLst>
          </a:prstGeom>
          <a:solidFill>
            <a:srgbClr val="1F3A5F"/>
          </a:solidFill>
          <a:ln w="12700">
            <a:solidFill>
              <a:srgbClr val="2A4A72"/>
            </a:solidFill>
            <a:prstDash val="solid"/>
          </a:ln>
          <a:effectLst>
            <a:outerShdw blurRad="127000" dist="38100" dir="2700000" algn="bl" rotWithShape="0">
              <a:srgbClr val="000000">
                <a:alpha val="12000"/>
              </a:srgbClr>
            </a:outerShdw>
          </a:effectLst>
        </p:spPr>
      </p:sp>
      <p:sp>
        <p:nvSpPr>
          <p:cNvPr id="25" name="Shape 23"/>
          <p:cNvSpPr/>
          <p:nvPr/>
        </p:nvSpPr>
        <p:spPr>
          <a:xfrm>
            <a:off x="6675120" y="1527048"/>
            <a:ext cx="347472" cy="347472"/>
          </a:xfrm>
          <a:prstGeom prst="ellipse">
            <a:avLst/>
          </a:prstGeom>
          <a:solidFill>
            <a:srgbClr val="0052CC"/>
          </a:solidFill>
          <a:ln w="12700">
            <a:solidFill>
              <a:srgbClr val="0052CC"/>
            </a:solidFill>
            <a:prstDash val="solid"/>
          </a:ln>
        </p:spPr>
      </p:sp>
      <p:sp>
        <p:nvSpPr>
          <p:cNvPr id="26" name="Text 24"/>
          <p:cNvSpPr/>
          <p:nvPr/>
        </p:nvSpPr>
        <p:spPr>
          <a:xfrm>
            <a:off x="7150608" y="1426464"/>
            <a:ext cx="1572768" cy="256032"/>
          </a:xfrm>
          <a:prstGeom prst="rect">
            <a:avLst/>
          </a:prstGeom>
          <a:noFill/>
          <a:ln/>
        </p:spPr>
        <p:txBody>
          <a:bodyPr wrap="square" rtlCol="0" anchor="ctr"/>
          <a:lstStyle/>
          <a:p>
            <a:pPr marL="0" indent="0">
              <a:buNone/>
            </a:pPr>
            <a:r>
              <a:rPr lang="en-US" sz="1100" b="1" dirty="0">
                <a:solidFill>
                  <a:srgbClr val="FFFFFF"/>
                </a:solidFill>
                <a:latin typeface="Arial" pitchFamily="34" charset="0"/>
                <a:ea typeface="Arial" pitchFamily="34" charset="-122"/>
                <a:cs typeface="Arial" pitchFamily="34" charset="-120"/>
              </a:rPr>
              <a:t>Jira Cloud</a:t>
            </a:r>
            <a:endParaRPr lang="en-US" sz="1100" dirty="0"/>
          </a:p>
        </p:txBody>
      </p:sp>
      <p:sp>
        <p:nvSpPr>
          <p:cNvPr id="27" name="Text 25"/>
          <p:cNvSpPr/>
          <p:nvPr/>
        </p:nvSpPr>
        <p:spPr>
          <a:xfrm>
            <a:off x="7150608" y="1682496"/>
            <a:ext cx="1572768" cy="219456"/>
          </a:xfrm>
          <a:prstGeom prst="rect">
            <a:avLst/>
          </a:prstGeom>
          <a:noFill/>
          <a:ln/>
        </p:spPr>
        <p:txBody>
          <a:bodyPr wrap="square" rtlCol="0" anchor="ctr"/>
          <a:lstStyle/>
          <a:p>
            <a:pPr marL="0" indent="0">
              <a:buNone/>
            </a:pPr>
            <a:r>
              <a:rPr lang="en-US" sz="900" dirty="0">
                <a:solidFill>
                  <a:srgbClr val="8BAEC8"/>
                </a:solidFill>
                <a:latin typeface="Arial" pitchFamily="34" charset="0"/>
                <a:ea typeface="Arial" pitchFamily="34" charset="-122"/>
                <a:cs typeface="Arial" pitchFamily="34" charset="-120"/>
              </a:rPr>
              <a:t>Pull issues &amp; epics</a:t>
            </a:r>
            <a:endParaRPr lang="en-US" sz="900" dirty="0"/>
          </a:p>
        </p:txBody>
      </p:sp>
      <p:sp>
        <p:nvSpPr>
          <p:cNvPr id="28" name="Shape 26"/>
          <p:cNvSpPr/>
          <p:nvPr/>
        </p:nvSpPr>
        <p:spPr>
          <a:xfrm>
            <a:off x="5577840" y="1700784"/>
            <a:ext cx="960120" cy="0"/>
          </a:xfrm>
          <a:prstGeom prst="line">
            <a:avLst/>
          </a:prstGeom>
          <a:noFill/>
          <a:ln w="12700">
            <a:solidFill>
              <a:srgbClr val="028090"/>
            </a:solidFill>
            <a:prstDash val="dashDot"/>
          </a:ln>
        </p:spPr>
      </p:sp>
      <p:sp>
        <p:nvSpPr>
          <p:cNvPr id="29" name="Shape 27"/>
          <p:cNvSpPr/>
          <p:nvPr/>
        </p:nvSpPr>
        <p:spPr>
          <a:xfrm>
            <a:off x="6537960" y="2468880"/>
            <a:ext cx="2286000" cy="658368"/>
          </a:xfrm>
          <a:prstGeom prst="roundRect">
            <a:avLst>
              <a:gd name="adj" fmla="val 13889"/>
            </a:avLst>
          </a:prstGeom>
          <a:solidFill>
            <a:srgbClr val="1F3A5F"/>
          </a:solidFill>
          <a:ln w="12700">
            <a:solidFill>
              <a:srgbClr val="2A4A72"/>
            </a:solidFill>
            <a:prstDash val="solid"/>
          </a:ln>
          <a:effectLst>
            <a:outerShdw blurRad="127000" dist="38100" dir="2700000" algn="bl" rotWithShape="0">
              <a:srgbClr val="000000">
                <a:alpha val="12000"/>
              </a:srgbClr>
            </a:outerShdw>
          </a:effectLst>
        </p:spPr>
      </p:sp>
      <p:sp>
        <p:nvSpPr>
          <p:cNvPr id="30" name="Shape 28"/>
          <p:cNvSpPr/>
          <p:nvPr/>
        </p:nvSpPr>
        <p:spPr>
          <a:xfrm>
            <a:off x="6675120" y="2624328"/>
            <a:ext cx="347472" cy="347472"/>
          </a:xfrm>
          <a:prstGeom prst="ellipse">
            <a:avLst/>
          </a:prstGeom>
          <a:solidFill>
            <a:srgbClr val="00875A"/>
          </a:solidFill>
          <a:ln w="12700">
            <a:solidFill>
              <a:srgbClr val="00875A"/>
            </a:solidFill>
            <a:prstDash val="solid"/>
          </a:ln>
        </p:spPr>
      </p:sp>
      <p:sp>
        <p:nvSpPr>
          <p:cNvPr id="31" name="Text 29"/>
          <p:cNvSpPr/>
          <p:nvPr/>
        </p:nvSpPr>
        <p:spPr>
          <a:xfrm>
            <a:off x="7150608" y="2523744"/>
            <a:ext cx="1572768" cy="256032"/>
          </a:xfrm>
          <a:prstGeom prst="rect">
            <a:avLst/>
          </a:prstGeom>
          <a:noFill/>
          <a:ln/>
        </p:spPr>
        <p:txBody>
          <a:bodyPr wrap="square" rtlCol="0" anchor="ctr"/>
          <a:lstStyle/>
          <a:p>
            <a:pPr marL="0" indent="0">
              <a:buNone/>
            </a:pPr>
            <a:r>
              <a:rPr lang="en-US" sz="1100" b="1" dirty="0">
                <a:solidFill>
                  <a:srgbClr val="FFFFFF"/>
                </a:solidFill>
                <a:latin typeface="Arial" pitchFamily="34" charset="0"/>
                <a:ea typeface="Arial" pitchFamily="34" charset="-122"/>
                <a:cs typeface="Arial" pitchFamily="34" charset="-120"/>
              </a:rPr>
              <a:t>Xray Cloud</a:t>
            </a:r>
            <a:endParaRPr lang="en-US" sz="1100" dirty="0"/>
          </a:p>
        </p:txBody>
      </p:sp>
      <p:sp>
        <p:nvSpPr>
          <p:cNvPr id="32" name="Text 30"/>
          <p:cNvSpPr/>
          <p:nvPr/>
        </p:nvSpPr>
        <p:spPr>
          <a:xfrm>
            <a:off x="7150608" y="2779776"/>
            <a:ext cx="1572768" cy="219456"/>
          </a:xfrm>
          <a:prstGeom prst="rect">
            <a:avLst/>
          </a:prstGeom>
          <a:noFill/>
          <a:ln/>
        </p:spPr>
        <p:txBody>
          <a:bodyPr wrap="square" rtlCol="0" anchor="ctr"/>
          <a:lstStyle/>
          <a:p>
            <a:pPr marL="0" indent="0">
              <a:buNone/>
            </a:pPr>
            <a:r>
              <a:rPr lang="en-US" sz="900" dirty="0">
                <a:solidFill>
                  <a:srgbClr val="8BAEC8"/>
                </a:solidFill>
                <a:latin typeface="Arial" pitchFamily="34" charset="0"/>
                <a:ea typeface="Arial" pitchFamily="34" charset="-122"/>
                <a:cs typeface="Arial" pitchFamily="34" charset="-120"/>
              </a:rPr>
              <a:t>Push &amp; manage tests</a:t>
            </a:r>
            <a:endParaRPr lang="en-US" sz="900" dirty="0"/>
          </a:p>
        </p:txBody>
      </p:sp>
      <p:sp>
        <p:nvSpPr>
          <p:cNvPr id="33" name="Shape 31"/>
          <p:cNvSpPr/>
          <p:nvPr/>
        </p:nvSpPr>
        <p:spPr>
          <a:xfrm>
            <a:off x="5577840" y="2798064"/>
            <a:ext cx="960120" cy="0"/>
          </a:xfrm>
          <a:prstGeom prst="line">
            <a:avLst/>
          </a:prstGeom>
          <a:noFill/>
          <a:ln w="12700">
            <a:solidFill>
              <a:srgbClr val="028090"/>
            </a:solidFill>
            <a:prstDash val="dashDot"/>
          </a:ln>
        </p:spPr>
      </p:sp>
      <p:sp>
        <p:nvSpPr>
          <p:cNvPr id="34" name="Text 32"/>
          <p:cNvSpPr/>
          <p:nvPr/>
        </p:nvSpPr>
        <p:spPr>
          <a:xfrm>
            <a:off x="182880" y="4041648"/>
            <a:ext cx="2743200" cy="219456"/>
          </a:xfrm>
          <a:prstGeom prst="rect">
            <a:avLst/>
          </a:prstGeom>
          <a:noFill/>
          <a:ln/>
        </p:spPr>
        <p:txBody>
          <a:bodyPr wrap="square" rtlCol="0" anchor="ctr"/>
          <a:lstStyle/>
          <a:p>
            <a:pPr marL="0" indent="0" algn="ctr">
              <a:buNone/>
            </a:pPr>
            <a:r>
              <a:rPr lang="en-US" sz="900" i="1" dirty="0">
                <a:solidFill>
                  <a:srgbClr val="6A8FAA"/>
                </a:solidFill>
                <a:latin typeface="Arial" pitchFamily="34" charset="0"/>
                <a:ea typeface="Arial" pitchFamily="34" charset="-122"/>
                <a:cs typeface="Arial" pitchFamily="34" charset="-120"/>
              </a:rPr>
              <a:t>Bearer / API Key</a:t>
            </a:r>
            <a:endParaRPr lang="en-US" sz="900" dirty="0"/>
          </a:p>
        </p:txBody>
      </p:sp>
      <p:sp>
        <p:nvSpPr>
          <p:cNvPr id="35" name="Text 33"/>
          <p:cNvSpPr/>
          <p:nvPr/>
        </p:nvSpPr>
        <p:spPr>
          <a:xfrm>
            <a:off x="6217920" y="4041648"/>
            <a:ext cx="2743200" cy="219456"/>
          </a:xfrm>
          <a:prstGeom prst="rect">
            <a:avLst/>
          </a:prstGeom>
          <a:noFill/>
          <a:ln/>
        </p:spPr>
        <p:txBody>
          <a:bodyPr wrap="square" rtlCol="0" anchor="ctr"/>
          <a:lstStyle/>
          <a:p>
            <a:pPr marL="0" indent="0" algn="ctr">
              <a:buNone/>
            </a:pPr>
            <a:r>
              <a:rPr lang="en-US" sz="900" i="1" dirty="0">
                <a:solidFill>
                  <a:srgbClr val="6A8FAA"/>
                </a:solidFill>
                <a:latin typeface="Arial" pitchFamily="34" charset="0"/>
                <a:ea typeface="Arial" pitchFamily="34" charset="-122"/>
                <a:cs typeface="Arial" pitchFamily="34" charset="-120"/>
              </a:rPr>
              <a:t>Basic Auth + OAuth 2.0</a:t>
            </a:r>
            <a:endParaRPr lang="en-US" sz="900" dirty="0"/>
          </a:p>
        </p:txBody>
      </p:sp>
      <p:sp>
        <p:nvSpPr>
          <p:cNvPr id="36" name="Shape 34"/>
          <p:cNvSpPr/>
          <p:nvPr/>
        </p:nvSpPr>
        <p:spPr>
          <a:xfrm>
            <a:off x="457200" y="4370832"/>
            <a:ext cx="8229600" cy="420624"/>
          </a:xfrm>
          <a:prstGeom prst="roundRect">
            <a:avLst>
              <a:gd name="adj" fmla="val 17391"/>
            </a:avLst>
          </a:prstGeom>
          <a:solidFill>
            <a:srgbClr val="0D2A44"/>
          </a:solidFill>
          <a:ln w="12700">
            <a:solidFill>
              <a:srgbClr val="2A4A72"/>
            </a:solidFill>
            <a:prstDash val="solid"/>
          </a:ln>
        </p:spPr>
      </p:sp>
      <p:sp>
        <p:nvSpPr>
          <p:cNvPr id="37" name="Text 35"/>
          <p:cNvSpPr/>
          <p:nvPr/>
        </p:nvSpPr>
        <p:spPr>
          <a:xfrm>
            <a:off x="594360" y="4389120"/>
            <a:ext cx="7955280" cy="384048"/>
          </a:xfrm>
          <a:prstGeom prst="rect">
            <a:avLst/>
          </a:prstGeom>
          <a:noFill/>
          <a:ln/>
        </p:spPr>
        <p:txBody>
          <a:bodyPr wrap="square" rtlCol="0" anchor="ctr"/>
          <a:lstStyle/>
          <a:p>
            <a:pPr marL="0" indent="0">
              <a:buNone/>
            </a:pPr>
            <a:r>
              <a:rPr lang="en-US" sz="1050" dirty="0">
                <a:solidFill>
                  <a:srgbClr val="8BAEC8"/>
                </a:solidFill>
                <a:latin typeface="Arial" pitchFamily="34" charset="0"/>
                <a:ea typeface="Arial" pitchFamily="34" charset="-122"/>
                <a:cs typeface="Arial" pitchFamily="34" charset="-120"/>
              </a:rPr>
              <a:t>All credentials stored in VS Code SecretStorage (OS-native keychain) — never in config files or source control</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name="Slide 8">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8778240" y="4846320"/>
            <a:ext cx="274320" cy="182880"/>
          </a:xfrm>
          <a:prstGeom prst="rect">
            <a:avLst/>
          </a:prstGeom>
          <a:noFill/>
          <a:ln/>
        </p:spPr>
        <p:txBody>
          <a:bodyPr wrap="square" rtlCol="0" anchor="ctr"/>
          <a:lstStyle/>
          <a:p>
            <a:pPr marL="0" indent="0" algn="r">
              <a:buNone/>
            </a:pPr>
            <a:r>
              <a:rPr lang="en-US" sz="800" dirty="0">
                <a:solidFill>
                  <a:srgbClr val="8898AA"/>
                </a:solidFill>
                <a:latin typeface="Arial" pitchFamily="34" charset="0"/>
                <a:ea typeface="Arial" pitchFamily="34" charset="-122"/>
                <a:cs typeface="Arial" pitchFamily="34" charset="-120"/>
              </a:rPr>
              <a:t>8</a:t>
            </a:r>
            <a:endParaRPr lang="en-US" sz="800" dirty="0"/>
          </a:p>
        </p:txBody>
      </p:sp>
      <p:sp>
        <p:nvSpPr>
          <p:cNvPr id="3" name="Shape 1"/>
          <p:cNvSpPr/>
          <p:nvPr/>
        </p:nvSpPr>
        <p:spPr>
          <a:xfrm>
            <a:off x="457200" y="274320"/>
            <a:ext cx="1371600" cy="256032"/>
          </a:xfrm>
          <a:prstGeom prst="roundRect">
            <a:avLst>
              <a:gd name="adj" fmla="val 21429"/>
            </a:avLst>
          </a:prstGeom>
          <a:solidFill>
            <a:srgbClr val="1B2A4A"/>
          </a:solidFill>
          <a:ln w="12700">
            <a:solidFill>
              <a:srgbClr val="1B2A4A"/>
            </a:solidFill>
            <a:prstDash val="solid"/>
          </a:ln>
        </p:spPr>
      </p:sp>
      <p:sp>
        <p:nvSpPr>
          <p:cNvPr id="4" name="Text 2"/>
          <p:cNvSpPr/>
          <p:nvPr/>
        </p:nvSpPr>
        <p:spPr>
          <a:xfrm>
            <a:off x="457200" y="274320"/>
            <a:ext cx="1371600" cy="256032"/>
          </a:xfrm>
          <a:prstGeom prst="rect">
            <a:avLst/>
          </a:prstGeom>
          <a:noFill/>
          <a:ln/>
        </p:spPr>
        <p:txBody>
          <a:bodyPr wrap="square" lIns="0" tIns="0" rIns="0" bIns="0" rtlCol="0" anchor="ctr"/>
          <a:lstStyle/>
          <a:p>
            <a:pPr marL="0" indent="0" algn="ctr">
              <a:buNone/>
            </a:pPr>
            <a:r>
              <a:rPr lang="en-US" sz="800" b="1" kern="0" spc="150" dirty="0">
                <a:solidFill>
                  <a:srgbClr val="FFFFFF"/>
                </a:solidFill>
                <a:latin typeface="Arial" pitchFamily="34" charset="0"/>
                <a:ea typeface="Arial" pitchFamily="34" charset="-122"/>
                <a:cs typeface="Arial" pitchFamily="34" charset="-120"/>
              </a:rPr>
              <a:t>SECURITY</a:t>
            </a:r>
            <a:endParaRPr lang="en-US" sz="800" dirty="0"/>
          </a:p>
        </p:txBody>
      </p:sp>
      <p:sp>
        <p:nvSpPr>
          <p:cNvPr id="5" name="Text 3"/>
          <p:cNvSpPr/>
          <p:nvPr/>
        </p:nvSpPr>
        <p:spPr>
          <a:xfrm>
            <a:off x="457200" y="594360"/>
            <a:ext cx="8229600" cy="548640"/>
          </a:xfrm>
          <a:prstGeom prst="rect">
            <a:avLst/>
          </a:prstGeom>
          <a:noFill/>
          <a:ln/>
        </p:spPr>
        <p:txBody>
          <a:bodyPr wrap="square"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Security &amp; Compliance Controls</a:t>
            </a:r>
            <a:endParaRPr lang="en-US" sz="3000" dirty="0"/>
          </a:p>
        </p:txBody>
      </p:sp>
      <p:sp>
        <p:nvSpPr>
          <p:cNvPr id="6" name="Shape 4"/>
          <p:cNvSpPr/>
          <p:nvPr/>
        </p:nvSpPr>
        <p:spPr>
          <a:xfrm>
            <a:off x="457200" y="1298448"/>
            <a:ext cx="4160520" cy="1024128"/>
          </a:xfrm>
          <a:prstGeom prst="roundRect">
            <a:avLst>
              <a:gd name="adj" fmla="val 8929"/>
            </a:avLst>
          </a:prstGeom>
          <a:solidFill>
            <a:srgbClr val="E8F8F0"/>
          </a:solidFill>
          <a:ln w="12700">
            <a:solidFill>
              <a:srgbClr val="D0DAE8"/>
            </a:solidFill>
            <a:prstDash val="solid"/>
          </a:ln>
          <a:effectLst>
            <a:outerShdw blurRad="177800" dist="50800" dir="2700000" algn="bl" rotWithShape="0">
              <a:srgbClr val="000000">
                <a:alpha val="10000"/>
              </a:srgbClr>
            </a:outerShdw>
          </a:effectLst>
        </p:spPr>
      </p:sp>
      <p:sp>
        <p:nvSpPr>
          <p:cNvPr id="7" name="Shape 5"/>
          <p:cNvSpPr/>
          <p:nvPr/>
        </p:nvSpPr>
        <p:spPr>
          <a:xfrm>
            <a:off x="621792" y="1572768"/>
            <a:ext cx="457200" cy="457200"/>
          </a:xfrm>
          <a:prstGeom prst="ellipse">
            <a:avLst/>
          </a:prstGeom>
          <a:solidFill>
            <a:srgbClr val="E8F8F0"/>
          </a:solidFill>
          <a:ln w="12700">
            <a:solidFill>
              <a:srgbClr val="1A6B3A"/>
            </a:solidFill>
            <a:prstDash val="solid"/>
          </a:ln>
        </p:spPr>
      </p:sp>
      <p:sp>
        <p:nvSpPr>
          <p:cNvPr id="8" name="Text 6"/>
          <p:cNvSpPr/>
          <p:nvPr/>
        </p:nvSpPr>
        <p:spPr>
          <a:xfrm>
            <a:off x="621792" y="1554480"/>
            <a:ext cx="457200" cy="457200"/>
          </a:xfrm>
          <a:prstGeom prst="rect">
            <a:avLst/>
          </a:prstGeom>
          <a:noFill/>
          <a:ln/>
        </p:spPr>
        <p:txBody>
          <a:bodyPr wrap="square" lIns="0" tIns="0" rIns="0" bIns="0" rtlCol="0" anchor="ctr"/>
          <a:lstStyle/>
          <a:p>
            <a:pPr marL="0" indent="0" algn="ctr">
              <a:buNone/>
            </a:pPr>
            <a:r>
              <a:rPr lang="en-US" sz="1700" dirty="0">
                <a:solidFill>
                  <a:srgbClr val="000000"/>
                </a:solidFill>
              </a:rPr>
              <a:t>🔑</a:t>
            </a:r>
            <a:endParaRPr lang="en-US" sz="1700" dirty="0"/>
          </a:p>
        </p:txBody>
      </p:sp>
      <p:sp>
        <p:nvSpPr>
          <p:cNvPr id="9" name="Text 7"/>
          <p:cNvSpPr/>
          <p:nvPr/>
        </p:nvSpPr>
        <p:spPr>
          <a:xfrm>
            <a:off x="1207008" y="1426464"/>
            <a:ext cx="3273552" cy="292608"/>
          </a:xfrm>
          <a:prstGeom prst="rect">
            <a:avLst/>
          </a:prstGeom>
          <a:noFill/>
          <a:ln/>
        </p:spPr>
        <p:txBody>
          <a:bodyPr wrap="square" rtlCol="0" anchor="ctr"/>
          <a:lstStyle/>
          <a:p>
            <a:pPr marL="0" indent="0">
              <a:buNone/>
            </a:pPr>
            <a:r>
              <a:rPr lang="en-US" sz="1200" b="1" dirty="0">
                <a:solidFill>
                  <a:srgbClr val="1A6B3A"/>
                </a:solidFill>
                <a:latin typeface="Arial" pitchFamily="34" charset="0"/>
                <a:ea typeface="Arial" pitchFamily="34" charset="-122"/>
                <a:cs typeface="Arial" pitchFamily="34" charset="-120"/>
              </a:rPr>
              <a:t>Credential Isolation</a:t>
            </a:r>
            <a:endParaRPr lang="en-US" sz="1200" dirty="0"/>
          </a:p>
        </p:txBody>
      </p:sp>
      <p:sp>
        <p:nvSpPr>
          <p:cNvPr id="10" name="Text 8"/>
          <p:cNvSpPr/>
          <p:nvPr/>
        </p:nvSpPr>
        <p:spPr>
          <a:xfrm>
            <a:off x="1207008" y="1755648"/>
            <a:ext cx="3273552" cy="512064"/>
          </a:xfrm>
          <a:prstGeom prst="rect">
            <a:avLst/>
          </a:prstGeom>
          <a:noFill/>
          <a:ln/>
        </p:spPr>
        <p:txBody>
          <a:bodyPr wrap="square" rtlCol="0" anchor="ctr"/>
          <a:lstStyle/>
          <a:p>
            <a:pPr marL="0" indent="0">
              <a:buNone/>
            </a:pPr>
            <a:r>
              <a:rPr lang="en-US" sz="1000" dirty="0">
                <a:solidFill>
                  <a:srgbClr val="4A5568"/>
                </a:solidFill>
                <a:latin typeface="Arial" pitchFamily="34" charset="0"/>
                <a:ea typeface="Arial" pitchFamily="34" charset="-122"/>
                <a:cs typeface="Arial" pitchFamily="34" charset="-120"/>
              </a:rPr>
              <a:t>LLM API key, Jira token, and Xray client ID/secret stored exclusively in VS Code SecretStorage (OS-native keychain). Never in config files or source control.</a:t>
            </a:r>
            <a:endParaRPr lang="en-US" sz="1000" dirty="0"/>
          </a:p>
        </p:txBody>
      </p:sp>
      <p:sp>
        <p:nvSpPr>
          <p:cNvPr id="11" name="Shape 9"/>
          <p:cNvSpPr/>
          <p:nvPr/>
        </p:nvSpPr>
        <p:spPr>
          <a:xfrm>
            <a:off x="4800600" y="1298448"/>
            <a:ext cx="4160520" cy="1024128"/>
          </a:xfrm>
          <a:prstGeom prst="roundRect">
            <a:avLst>
              <a:gd name="adj" fmla="val 8929"/>
            </a:avLst>
          </a:prstGeom>
          <a:solidFill>
            <a:srgbClr val="E8F0F8"/>
          </a:solidFill>
          <a:ln w="12700">
            <a:solidFill>
              <a:srgbClr val="D0DAE8"/>
            </a:solidFill>
            <a:prstDash val="solid"/>
          </a:ln>
          <a:effectLst>
            <a:outerShdw blurRad="177800" dist="50800" dir="2700000" algn="bl" rotWithShape="0">
              <a:srgbClr val="000000">
                <a:alpha val="10000"/>
              </a:srgbClr>
            </a:outerShdw>
          </a:effectLst>
        </p:spPr>
      </p:sp>
      <p:sp>
        <p:nvSpPr>
          <p:cNvPr id="12" name="Shape 10"/>
          <p:cNvSpPr/>
          <p:nvPr/>
        </p:nvSpPr>
        <p:spPr>
          <a:xfrm>
            <a:off x="4965192" y="1572768"/>
            <a:ext cx="457200" cy="457200"/>
          </a:xfrm>
          <a:prstGeom prst="ellipse">
            <a:avLst/>
          </a:prstGeom>
          <a:solidFill>
            <a:srgbClr val="E8F0F8"/>
          </a:solidFill>
          <a:ln w="12700">
            <a:solidFill>
              <a:srgbClr val="1A3A6B"/>
            </a:solidFill>
            <a:prstDash val="solid"/>
          </a:ln>
        </p:spPr>
      </p:sp>
      <p:sp>
        <p:nvSpPr>
          <p:cNvPr id="13" name="Text 11"/>
          <p:cNvSpPr/>
          <p:nvPr/>
        </p:nvSpPr>
        <p:spPr>
          <a:xfrm>
            <a:off x="4965192" y="1554480"/>
            <a:ext cx="457200" cy="457200"/>
          </a:xfrm>
          <a:prstGeom prst="rect">
            <a:avLst/>
          </a:prstGeom>
          <a:noFill/>
          <a:ln/>
        </p:spPr>
        <p:txBody>
          <a:bodyPr wrap="square" lIns="0" tIns="0" rIns="0" bIns="0" rtlCol="0" anchor="ctr"/>
          <a:lstStyle/>
          <a:p>
            <a:pPr marL="0" indent="0" algn="ctr">
              <a:buNone/>
            </a:pPr>
            <a:r>
              <a:rPr lang="en-US" sz="1700" dirty="0">
                <a:solidFill>
                  <a:srgbClr val="000000"/>
                </a:solidFill>
              </a:rPr>
              <a:t>🛡️</a:t>
            </a:r>
            <a:endParaRPr lang="en-US" sz="1700" dirty="0"/>
          </a:p>
        </p:txBody>
      </p:sp>
      <p:sp>
        <p:nvSpPr>
          <p:cNvPr id="14" name="Text 12"/>
          <p:cNvSpPr/>
          <p:nvPr/>
        </p:nvSpPr>
        <p:spPr>
          <a:xfrm>
            <a:off x="5550408" y="1426464"/>
            <a:ext cx="3273552" cy="292608"/>
          </a:xfrm>
          <a:prstGeom prst="rect">
            <a:avLst/>
          </a:prstGeom>
          <a:noFill/>
          <a:ln/>
        </p:spPr>
        <p:txBody>
          <a:bodyPr wrap="square" rtlCol="0" anchor="ctr"/>
          <a:lstStyle/>
          <a:p>
            <a:pPr marL="0" indent="0">
              <a:buNone/>
            </a:pPr>
            <a:r>
              <a:rPr lang="en-US" sz="1200" b="1" dirty="0">
                <a:solidFill>
                  <a:srgbClr val="1A3A6B"/>
                </a:solidFill>
                <a:latin typeface="Arial" pitchFamily="34" charset="0"/>
                <a:ea typeface="Arial" pitchFamily="34" charset="-122"/>
                <a:cs typeface="Arial" pitchFamily="34" charset="-120"/>
              </a:rPr>
              <a:t>Webview Content Security Policy</a:t>
            </a:r>
            <a:endParaRPr lang="en-US" sz="1200" dirty="0"/>
          </a:p>
        </p:txBody>
      </p:sp>
      <p:sp>
        <p:nvSpPr>
          <p:cNvPr id="15" name="Text 13"/>
          <p:cNvSpPr/>
          <p:nvPr/>
        </p:nvSpPr>
        <p:spPr>
          <a:xfrm>
            <a:off x="5550408" y="1755648"/>
            <a:ext cx="3273552" cy="512064"/>
          </a:xfrm>
          <a:prstGeom prst="rect">
            <a:avLst/>
          </a:prstGeom>
          <a:noFill/>
          <a:ln/>
        </p:spPr>
        <p:txBody>
          <a:bodyPr wrap="square" rtlCol="0" anchor="ctr"/>
          <a:lstStyle/>
          <a:p>
            <a:pPr marL="0" indent="0">
              <a:buNone/>
            </a:pPr>
            <a:r>
              <a:rPr lang="en-US" sz="1000" dirty="0">
                <a:solidFill>
                  <a:srgbClr val="4A5568"/>
                </a:solidFill>
                <a:latin typeface="Arial" pitchFamily="34" charset="0"/>
                <a:ea typeface="Arial" pitchFamily="34" charset="-122"/>
                <a:cs typeface="Arial" pitchFamily="34" charset="-120"/>
              </a:rPr>
              <a:t>default-src 'none' — all scripts require a per-load cryptographic nonce. Inline scripts and eval() are blocked. External image loading restricted.</a:t>
            </a:r>
            <a:endParaRPr lang="en-US" sz="1000" dirty="0"/>
          </a:p>
        </p:txBody>
      </p:sp>
      <p:sp>
        <p:nvSpPr>
          <p:cNvPr id="16" name="Shape 14"/>
          <p:cNvSpPr/>
          <p:nvPr/>
        </p:nvSpPr>
        <p:spPr>
          <a:xfrm>
            <a:off x="457200" y="2532888"/>
            <a:ext cx="4160520" cy="1024128"/>
          </a:xfrm>
          <a:prstGeom prst="roundRect">
            <a:avLst>
              <a:gd name="adj" fmla="val 8929"/>
            </a:avLst>
          </a:prstGeom>
          <a:solidFill>
            <a:srgbClr val="F3EEF8"/>
          </a:solidFill>
          <a:ln w="12700">
            <a:solidFill>
              <a:srgbClr val="D0DAE8"/>
            </a:solidFill>
            <a:prstDash val="solid"/>
          </a:ln>
          <a:effectLst>
            <a:outerShdw blurRad="177800" dist="50800" dir="2700000" algn="bl" rotWithShape="0">
              <a:srgbClr val="000000">
                <a:alpha val="10000"/>
              </a:srgbClr>
            </a:outerShdw>
          </a:effectLst>
        </p:spPr>
      </p:sp>
      <p:sp>
        <p:nvSpPr>
          <p:cNvPr id="17" name="Shape 15"/>
          <p:cNvSpPr/>
          <p:nvPr/>
        </p:nvSpPr>
        <p:spPr>
          <a:xfrm>
            <a:off x="621792" y="2807208"/>
            <a:ext cx="457200" cy="457200"/>
          </a:xfrm>
          <a:prstGeom prst="ellipse">
            <a:avLst/>
          </a:prstGeom>
          <a:solidFill>
            <a:srgbClr val="F3EEF8"/>
          </a:solidFill>
          <a:ln w="12700">
            <a:solidFill>
              <a:srgbClr val="5B3270"/>
            </a:solidFill>
            <a:prstDash val="solid"/>
          </a:ln>
        </p:spPr>
      </p:sp>
      <p:sp>
        <p:nvSpPr>
          <p:cNvPr id="18" name="Text 16"/>
          <p:cNvSpPr/>
          <p:nvPr/>
        </p:nvSpPr>
        <p:spPr>
          <a:xfrm>
            <a:off x="621792" y="2788920"/>
            <a:ext cx="457200" cy="457200"/>
          </a:xfrm>
          <a:prstGeom prst="rect">
            <a:avLst/>
          </a:prstGeom>
          <a:noFill/>
          <a:ln/>
        </p:spPr>
        <p:txBody>
          <a:bodyPr wrap="square" lIns="0" tIns="0" rIns="0" bIns="0" rtlCol="0" anchor="ctr"/>
          <a:lstStyle/>
          <a:p>
            <a:pPr marL="0" indent="0" algn="ctr">
              <a:buNone/>
            </a:pPr>
            <a:r>
              <a:rPr lang="en-US" sz="1700" dirty="0">
                <a:solidFill>
                  <a:srgbClr val="000000"/>
                </a:solidFill>
              </a:rPr>
              <a:t>🔐</a:t>
            </a:r>
            <a:endParaRPr lang="en-US" sz="1700" dirty="0"/>
          </a:p>
        </p:txBody>
      </p:sp>
      <p:sp>
        <p:nvSpPr>
          <p:cNvPr id="19" name="Text 17"/>
          <p:cNvSpPr/>
          <p:nvPr/>
        </p:nvSpPr>
        <p:spPr>
          <a:xfrm>
            <a:off x="1207008" y="2660904"/>
            <a:ext cx="3273552" cy="292608"/>
          </a:xfrm>
          <a:prstGeom prst="rect">
            <a:avLst/>
          </a:prstGeom>
          <a:noFill/>
          <a:ln/>
        </p:spPr>
        <p:txBody>
          <a:bodyPr wrap="square" rtlCol="0" anchor="ctr"/>
          <a:lstStyle/>
          <a:p>
            <a:pPr marL="0" indent="0">
              <a:buNone/>
            </a:pPr>
            <a:r>
              <a:rPr lang="en-US" sz="1200" b="1" dirty="0">
                <a:solidFill>
                  <a:srgbClr val="5B3270"/>
                </a:solidFill>
                <a:latin typeface="Arial" pitchFamily="34" charset="0"/>
                <a:ea typeface="Arial" pitchFamily="34" charset="-122"/>
                <a:cs typeface="Arial" pitchFamily="34" charset="-120"/>
              </a:rPr>
              <a:t>Authentication Standards</a:t>
            </a:r>
            <a:endParaRPr lang="en-US" sz="1200" dirty="0"/>
          </a:p>
        </p:txBody>
      </p:sp>
      <p:sp>
        <p:nvSpPr>
          <p:cNvPr id="20" name="Text 18"/>
          <p:cNvSpPr/>
          <p:nvPr/>
        </p:nvSpPr>
        <p:spPr>
          <a:xfrm>
            <a:off x="1207008" y="2990088"/>
            <a:ext cx="3273552" cy="512064"/>
          </a:xfrm>
          <a:prstGeom prst="rect">
            <a:avLst/>
          </a:prstGeom>
          <a:noFill/>
          <a:ln/>
        </p:spPr>
        <p:txBody>
          <a:bodyPr wrap="square" rtlCol="0" anchor="ctr"/>
          <a:lstStyle/>
          <a:p>
            <a:pPr marL="0" indent="0">
              <a:buNone/>
            </a:pPr>
            <a:r>
              <a:rPr lang="en-US" sz="1000" dirty="0">
                <a:solidFill>
                  <a:srgbClr val="4A5568"/>
                </a:solidFill>
                <a:latin typeface="Arial" pitchFamily="34" charset="0"/>
                <a:ea typeface="Arial" pitchFamily="34" charset="-122"/>
                <a:cs typeface="Arial" pitchFamily="34" charset="-120"/>
              </a:rPr>
              <a:t>Jira: HTTP Basic (email:token). Xray: OAuth 2.0 client credentials — Bearer token per session, never persisted. LLM providers: API keys in Authorization headers.</a:t>
            </a:r>
            <a:endParaRPr lang="en-US" sz="1000" dirty="0"/>
          </a:p>
        </p:txBody>
      </p:sp>
      <p:sp>
        <p:nvSpPr>
          <p:cNvPr id="21" name="Shape 19"/>
          <p:cNvSpPr/>
          <p:nvPr/>
        </p:nvSpPr>
        <p:spPr>
          <a:xfrm>
            <a:off x="4800600" y="2532888"/>
            <a:ext cx="4160520" cy="1024128"/>
          </a:xfrm>
          <a:prstGeom prst="roundRect">
            <a:avLst>
              <a:gd name="adj" fmla="val 8929"/>
            </a:avLst>
          </a:prstGeom>
          <a:solidFill>
            <a:srgbClr val="F8F0E8"/>
          </a:solidFill>
          <a:ln w="12700">
            <a:solidFill>
              <a:srgbClr val="D0DAE8"/>
            </a:solidFill>
            <a:prstDash val="solid"/>
          </a:ln>
          <a:effectLst>
            <a:outerShdw blurRad="177800" dist="50800" dir="2700000" algn="bl" rotWithShape="0">
              <a:srgbClr val="000000">
                <a:alpha val="10000"/>
              </a:srgbClr>
            </a:outerShdw>
          </a:effectLst>
        </p:spPr>
      </p:sp>
      <p:sp>
        <p:nvSpPr>
          <p:cNvPr id="22" name="Shape 20"/>
          <p:cNvSpPr/>
          <p:nvPr/>
        </p:nvSpPr>
        <p:spPr>
          <a:xfrm>
            <a:off x="4965192" y="2807208"/>
            <a:ext cx="457200" cy="457200"/>
          </a:xfrm>
          <a:prstGeom prst="ellipse">
            <a:avLst/>
          </a:prstGeom>
          <a:solidFill>
            <a:srgbClr val="F8F0E8"/>
          </a:solidFill>
          <a:ln w="12700">
            <a:solidFill>
              <a:srgbClr val="6B3A1A"/>
            </a:solidFill>
            <a:prstDash val="solid"/>
          </a:ln>
        </p:spPr>
      </p:sp>
      <p:sp>
        <p:nvSpPr>
          <p:cNvPr id="23" name="Text 21"/>
          <p:cNvSpPr/>
          <p:nvPr/>
        </p:nvSpPr>
        <p:spPr>
          <a:xfrm>
            <a:off x="4965192" y="2788920"/>
            <a:ext cx="457200" cy="457200"/>
          </a:xfrm>
          <a:prstGeom prst="rect">
            <a:avLst/>
          </a:prstGeom>
          <a:noFill/>
          <a:ln/>
        </p:spPr>
        <p:txBody>
          <a:bodyPr wrap="square" lIns="0" tIns="0" rIns="0" bIns="0" rtlCol="0" anchor="ctr"/>
          <a:lstStyle/>
          <a:p>
            <a:pPr marL="0" indent="0" algn="ctr">
              <a:buNone/>
            </a:pPr>
            <a:r>
              <a:rPr lang="en-US" sz="1700" dirty="0">
                <a:solidFill>
                  <a:srgbClr val="000000"/>
                </a:solidFill>
              </a:rPr>
              <a:t>✅</a:t>
            </a:r>
            <a:endParaRPr lang="en-US" sz="1700" dirty="0"/>
          </a:p>
        </p:txBody>
      </p:sp>
      <p:sp>
        <p:nvSpPr>
          <p:cNvPr id="24" name="Text 22"/>
          <p:cNvSpPr/>
          <p:nvPr/>
        </p:nvSpPr>
        <p:spPr>
          <a:xfrm>
            <a:off x="5550408" y="2660904"/>
            <a:ext cx="3273552" cy="292608"/>
          </a:xfrm>
          <a:prstGeom prst="rect">
            <a:avLst/>
          </a:prstGeom>
          <a:noFill/>
          <a:ln/>
        </p:spPr>
        <p:txBody>
          <a:bodyPr wrap="square" rtlCol="0" anchor="ctr"/>
          <a:lstStyle/>
          <a:p>
            <a:pPr marL="0" indent="0">
              <a:buNone/>
            </a:pPr>
            <a:r>
              <a:rPr lang="en-US" sz="1200" b="1" dirty="0">
                <a:solidFill>
                  <a:srgbClr val="6B3A1A"/>
                </a:solidFill>
                <a:latin typeface="Arial" pitchFamily="34" charset="0"/>
                <a:ea typeface="Arial" pitchFamily="34" charset="-122"/>
                <a:cs typeface="Arial" pitchFamily="34" charset="-120"/>
              </a:rPr>
              <a:t>Dependency Security Audit</a:t>
            </a:r>
            <a:endParaRPr lang="en-US" sz="1200" dirty="0"/>
          </a:p>
        </p:txBody>
      </p:sp>
      <p:sp>
        <p:nvSpPr>
          <p:cNvPr id="25" name="Text 23"/>
          <p:cNvSpPr/>
          <p:nvPr/>
        </p:nvSpPr>
        <p:spPr>
          <a:xfrm>
            <a:off x="5550408" y="2990088"/>
            <a:ext cx="3273552" cy="512064"/>
          </a:xfrm>
          <a:prstGeom prst="rect">
            <a:avLst/>
          </a:prstGeom>
          <a:noFill/>
          <a:ln/>
        </p:spPr>
        <p:txBody>
          <a:bodyPr wrap="square" rtlCol="0" anchor="ctr"/>
          <a:lstStyle/>
          <a:p>
            <a:pPr marL="0" indent="0">
              <a:buNone/>
            </a:pPr>
            <a:r>
              <a:rPr lang="en-US" sz="1000" dirty="0">
                <a:solidFill>
                  <a:srgbClr val="4A5568"/>
                </a:solidFill>
                <a:latin typeface="Arial" pitchFamily="34" charset="0"/>
                <a:ea typeface="Arial" pitchFamily="34" charset="-122"/>
                <a:cs typeface="Arial" pitchFamily="34" charset="-120"/>
              </a:rPr>
              <a:t>npm audit --omit=dev --audit-level=high runs automatically on every CI build and every release workflow. No high-severity vulnerabilities allowed to ship.</a:t>
            </a:r>
            <a:endParaRPr lang="en-US" sz="1000" dirty="0"/>
          </a:p>
        </p:txBody>
      </p:sp>
      <p:sp>
        <p:nvSpPr>
          <p:cNvPr id="26" name="Shape 24"/>
          <p:cNvSpPr/>
          <p:nvPr/>
        </p:nvSpPr>
        <p:spPr>
          <a:xfrm>
            <a:off x="457200" y="3767328"/>
            <a:ext cx="8229600" cy="1024128"/>
          </a:xfrm>
          <a:prstGeom prst="roundRect">
            <a:avLst>
              <a:gd name="adj" fmla="val 8929"/>
            </a:avLst>
          </a:prstGeom>
          <a:solidFill>
            <a:srgbClr val="E8F5F0"/>
          </a:solidFill>
          <a:ln w="12700">
            <a:solidFill>
              <a:srgbClr val="D0DAE8"/>
            </a:solidFill>
            <a:prstDash val="solid"/>
          </a:ln>
          <a:effectLst>
            <a:outerShdw blurRad="177800" dist="50800" dir="2700000" algn="bl" rotWithShape="0">
              <a:srgbClr val="000000">
                <a:alpha val="10000"/>
              </a:srgbClr>
            </a:outerShdw>
          </a:effectLst>
        </p:spPr>
      </p:sp>
      <p:sp>
        <p:nvSpPr>
          <p:cNvPr id="27" name="Shape 25"/>
          <p:cNvSpPr/>
          <p:nvPr/>
        </p:nvSpPr>
        <p:spPr>
          <a:xfrm>
            <a:off x="621792" y="4041648"/>
            <a:ext cx="457200" cy="457200"/>
          </a:xfrm>
          <a:prstGeom prst="ellipse">
            <a:avLst/>
          </a:prstGeom>
          <a:solidFill>
            <a:srgbClr val="E8F5F0"/>
          </a:solidFill>
          <a:ln w="12700">
            <a:solidFill>
              <a:srgbClr val="1A5B4A"/>
            </a:solidFill>
            <a:prstDash val="solid"/>
          </a:ln>
        </p:spPr>
      </p:sp>
      <p:sp>
        <p:nvSpPr>
          <p:cNvPr id="28" name="Text 26"/>
          <p:cNvSpPr/>
          <p:nvPr/>
        </p:nvSpPr>
        <p:spPr>
          <a:xfrm>
            <a:off x="621792" y="4023360"/>
            <a:ext cx="457200" cy="457200"/>
          </a:xfrm>
          <a:prstGeom prst="rect">
            <a:avLst/>
          </a:prstGeom>
          <a:noFill/>
          <a:ln/>
        </p:spPr>
        <p:txBody>
          <a:bodyPr wrap="square" lIns="0" tIns="0" rIns="0" bIns="0" rtlCol="0" anchor="ctr"/>
          <a:lstStyle/>
          <a:p>
            <a:pPr marL="0" indent="0" algn="ctr">
              <a:buNone/>
            </a:pPr>
            <a:r>
              <a:rPr lang="en-US" sz="1700" dirty="0">
                <a:solidFill>
                  <a:srgbClr val="000000"/>
                </a:solidFill>
              </a:rPr>
              <a:t>📋</a:t>
            </a:r>
            <a:endParaRPr lang="en-US" sz="1700" dirty="0"/>
          </a:p>
        </p:txBody>
      </p:sp>
      <p:sp>
        <p:nvSpPr>
          <p:cNvPr id="29" name="Text 27"/>
          <p:cNvSpPr/>
          <p:nvPr/>
        </p:nvSpPr>
        <p:spPr>
          <a:xfrm>
            <a:off x="1207008" y="3895344"/>
            <a:ext cx="7296912" cy="292608"/>
          </a:xfrm>
          <a:prstGeom prst="rect">
            <a:avLst/>
          </a:prstGeom>
          <a:noFill/>
          <a:ln/>
        </p:spPr>
        <p:txBody>
          <a:bodyPr wrap="square" rtlCol="0" anchor="ctr"/>
          <a:lstStyle/>
          <a:p>
            <a:pPr marL="0" indent="0">
              <a:buNone/>
            </a:pPr>
            <a:r>
              <a:rPr lang="en-US" sz="1200" b="1" dirty="0">
                <a:solidFill>
                  <a:srgbClr val="1A5B4A"/>
                </a:solidFill>
                <a:latin typeface="Arial" pitchFamily="34" charset="0"/>
                <a:ea typeface="Arial" pitchFamily="34" charset="-122"/>
                <a:cs typeface="Arial" pitchFamily="34" charset="-120"/>
              </a:rPr>
              <a:t>Input Validation &amp; No PII Logging</a:t>
            </a:r>
            <a:endParaRPr lang="en-US" sz="1200" dirty="0"/>
          </a:p>
        </p:txBody>
      </p:sp>
      <p:sp>
        <p:nvSpPr>
          <p:cNvPr id="30" name="Text 28"/>
          <p:cNvSpPr/>
          <p:nvPr/>
        </p:nvSpPr>
        <p:spPr>
          <a:xfrm>
            <a:off x="1207008" y="4187952"/>
            <a:ext cx="7296912" cy="512064"/>
          </a:xfrm>
          <a:prstGeom prst="rect">
            <a:avLst/>
          </a:prstGeom>
          <a:noFill/>
          <a:ln/>
        </p:spPr>
        <p:txBody>
          <a:bodyPr wrap="square" rtlCol="0" anchor="ctr"/>
          <a:lstStyle/>
          <a:p>
            <a:pPr marL="0" indent="0">
              <a:buNone/>
            </a:pPr>
            <a:r>
              <a:rPr lang="en-US" sz="1000" dirty="0">
                <a:solidFill>
                  <a:srgbClr val="4A5568"/>
                </a:solidFill>
                <a:latin typeface="Arial" pitchFamily="34" charset="0"/>
                <a:ea typeface="Arial" pitchFamily="34" charset="-122"/>
                <a:cs typeface="Arial" pitchFamily="34" charset="-120"/>
              </a:rPr>
              <a:t>Required field checks before every Xray push. HTTPS regex on Jira URLs. File MIME and extension verification. No credentials or personal data in any log or progress message.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name="Slide 9">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8778240" y="4846320"/>
            <a:ext cx="274320" cy="182880"/>
          </a:xfrm>
          <a:prstGeom prst="rect">
            <a:avLst/>
          </a:prstGeom>
          <a:noFill/>
          <a:ln/>
        </p:spPr>
        <p:txBody>
          <a:bodyPr wrap="square" rtlCol="0" anchor="ctr"/>
          <a:lstStyle/>
          <a:p>
            <a:pPr marL="0" indent="0" algn="r">
              <a:buNone/>
            </a:pPr>
            <a:r>
              <a:rPr lang="en-US" sz="800" dirty="0">
                <a:solidFill>
                  <a:srgbClr val="8898AA"/>
                </a:solidFill>
                <a:latin typeface="Arial" pitchFamily="34" charset="0"/>
                <a:ea typeface="Arial" pitchFamily="34" charset="-122"/>
                <a:cs typeface="Arial" pitchFamily="34" charset="-120"/>
              </a:rPr>
              <a:t>9</a:t>
            </a:r>
            <a:endParaRPr lang="en-US" sz="800" dirty="0"/>
          </a:p>
        </p:txBody>
      </p:sp>
      <p:sp>
        <p:nvSpPr>
          <p:cNvPr id="3" name="Shape 1"/>
          <p:cNvSpPr/>
          <p:nvPr/>
        </p:nvSpPr>
        <p:spPr>
          <a:xfrm>
            <a:off x="457200" y="274320"/>
            <a:ext cx="1371600" cy="256032"/>
          </a:xfrm>
          <a:prstGeom prst="roundRect">
            <a:avLst>
              <a:gd name="adj" fmla="val 21429"/>
            </a:avLst>
          </a:prstGeom>
          <a:solidFill>
            <a:srgbClr val="028090"/>
          </a:solidFill>
          <a:ln w="12700">
            <a:solidFill>
              <a:srgbClr val="028090"/>
            </a:solidFill>
            <a:prstDash val="solid"/>
          </a:ln>
        </p:spPr>
      </p:sp>
      <p:sp>
        <p:nvSpPr>
          <p:cNvPr id="4" name="Text 2"/>
          <p:cNvSpPr/>
          <p:nvPr/>
        </p:nvSpPr>
        <p:spPr>
          <a:xfrm>
            <a:off x="457200" y="274320"/>
            <a:ext cx="1371600" cy="256032"/>
          </a:xfrm>
          <a:prstGeom prst="rect">
            <a:avLst/>
          </a:prstGeom>
          <a:noFill/>
          <a:ln/>
        </p:spPr>
        <p:txBody>
          <a:bodyPr wrap="square" lIns="0" tIns="0" rIns="0" bIns="0" rtlCol="0" anchor="ctr"/>
          <a:lstStyle/>
          <a:p>
            <a:pPr marL="0" indent="0" algn="ctr">
              <a:buNone/>
            </a:pPr>
            <a:r>
              <a:rPr lang="en-US" sz="800" b="1" kern="0" spc="150" dirty="0">
                <a:solidFill>
                  <a:srgbClr val="FFFFFF"/>
                </a:solidFill>
                <a:latin typeface="Arial" pitchFamily="34" charset="0"/>
                <a:ea typeface="Arial" pitchFamily="34" charset="-122"/>
                <a:cs typeface="Arial" pitchFamily="34" charset="-120"/>
              </a:rPr>
              <a:t>ENGINEERING PROCESS</a:t>
            </a:r>
            <a:endParaRPr lang="en-US" sz="800" dirty="0"/>
          </a:p>
        </p:txBody>
      </p:sp>
      <p:sp>
        <p:nvSpPr>
          <p:cNvPr id="5" name="Text 3"/>
          <p:cNvSpPr/>
          <p:nvPr/>
        </p:nvSpPr>
        <p:spPr>
          <a:xfrm>
            <a:off x="457200" y="594360"/>
            <a:ext cx="8229600" cy="548640"/>
          </a:xfrm>
          <a:prstGeom prst="rect">
            <a:avLst/>
          </a:prstGeom>
          <a:noFill/>
          <a:ln/>
        </p:spPr>
        <p:txBody>
          <a:bodyPr wrap="square"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CI/CD Pipeline &amp; Quality Gates</a:t>
            </a:r>
            <a:endParaRPr lang="en-US" sz="3000" dirty="0"/>
          </a:p>
        </p:txBody>
      </p:sp>
      <p:sp>
        <p:nvSpPr>
          <p:cNvPr id="6" name="Text 4"/>
          <p:cNvSpPr/>
          <p:nvPr/>
        </p:nvSpPr>
        <p:spPr>
          <a:xfrm>
            <a:off x="457200" y="1261872"/>
            <a:ext cx="3931920" cy="274320"/>
          </a:xfrm>
          <a:prstGeom prst="rect">
            <a:avLst/>
          </a:prstGeom>
          <a:noFill/>
          <a:ln/>
        </p:spPr>
        <p:txBody>
          <a:bodyPr wrap="square" rtlCol="0" anchor="ctr"/>
          <a:lstStyle/>
          <a:p>
            <a:pPr marL="0" indent="0">
              <a:buNone/>
            </a:pPr>
            <a:r>
              <a:rPr lang="en-US" sz="1300" b="1" dirty="0">
                <a:solidFill>
                  <a:srgbClr val="1B2A4A"/>
                </a:solidFill>
                <a:latin typeface="Arial" pitchFamily="34" charset="0"/>
                <a:ea typeface="Arial" pitchFamily="34" charset="-122"/>
                <a:cs typeface="Arial" pitchFamily="34" charset="-120"/>
              </a:rPr>
              <a:t>CI — Every Pull Request</a:t>
            </a:r>
            <a:endParaRPr lang="en-US" sz="1300" dirty="0"/>
          </a:p>
        </p:txBody>
      </p:sp>
      <p:sp>
        <p:nvSpPr>
          <p:cNvPr id="7" name="Shape 5"/>
          <p:cNvSpPr/>
          <p:nvPr/>
        </p:nvSpPr>
        <p:spPr>
          <a:xfrm>
            <a:off x="457200" y="1609344"/>
            <a:ext cx="3931920" cy="457200"/>
          </a:xfrm>
          <a:prstGeom prst="roundRect">
            <a:avLst>
              <a:gd name="adj" fmla="val 20000"/>
            </a:avLst>
          </a:prstGeom>
          <a:solidFill>
            <a:srgbClr val="FFFFFF"/>
          </a:solidFill>
          <a:ln w="12700">
            <a:solidFill>
              <a:srgbClr val="D0DAE8"/>
            </a:solidFill>
            <a:prstDash val="solid"/>
          </a:ln>
          <a:effectLst>
            <a:outerShdw blurRad="177800" dist="50800" dir="2700000" algn="bl" rotWithShape="0">
              <a:srgbClr val="000000">
                <a:alpha val="10000"/>
              </a:srgbClr>
            </a:outerShdw>
          </a:effectLst>
        </p:spPr>
      </p:sp>
      <p:sp>
        <p:nvSpPr>
          <p:cNvPr id="8" name="Shape 6"/>
          <p:cNvSpPr/>
          <p:nvPr/>
        </p:nvSpPr>
        <p:spPr>
          <a:xfrm>
            <a:off x="603504" y="1746504"/>
            <a:ext cx="201168" cy="201168"/>
          </a:xfrm>
          <a:prstGeom prst="ellipse">
            <a:avLst/>
          </a:prstGeom>
          <a:solidFill>
            <a:srgbClr val="028090"/>
          </a:solidFill>
          <a:ln w="12700">
            <a:solidFill>
              <a:srgbClr val="028090"/>
            </a:solidFill>
            <a:prstDash val="solid"/>
          </a:ln>
        </p:spPr>
      </p:sp>
      <p:sp>
        <p:nvSpPr>
          <p:cNvPr id="9" name="Text 7"/>
          <p:cNvSpPr/>
          <p:nvPr/>
        </p:nvSpPr>
        <p:spPr>
          <a:xfrm>
            <a:off x="603504" y="1737360"/>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1</a:t>
            </a:r>
            <a:endParaRPr lang="en-US" sz="800" dirty="0"/>
          </a:p>
        </p:txBody>
      </p:sp>
      <p:sp>
        <p:nvSpPr>
          <p:cNvPr id="10" name="Text 8"/>
          <p:cNvSpPr/>
          <p:nvPr/>
        </p:nvSpPr>
        <p:spPr>
          <a:xfrm>
            <a:off x="932688" y="1664208"/>
            <a:ext cx="3364992" cy="329184"/>
          </a:xfrm>
          <a:prstGeom prst="rect">
            <a:avLst/>
          </a:prstGeom>
          <a:noFill/>
          <a:ln/>
        </p:spPr>
        <p:txBody>
          <a:bodyPr wrap="square" rtlCol="0" anchor="ctr"/>
          <a:lstStyle/>
          <a:p>
            <a:pPr marL="0" indent="0">
              <a:buNone/>
            </a:pPr>
            <a:r>
              <a:rPr lang="en-US" sz="1100" dirty="0">
                <a:solidFill>
                  <a:srgbClr val="4A5568"/>
                </a:solidFill>
                <a:latin typeface="Arial" pitchFamily="34" charset="0"/>
                <a:ea typeface="Arial" pitchFamily="34" charset="-122"/>
                <a:cs typeface="Arial" pitchFamily="34" charset="-120"/>
              </a:rPr>
              <a:t>Install dependencies</a:t>
            </a:r>
            <a:endParaRPr lang="en-US" sz="1100" dirty="0"/>
          </a:p>
        </p:txBody>
      </p:sp>
      <p:sp>
        <p:nvSpPr>
          <p:cNvPr id="11" name="Shape 9"/>
          <p:cNvSpPr/>
          <p:nvPr/>
        </p:nvSpPr>
        <p:spPr>
          <a:xfrm>
            <a:off x="457200" y="2139696"/>
            <a:ext cx="3931920" cy="457200"/>
          </a:xfrm>
          <a:prstGeom prst="roundRect">
            <a:avLst>
              <a:gd name="adj" fmla="val 20000"/>
            </a:avLst>
          </a:prstGeom>
          <a:solidFill>
            <a:srgbClr val="FFFFFF"/>
          </a:solidFill>
          <a:ln w="12700">
            <a:solidFill>
              <a:srgbClr val="D0DAE8"/>
            </a:solidFill>
            <a:prstDash val="solid"/>
          </a:ln>
          <a:effectLst>
            <a:outerShdw blurRad="177800" dist="50800" dir="2700000" algn="bl" rotWithShape="0">
              <a:srgbClr val="000000">
                <a:alpha val="10000"/>
              </a:srgbClr>
            </a:outerShdw>
          </a:effectLst>
        </p:spPr>
      </p:sp>
      <p:sp>
        <p:nvSpPr>
          <p:cNvPr id="12" name="Shape 10"/>
          <p:cNvSpPr/>
          <p:nvPr/>
        </p:nvSpPr>
        <p:spPr>
          <a:xfrm>
            <a:off x="603504" y="2276856"/>
            <a:ext cx="201168" cy="201168"/>
          </a:xfrm>
          <a:prstGeom prst="ellipse">
            <a:avLst/>
          </a:prstGeom>
          <a:solidFill>
            <a:srgbClr val="028090"/>
          </a:solidFill>
          <a:ln w="12700">
            <a:solidFill>
              <a:srgbClr val="028090"/>
            </a:solidFill>
            <a:prstDash val="solid"/>
          </a:ln>
        </p:spPr>
      </p:sp>
      <p:sp>
        <p:nvSpPr>
          <p:cNvPr id="13" name="Text 11"/>
          <p:cNvSpPr/>
          <p:nvPr/>
        </p:nvSpPr>
        <p:spPr>
          <a:xfrm>
            <a:off x="603504" y="2267712"/>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2</a:t>
            </a:r>
            <a:endParaRPr lang="en-US" sz="800" dirty="0"/>
          </a:p>
        </p:txBody>
      </p:sp>
      <p:sp>
        <p:nvSpPr>
          <p:cNvPr id="14" name="Text 12"/>
          <p:cNvSpPr/>
          <p:nvPr/>
        </p:nvSpPr>
        <p:spPr>
          <a:xfrm>
            <a:off x="932688" y="2194560"/>
            <a:ext cx="3364992" cy="329184"/>
          </a:xfrm>
          <a:prstGeom prst="rect">
            <a:avLst/>
          </a:prstGeom>
          <a:noFill/>
          <a:ln/>
        </p:spPr>
        <p:txBody>
          <a:bodyPr wrap="square" rtlCol="0" anchor="ctr"/>
          <a:lstStyle/>
          <a:p>
            <a:pPr marL="0" indent="0">
              <a:buNone/>
            </a:pPr>
            <a:r>
              <a:rPr lang="en-US" sz="1100" dirty="0">
                <a:solidFill>
                  <a:srgbClr val="4A5568"/>
                </a:solidFill>
                <a:latin typeface="Arial" pitchFamily="34" charset="0"/>
                <a:ea typeface="Arial" pitchFamily="34" charset="-122"/>
                <a:cs typeface="Arial" pitchFamily="34" charset="-120"/>
              </a:rPr>
              <a:t>Validate LLM prompts</a:t>
            </a:r>
            <a:endParaRPr lang="en-US" sz="1100" dirty="0"/>
          </a:p>
        </p:txBody>
      </p:sp>
      <p:sp>
        <p:nvSpPr>
          <p:cNvPr id="15" name="Shape 13"/>
          <p:cNvSpPr/>
          <p:nvPr/>
        </p:nvSpPr>
        <p:spPr>
          <a:xfrm>
            <a:off x="457200" y="2670048"/>
            <a:ext cx="3931920" cy="457200"/>
          </a:xfrm>
          <a:prstGeom prst="roundRect">
            <a:avLst>
              <a:gd name="adj" fmla="val 20000"/>
            </a:avLst>
          </a:prstGeom>
          <a:solidFill>
            <a:srgbClr val="FFFFFF"/>
          </a:solidFill>
          <a:ln w="12700">
            <a:solidFill>
              <a:srgbClr val="D0DAE8"/>
            </a:solidFill>
            <a:prstDash val="solid"/>
          </a:ln>
          <a:effectLst>
            <a:outerShdw blurRad="177800" dist="50800" dir="2700000" algn="bl" rotWithShape="0">
              <a:srgbClr val="000000">
                <a:alpha val="10000"/>
              </a:srgbClr>
            </a:outerShdw>
          </a:effectLst>
        </p:spPr>
      </p:sp>
      <p:sp>
        <p:nvSpPr>
          <p:cNvPr id="16" name="Shape 14"/>
          <p:cNvSpPr/>
          <p:nvPr/>
        </p:nvSpPr>
        <p:spPr>
          <a:xfrm>
            <a:off x="603504" y="2807208"/>
            <a:ext cx="201168" cy="201168"/>
          </a:xfrm>
          <a:prstGeom prst="ellipse">
            <a:avLst/>
          </a:prstGeom>
          <a:solidFill>
            <a:srgbClr val="028090"/>
          </a:solidFill>
          <a:ln w="12700">
            <a:solidFill>
              <a:srgbClr val="028090"/>
            </a:solidFill>
            <a:prstDash val="solid"/>
          </a:ln>
        </p:spPr>
      </p:sp>
      <p:sp>
        <p:nvSpPr>
          <p:cNvPr id="17" name="Text 15"/>
          <p:cNvSpPr/>
          <p:nvPr/>
        </p:nvSpPr>
        <p:spPr>
          <a:xfrm>
            <a:off x="603504" y="2798064"/>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3</a:t>
            </a:r>
            <a:endParaRPr lang="en-US" sz="800" dirty="0"/>
          </a:p>
        </p:txBody>
      </p:sp>
      <p:sp>
        <p:nvSpPr>
          <p:cNvPr id="18" name="Text 16"/>
          <p:cNvSpPr/>
          <p:nvPr/>
        </p:nvSpPr>
        <p:spPr>
          <a:xfrm>
            <a:off x="932688" y="2724912"/>
            <a:ext cx="3364992" cy="329184"/>
          </a:xfrm>
          <a:prstGeom prst="rect">
            <a:avLst/>
          </a:prstGeom>
          <a:noFill/>
          <a:ln/>
        </p:spPr>
        <p:txBody>
          <a:bodyPr wrap="square" rtlCol="0" anchor="ctr"/>
          <a:lstStyle/>
          <a:p>
            <a:pPr marL="0" indent="0">
              <a:buNone/>
            </a:pPr>
            <a:r>
              <a:rPr lang="en-US" sz="1100" dirty="0">
                <a:solidFill>
                  <a:srgbClr val="4A5568"/>
                </a:solidFill>
                <a:latin typeface="Arial" pitchFamily="34" charset="0"/>
                <a:ea typeface="Arial" pitchFamily="34" charset="-122"/>
                <a:cs typeface="Arial" pitchFamily="34" charset="-120"/>
              </a:rPr>
              <a:t>Lint (zero warnings)</a:t>
            </a:r>
            <a:endParaRPr lang="en-US" sz="1100" dirty="0"/>
          </a:p>
        </p:txBody>
      </p:sp>
      <p:sp>
        <p:nvSpPr>
          <p:cNvPr id="19" name="Shape 17"/>
          <p:cNvSpPr/>
          <p:nvPr/>
        </p:nvSpPr>
        <p:spPr>
          <a:xfrm>
            <a:off x="457200" y="3200400"/>
            <a:ext cx="3931920" cy="457200"/>
          </a:xfrm>
          <a:prstGeom prst="roundRect">
            <a:avLst>
              <a:gd name="adj" fmla="val 20000"/>
            </a:avLst>
          </a:prstGeom>
          <a:solidFill>
            <a:srgbClr val="FFFFFF"/>
          </a:solidFill>
          <a:ln w="12700">
            <a:solidFill>
              <a:srgbClr val="D0DAE8"/>
            </a:solidFill>
            <a:prstDash val="solid"/>
          </a:ln>
          <a:effectLst>
            <a:outerShdw blurRad="177800" dist="50800" dir="2700000" algn="bl" rotWithShape="0">
              <a:srgbClr val="000000">
                <a:alpha val="10000"/>
              </a:srgbClr>
            </a:outerShdw>
          </a:effectLst>
        </p:spPr>
      </p:sp>
      <p:sp>
        <p:nvSpPr>
          <p:cNvPr id="20" name="Shape 18"/>
          <p:cNvSpPr/>
          <p:nvPr/>
        </p:nvSpPr>
        <p:spPr>
          <a:xfrm>
            <a:off x="603504" y="3337560"/>
            <a:ext cx="201168" cy="201168"/>
          </a:xfrm>
          <a:prstGeom prst="ellipse">
            <a:avLst/>
          </a:prstGeom>
          <a:solidFill>
            <a:srgbClr val="028090"/>
          </a:solidFill>
          <a:ln w="12700">
            <a:solidFill>
              <a:srgbClr val="028090"/>
            </a:solidFill>
            <a:prstDash val="solid"/>
          </a:ln>
        </p:spPr>
      </p:sp>
      <p:sp>
        <p:nvSpPr>
          <p:cNvPr id="21" name="Text 19"/>
          <p:cNvSpPr/>
          <p:nvPr/>
        </p:nvSpPr>
        <p:spPr>
          <a:xfrm>
            <a:off x="603504" y="3328416"/>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4</a:t>
            </a:r>
            <a:endParaRPr lang="en-US" sz="800" dirty="0"/>
          </a:p>
        </p:txBody>
      </p:sp>
      <p:sp>
        <p:nvSpPr>
          <p:cNvPr id="22" name="Text 20"/>
          <p:cNvSpPr/>
          <p:nvPr/>
        </p:nvSpPr>
        <p:spPr>
          <a:xfrm>
            <a:off x="932688" y="3255264"/>
            <a:ext cx="3364992" cy="329184"/>
          </a:xfrm>
          <a:prstGeom prst="rect">
            <a:avLst/>
          </a:prstGeom>
          <a:noFill/>
          <a:ln/>
        </p:spPr>
        <p:txBody>
          <a:bodyPr wrap="square" rtlCol="0" anchor="ctr"/>
          <a:lstStyle/>
          <a:p>
            <a:pPr marL="0" indent="0">
              <a:buNone/>
            </a:pPr>
            <a:r>
              <a:rPr lang="en-US" sz="1100" dirty="0">
                <a:solidFill>
                  <a:srgbClr val="4A5568"/>
                </a:solidFill>
                <a:latin typeface="Arial" pitchFamily="34" charset="0"/>
                <a:ea typeface="Arial" pitchFamily="34" charset="-122"/>
                <a:cs typeface="Arial" pitchFamily="34" charset="-120"/>
              </a:rPr>
              <a:t>TypeScript strict check</a:t>
            </a:r>
            <a:endParaRPr lang="en-US" sz="1100" dirty="0"/>
          </a:p>
        </p:txBody>
      </p:sp>
      <p:sp>
        <p:nvSpPr>
          <p:cNvPr id="23" name="Shape 21"/>
          <p:cNvSpPr/>
          <p:nvPr/>
        </p:nvSpPr>
        <p:spPr>
          <a:xfrm>
            <a:off x="457200" y="3730752"/>
            <a:ext cx="3931920" cy="457200"/>
          </a:xfrm>
          <a:prstGeom prst="roundRect">
            <a:avLst>
              <a:gd name="adj" fmla="val 20000"/>
            </a:avLst>
          </a:prstGeom>
          <a:solidFill>
            <a:srgbClr val="FFFFFF"/>
          </a:solidFill>
          <a:ln w="12700">
            <a:solidFill>
              <a:srgbClr val="D0DAE8"/>
            </a:solidFill>
            <a:prstDash val="solid"/>
          </a:ln>
          <a:effectLst>
            <a:outerShdw blurRad="177800" dist="50800" dir="2700000" algn="bl" rotWithShape="0">
              <a:srgbClr val="000000">
                <a:alpha val="10000"/>
              </a:srgbClr>
            </a:outerShdw>
          </a:effectLst>
        </p:spPr>
      </p:sp>
      <p:sp>
        <p:nvSpPr>
          <p:cNvPr id="24" name="Shape 22"/>
          <p:cNvSpPr/>
          <p:nvPr/>
        </p:nvSpPr>
        <p:spPr>
          <a:xfrm>
            <a:off x="603504" y="3867912"/>
            <a:ext cx="201168" cy="201168"/>
          </a:xfrm>
          <a:prstGeom prst="ellipse">
            <a:avLst/>
          </a:prstGeom>
          <a:solidFill>
            <a:srgbClr val="028090"/>
          </a:solidFill>
          <a:ln w="12700">
            <a:solidFill>
              <a:srgbClr val="028090"/>
            </a:solidFill>
            <a:prstDash val="solid"/>
          </a:ln>
        </p:spPr>
      </p:sp>
      <p:sp>
        <p:nvSpPr>
          <p:cNvPr id="25" name="Text 23"/>
          <p:cNvSpPr/>
          <p:nvPr/>
        </p:nvSpPr>
        <p:spPr>
          <a:xfrm>
            <a:off x="603504" y="3858768"/>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5</a:t>
            </a:r>
            <a:endParaRPr lang="en-US" sz="800" dirty="0"/>
          </a:p>
        </p:txBody>
      </p:sp>
      <p:sp>
        <p:nvSpPr>
          <p:cNvPr id="26" name="Text 24"/>
          <p:cNvSpPr/>
          <p:nvPr/>
        </p:nvSpPr>
        <p:spPr>
          <a:xfrm>
            <a:off x="932688" y="3785616"/>
            <a:ext cx="3364992" cy="329184"/>
          </a:xfrm>
          <a:prstGeom prst="rect">
            <a:avLst/>
          </a:prstGeom>
          <a:noFill/>
          <a:ln/>
        </p:spPr>
        <p:txBody>
          <a:bodyPr wrap="square" rtlCol="0" anchor="ctr"/>
          <a:lstStyle/>
          <a:p>
            <a:pPr marL="0" indent="0">
              <a:buNone/>
            </a:pPr>
            <a:r>
              <a:rPr lang="en-US" sz="1100" dirty="0">
                <a:solidFill>
                  <a:srgbClr val="4A5568"/>
                </a:solidFill>
                <a:latin typeface="Arial" pitchFamily="34" charset="0"/>
                <a:ea typeface="Arial" pitchFamily="34" charset="-122"/>
                <a:cs typeface="Arial" pitchFamily="34" charset="-120"/>
              </a:rPr>
              <a:t>Build (extension + webview)</a:t>
            </a:r>
            <a:endParaRPr lang="en-US" sz="1100" dirty="0"/>
          </a:p>
        </p:txBody>
      </p:sp>
      <p:sp>
        <p:nvSpPr>
          <p:cNvPr id="27" name="Text 25"/>
          <p:cNvSpPr/>
          <p:nvPr/>
        </p:nvSpPr>
        <p:spPr>
          <a:xfrm>
            <a:off x="4754880" y="1261872"/>
            <a:ext cx="3931920" cy="274320"/>
          </a:xfrm>
          <a:prstGeom prst="rect">
            <a:avLst/>
          </a:prstGeom>
          <a:noFill/>
          <a:ln/>
        </p:spPr>
        <p:txBody>
          <a:bodyPr wrap="square" rtlCol="0" anchor="ctr"/>
          <a:lstStyle/>
          <a:p>
            <a:pPr marL="0" indent="0">
              <a:buNone/>
            </a:pPr>
            <a:r>
              <a:rPr lang="en-US" sz="1300" b="1" dirty="0">
                <a:solidFill>
                  <a:srgbClr val="1B2A4A"/>
                </a:solidFill>
                <a:latin typeface="Arial" pitchFamily="34" charset="0"/>
                <a:ea typeface="Arial" pitchFamily="34" charset="-122"/>
                <a:cs typeface="Arial" pitchFamily="34" charset="-120"/>
              </a:rPr>
              <a:t>Release — On Version Tag Push</a:t>
            </a:r>
            <a:endParaRPr lang="en-US" sz="1300" dirty="0"/>
          </a:p>
        </p:txBody>
      </p:sp>
      <p:sp>
        <p:nvSpPr>
          <p:cNvPr id="28" name="Shape 26"/>
          <p:cNvSpPr/>
          <p:nvPr/>
        </p:nvSpPr>
        <p:spPr>
          <a:xfrm>
            <a:off x="4754880" y="1609344"/>
            <a:ext cx="3931920" cy="374904"/>
          </a:xfrm>
          <a:prstGeom prst="roundRect">
            <a:avLst>
              <a:gd name="adj" fmla="val 24390"/>
            </a:avLst>
          </a:prstGeom>
          <a:solidFill>
            <a:srgbClr val="FFFFFF"/>
          </a:solidFill>
          <a:ln w="12700">
            <a:solidFill>
              <a:srgbClr val="D0DAE8"/>
            </a:solidFill>
            <a:prstDash val="solid"/>
          </a:ln>
          <a:effectLst>
            <a:outerShdw blurRad="177800" dist="50800" dir="2700000" algn="bl" rotWithShape="0">
              <a:srgbClr val="000000">
                <a:alpha val="10000"/>
              </a:srgbClr>
            </a:outerShdw>
          </a:effectLst>
        </p:spPr>
      </p:sp>
      <p:sp>
        <p:nvSpPr>
          <p:cNvPr id="29" name="Shape 27"/>
          <p:cNvSpPr/>
          <p:nvPr/>
        </p:nvSpPr>
        <p:spPr>
          <a:xfrm>
            <a:off x="4901184" y="1709928"/>
            <a:ext cx="182880" cy="182880"/>
          </a:xfrm>
          <a:prstGeom prst="ellipse">
            <a:avLst/>
          </a:prstGeom>
          <a:solidFill>
            <a:srgbClr val="27AE60"/>
          </a:solidFill>
          <a:ln w="12700">
            <a:solidFill>
              <a:srgbClr val="27AE60"/>
            </a:solidFill>
            <a:prstDash val="solid"/>
          </a:ln>
        </p:spPr>
      </p:sp>
      <p:sp>
        <p:nvSpPr>
          <p:cNvPr id="30" name="Text 28"/>
          <p:cNvSpPr/>
          <p:nvPr/>
        </p:nvSpPr>
        <p:spPr>
          <a:xfrm>
            <a:off x="5212080" y="1645920"/>
            <a:ext cx="3364992" cy="310896"/>
          </a:xfrm>
          <a:prstGeom prst="rect">
            <a:avLst/>
          </a:prstGeom>
          <a:noFill/>
          <a:ln/>
        </p:spPr>
        <p:txBody>
          <a:bodyPr wrap="square" rtlCol="0" anchor="ctr"/>
          <a:lstStyle/>
          <a:p>
            <a:pPr marL="0" indent="0">
              <a:buNone/>
            </a:pPr>
            <a:r>
              <a:rPr lang="en-US" sz="1050" dirty="0">
                <a:solidFill>
                  <a:srgbClr val="4A5568"/>
                </a:solidFill>
                <a:latin typeface="Arial" pitchFamily="34" charset="0"/>
                <a:ea typeface="Arial" pitchFamily="34" charset="-122"/>
                <a:cs typeface="Arial" pitchFamily="34" charset="-120"/>
              </a:rPr>
              <a:t>Verify tag = package version</a:t>
            </a:r>
            <a:endParaRPr lang="en-US" sz="1050" dirty="0"/>
          </a:p>
        </p:txBody>
      </p:sp>
      <p:sp>
        <p:nvSpPr>
          <p:cNvPr id="31" name="Shape 29"/>
          <p:cNvSpPr/>
          <p:nvPr/>
        </p:nvSpPr>
        <p:spPr>
          <a:xfrm>
            <a:off x="4754880" y="2048256"/>
            <a:ext cx="3931920" cy="374904"/>
          </a:xfrm>
          <a:prstGeom prst="roundRect">
            <a:avLst>
              <a:gd name="adj" fmla="val 24390"/>
            </a:avLst>
          </a:prstGeom>
          <a:solidFill>
            <a:srgbClr val="FFFFFF"/>
          </a:solidFill>
          <a:ln w="12700">
            <a:solidFill>
              <a:srgbClr val="D0DAE8"/>
            </a:solidFill>
            <a:prstDash val="solid"/>
          </a:ln>
          <a:effectLst>
            <a:outerShdw blurRad="177800" dist="50800" dir="2700000" algn="bl" rotWithShape="0">
              <a:srgbClr val="000000">
                <a:alpha val="10000"/>
              </a:srgbClr>
            </a:outerShdw>
          </a:effectLst>
        </p:spPr>
      </p:sp>
      <p:sp>
        <p:nvSpPr>
          <p:cNvPr id="32" name="Shape 30"/>
          <p:cNvSpPr/>
          <p:nvPr/>
        </p:nvSpPr>
        <p:spPr>
          <a:xfrm>
            <a:off x="4901184" y="2148840"/>
            <a:ext cx="182880" cy="182880"/>
          </a:xfrm>
          <a:prstGeom prst="ellipse">
            <a:avLst/>
          </a:prstGeom>
          <a:solidFill>
            <a:srgbClr val="27AE60"/>
          </a:solidFill>
          <a:ln w="12700">
            <a:solidFill>
              <a:srgbClr val="27AE60"/>
            </a:solidFill>
            <a:prstDash val="solid"/>
          </a:ln>
        </p:spPr>
      </p:sp>
      <p:sp>
        <p:nvSpPr>
          <p:cNvPr id="33" name="Text 31"/>
          <p:cNvSpPr/>
          <p:nvPr/>
        </p:nvSpPr>
        <p:spPr>
          <a:xfrm>
            <a:off x="5212080" y="2084832"/>
            <a:ext cx="3364992" cy="310896"/>
          </a:xfrm>
          <a:prstGeom prst="rect">
            <a:avLst/>
          </a:prstGeom>
          <a:noFill/>
          <a:ln/>
        </p:spPr>
        <p:txBody>
          <a:bodyPr wrap="square" rtlCol="0" anchor="ctr"/>
          <a:lstStyle/>
          <a:p>
            <a:pPr marL="0" indent="0">
              <a:buNone/>
            </a:pPr>
            <a:r>
              <a:rPr lang="en-US" sz="1050" dirty="0">
                <a:solidFill>
                  <a:srgbClr val="4A5568"/>
                </a:solidFill>
                <a:latin typeface="Arial" pitchFamily="34" charset="0"/>
                <a:ea typeface="Arial" pitchFamily="34" charset="-122"/>
                <a:cs typeface="Arial" pitchFamily="34" charset="-120"/>
              </a:rPr>
              <a:t>Full CI suite re-runs</a:t>
            </a:r>
            <a:endParaRPr lang="en-US" sz="1050" dirty="0"/>
          </a:p>
        </p:txBody>
      </p:sp>
      <p:sp>
        <p:nvSpPr>
          <p:cNvPr id="34" name="Shape 32"/>
          <p:cNvSpPr/>
          <p:nvPr/>
        </p:nvSpPr>
        <p:spPr>
          <a:xfrm>
            <a:off x="4754880" y="2487168"/>
            <a:ext cx="3931920" cy="374904"/>
          </a:xfrm>
          <a:prstGeom prst="roundRect">
            <a:avLst>
              <a:gd name="adj" fmla="val 24390"/>
            </a:avLst>
          </a:prstGeom>
          <a:solidFill>
            <a:srgbClr val="FFFFFF"/>
          </a:solidFill>
          <a:ln w="12700">
            <a:solidFill>
              <a:srgbClr val="D0DAE8"/>
            </a:solidFill>
            <a:prstDash val="solid"/>
          </a:ln>
          <a:effectLst>
            <a:outerShdw blurRad="177800" dist="50800" dir="2700000" algn="bl" rotWithShape="0">
              <a:srgbClr val="000000">
                <a:alpha val="10000"/>
              </a:srgbClr>
            </a:outerShdw>
          </a:effectLst>
        </p:spPr>
      </p:sp>
      <p:sp>
        <p:nvSpPr>
          <p:cNvPr id="35" name="Shape 33"/>
          <p:cNvSpPr/>
          <p:nvPr/>
        </p:nvSpPr>
        <p:spPr>
          <a:xfrm>
            <a:off x="4901184" y="2587752"/>
            <a:ext cx="182880" cy="182880"/>
          </a:xfrm>
          <a:prstGeom prst="ellipse">
            <a:avLst/>
          </a:prstGeom>
          <a:solidFill>
            <a:srgbClr val="27AE60"/>
          </a:solidFill>
          <a:ln w="12700">
            <a:solidFill>
              <a:srgbClr val="27AE60"/>
            </a:solidFill>
            <a:prstDash val="solid"/>
          </a:ln>
        </p:spPr>
      </p:sp>
      <p:sp>
        <p:nvSpPr>
          <p:cNvPr id="36" name="Text 34"/>
          <p:cNvSpPr/>
          <p:nvPr/>
        </p:nvSpPr>
        <p:spPr>
          <a:xfrm>
            <a:off x="5212080" y="2523744"/>
            <a:ext cx="3364992" cy="310896"/>
          </a:xfrm>
          <a:prstGeom prst="rect">
            <a:avLst/>
          </a:prstGeom>
          <a:noFill/>
          <a:ln/>
        </p:spPr>
        <p:txBody>
          <a:bodyPr wrap="square" rtlCol="0" anchor="ctr"/>
          <a:lstStyle/>
          <a:p>
            <a:pPr marL="0" indent="0">
              <a:buNone/>
            </a:pPr>
            <a:r>
              <a:rPr lang="en-US" sz="1050" dirty="0">
                <a:solidFill>
                  <a:srgbClr val="4A5568"/>
                </a:solidFill>
                <a:latin typeface="Arial" pitchFamily="34" charset="0"/>
                <a:ea typeface="Arial" pitchFamily="34" charset="-122"/>
                <a:cs typeface="Arial" pitchFamily="34" charset="-120"/>
              </a:rPr>
              <a:t>Security audit (npm audit)</a:t>
            </a:r>
            <a:endParaRPr lang="en-US" sz="1050" dirty="0"/>
          </a:p>
        </p:txBody>
      </p:sp>
      <p:sp>
        <p:nvSpPr>
          <p:cNvPr id="37" name="Shape 35"/>
          <p:cNvSpPr/>
          <p:nvPr/>
        </p:nvSpPr>
        <p:spPr>
          <a:xfrm>
            <a:off x="4754880" y="2926080"/>
            <a:ext cx="3931920" cy="374904"/>
          </a:xfrm>
          <a:prstGeom prst="roundRect">
            <a:avLst>
              <a:gd name="adj" fmla="val 24390"/>
            </a:avLst>
          </a:prstGeom>
          <a:solidFill>
            <a:srgbClr val="FFFFFF"/>
          </a:solidFill>
          <a:ln w="12700">
            <a:solidFill>
              <a:srgbClr val="D0DAE8"/>
            </a:solidFill>
            <a:prstDash val="solid"/>
          </a:ln>
          <a:effectLst>
            <a:outerShdw blurRad="177800" dist="50800" dir="2700000" algn="bl" rotWithShape="0">
              <a:srgbClr val="000000">
                <a:alpha val="10000"/>
              </a:srgbClr>
            </a:outerShdw>
          </a:effectLst>
        </p:spPr>
      </p:sp>
      <p:sp>
        <p:nvSpPr>
          <p:cNvPr id="38" name="Shape 36"/>
          <p:cNvSpPr/>
          <p:nvPr/>
        </p:nvSpPr>
        <p:spPr>
          <a:xfrm>
            <a:off x="4901184" y="3026664"/>
            <a:ext cx="182880" cy="182880"/>
          </a:xfrm>
          <a:prstGeom prst="ellipse">
            <a:avLst/>
          </a:prstGeom>
          <a:solidFill>
            <a:srgbClr val="27AE60"/>
          </a:solidFill>
          <a:ln w="12700">
            <a:solidFill>
              <a:srgbClr val="27AE60"/>
            </a:solidFill>
            <a:prstDash val="solid"/>
          </a:ln>
        </p:spPr>
      </p:sp>
      <p:sp>
        <p:nvSpPr>
          <p:cNvPr id="39" name="Text 37"/>
          <p:cNvSpPr/>
          <p:nvPr/>
        </p:nvSpPr>
        <p:spPr>
          <a:xfrm>
            <a:off x="5212080" y="2962656"/>
            <a:ext cx="3364992" cy="310896"/>
          </a:xfrm>
          <a:prstGeom prst="rect">
            <a:avLst/>
          </a:prstGeom>
          <a:noFill/>
          <a:ln/>
        </p:spPr>
        <p:txBody>
          <a:bodyPr wrap="square" rtlCol="0" anchor="ctr"/>
          <a:lstStyle/>
          <a:p>
            <a:pPr marL="0" indent="0">
              <a:buNone/>
            </a:pPr>
            <a:r>
              <a:rPr lang="en-US" sz="1050" dirty="0">
                <a:solidFill>
                  <a:srgbClr val="4A5568"/>
                </a:solidFill>
                <a:latin typeface="Arial" pitchFamily="34" charset="0"/>
                <a:ea typeface="Arial" pitchFamily="34" charset="-122"/>
                <a:cs typeface="Arial" pitchFamily="34" charset="-120"/>
              </a:rPr>
              <a:t>Test suite with coverage</a:t>
            </a:r>
            <a:endParaRPr lang="en-US" sz="1050" dirty="0"/>
          </a:p>
        </p:txBody>
      </p:sp>
      <p:sp>
        <p:nvSpPr>
          <p:cNvPr id="40" name="Shape 38"/>
          <p:cNvSpPr/>
          <p:nvPr/>
        </p:nvSpPr>
        <p:spPr>
          <a:xfrm>
            <a:off x="4754880" y="3364992"/>
            <a:ext cx="3931920" cy="374904"/>
          </a:xfrm>
          <a:prstGeom prst="roundRect">
            <a:avLst>
              <a:gd name="adj" fmla="val 24390"/>
            </a:avLst>
          </a:prstGeom>
          <a:solidFill>
            <a:srgbClr val="FFFFFF"/>
          </a:solidFill>
          <a:ln w="12700">
            <a:solidFill>
              <a:srgbClr val="D0DAE8"/>
            </a:solidFill>
            <a:prstDash val="solid"/>
          </a:ln>
          <a:effectLst>
            <a:outerShdw blurRad="177800" dist="50800" dir="2700000" algn="bl" rotWithShape="0">
              <a:srgbClr val="000000">
                <a:alpha val="10000"/>
              </a:srgbClr>
            </a:outerShdw>
          </a:effectLst>
        </p:spPr>
      </p:sp>
      <p:sp>
        <p:nvSpPr>
          <p:cNvPr id="41" name="Shape 39"/>
          <p:cNvSpPr/>
          <p:nvPr/>
        </p:nvSpPr>
        <p:spPr>
          <a:xfrm>
            <a:off x="4901184" y="3465576"/>
            <a:ext cx="182880" cy="182880"/>
          </a:xfrm>
          <a:prstGeom prst="ellipse">
            <a:avLst/>
          </a:prstGeom>
          <a:solidFill>
            <a:srgbClr val="028090"/>
          </a:solidFill>
          <a:ln w="12700">
            <a:solidFill>
              <a:srgbClr val="028090"/>
            </a:solidFill>
            <a:prstDash val="solid"/>
          </a:ln>
        </p:spPr>
      </p:sp>
      <p:sp>
        <p:nvSpPr>
          <p:cNvPr id="42" name="Text 40"/>
          <p:cNvSpPr/>
          <p:nvPr/>
        </p:nvSpPr>
        <p:spPr>
          <a:xfrm>
            <a:off x="5212080" y="3401568"/>
            <a:ext cx="3364992" cy="310896"/>
          </a:xfrm>
          <a:prstGeom prst="rect">
            <a:avLst/>
          </a:prstGeom>
          <a:noFill/>
          <a:ln/>
        </p:spPr>
        <p:txBody>
          <a:bodyPr wrap="square" rtlCol="0" anchor="ctr"/>
          <a:lstStyle/>
          <a:p>
            <a:pPr marL="0" indent="0">
              <a:buNone/>
            </a:pPr>
            <a:r>
              <a:rPr lang="en-US" sz="1050" dirty="0">
                <a:solidFill>
                  <a:srgbClr val="4A5568"/>
                </a:solidFill>
                <a:latin typeface="Arial" pitchFamily="34" charset="0"/>
                <a:ea typeface="Arial" pitchFamily="34" charset="-122"/>
                <a:cs typeface="Arial" pitchFamily="34" charset="-120"/>
              </a:rPr>
              <a:t>Package VSIX extension file</a:t>
            </a:r>
            <a:endParaRPr lang="en-US" sz="1050" dirty="0"/>
          </a:p>
        </p:txBody>
      </p:sp>
      <p:sp>
        <p:nvSpPr>
          <p:cNvPr id="43" name="Shape 41"/>
          <p:cNvSpPr/>
          <p:nvPr/>
        </p:nvSpPr>
        <p:spPr>
          <a:xfrm>
            <a:off x="4754880" y="3803904"/>
            <a:ext cx="3931920" cy="374904"/>
          </a:xfrm>
          <a:prstGeom prst="roundRect">
            <a:avLst>
              <a:gd name="adj" fmla="val 24390"/>
            </a:avLst>
          </a:prstGeom>
          <a:solidFill>
            <a:srgbClr val="FFFFFF"/>
          </a:solidFill>
          <a:ln w="12700">
            <a:solidFill>
              <a:srgbClr val="D0DAE8"/>
            </a:solidFill>
            <a:prstDash val="solid"/>
          </a:ln>
          <a:effectLst>
            <a:outerShdw blurRad="177800" dist="50800" dir="2700000" algn="bl" rotWithShape="0">
              <a:srgbClr val="000000">
                <a:alpha val="10000"/>
              </a:srgbClr>
            </a:outerShdw>
          </a:effectLst>
        </p:spPr>
      </p:sp>
      <p:sp>
        <p:nvSpPr>
          <p:cNvPr id="44" name="Shape 42"/>
          <p:cNvSpPr/>
          <p:nvPr/>
        </p:nvSpPr>
        <p:spPr>
          <a:xfrm>
            <a:off x="4901184" y="3904488"/>
            <a:ext cx="182880" cy="182880"/>
          </a:xfrm>
          <a:prstGeom prst="ellipse">
            <a:avLst/>
          </a:prstGeom>
          <a:solidFill>
            <a:srgbClr val="028090"/>
          </a:solidFill>
          <a:ln w="12700">
            <a:solidFill>
              <a:srgbClr val="028090"/>
            </a:solidFill>
            <a:prstDash val="solid"/>
          </a:ln>
        </p:spPr>
      </p:sp>
      <p:sp>
        <p:nvSpPr>
          <p:cNvPr id="45" name="Text 43"/>
          <p:cNvSpPr/>
          <p:nvPr/>
        </p:nvSpPr>
        <p:spPr>
          <a:xfrm>
            <a:off x="5212080" y="3840480"/>
            <a:ext cx="3364992" cy="310896"/>
          </a:xfrm>
          <a:prstGeom prst="rect">
            <a:avLst/>
          </a:prstGeom>
          <a:noFill/>
          <a:ln/>
        </p:spPr>
        <p:txBody>
          <a:bodyPr wrap="square" rtlCol="0" anchor="ctr"/>
          <a:lstStyle/>
          <a:p>
            <a:pPr marL="0" indent="0">
              <a:buNone/>
            </a:pPr>
            <a:r>
              <a:rPr lang="en-US" sz="1050" dirty="0">
                <a:solidFill>
                  <a:srgbClr val="4A5568"/>
                </a:solidFill>
                <a:latin typeface="Arial" pitchFamily="34" charset="0"/>
                <a:ea typeface="Arial" pitchFamily="34" charset="-122"/>
                <a:cs typeface="Arial" pitchFamily="34" charset="-120"/>
              </a:rPr>
              <a:t>Generate changelog</a:t>
            </a:r>
            <a:endParaRPr lang="en-US" sz="1050" dirty="0"/>
          </a:p>
        </p:txBody>
      </p:sp>
      <p:sp>
        <p:nvSpPr>
          <p:cNvPr id="46" name="Shape 44"/>
          <p:cNvSpPr/>
          <p:nvPr/>
        </p:nvSpPr>
        <p:spPr>
          <a:xfrm>
            <a:off x="4754880" y="4242816"/>
            <a:ext cx="3931920" cy="374904"/>
          </a:xfrm>
          <a:prstGeom prst="roundRect">
            <a:avLst>
              <a:gd name="adj" fmla="val 24390"/>
            </a:avLst>
          </a:prstGeom>
          <a:solidFill>
            <a:srgbClr val="FFFFFF"/>
          </a:solidFill>
          <a:ln w="12700">
            <a:solidFill>
              <a:srgbClr val="D0DAE8"/>
            </a:solidFill>
            <a:prstDash val="solid"/>
          </a:ln>
          <a:effectLst>
            <a:outerShdw blurRad="177800" dist="50800" dir="2700000" algn="bl" rotWithShape="0">
              <a:srgbClr val="000000">
                <a:alpha val="10000"/>
              </a:srgbClr>
            </a:outerShdw>
          </a:effectLst>
        </p:spPr>
      </p:sp>
      <p:sp>
        <p:nvSpPr>
          <p:cNvPr id="47" name="Shape 45"/>
          <p:cNvSpPr/>
          <p:nvPr/>
        </p:nvSpPr>
        <p:spPr>
          <a:xfrm>
            <a:off x="4901184" y="4343400"/>
            <a:ext cx="182880" cy="182880"/>
          </a:xfrm>
          <a:prstGeom prst="ellipse">
            <a:avLst/>
          </a:prstGeom>
          <a:solidFill>
            <a:srgbClr val="E67E22"/>
          </a:solidFill>
          <a:ln w="12700">
            <a:solidFill>
              <a:srgbClr val="E67E22"/>
            </a:solidFill>
            <a:prstDash val="solid"/>
          </a:ln>
        </p:spPr>
      </p:sp>
      <p:sp>
        <p:nvSpPr>
          <p:cNvPr id="48" name="Text 46"/>
          <p:cNvSpPr/>
          <p:nvPr/>
        </p:nvSpPr>
        <p:spPr>
          <a:xfrm>
            <a:off x="5212080" y="4279392"/>
            <a:ext cx="3364992" cy="310896"/>
          </a:xfrm>
          <a:prstGeom prst="rect">
            <a:avLst/>
          </a:prstGeom>
          <a:noFill/>
          <a:ln/>
        </p:spPr>
        <p:txBody>
          <a:bodyPr wrap="square" rtlCol="0" anchor="ctr"/>
          <a:lstStyle/>
          <a:p>
            <a:pPr marL="0" indent="0">
              <a:buNone/>
            </a:pPr>
            <a:r>
              <a:rPr lang="en-US" sz="1050" dirty="0">
                <a:solidFill>
                  <a:srgbClr val="4A5568"/>
                </a:solidFill>
                <a:latin typeface="Arial" pitchFamily="34" charset="0"/>
                <a:ea typeface="Arial" pitchFamily="34" charset="-122"/>
                <a:cs typeface="Arial" pitchFamily="34" charset="-120"/>
              </a:rPr>
              <a:t>Publish GitHub release + VSIX</a:t>
            </a:r>
            <a:endParaRPr lang="en-US" sz="1050" dirty="0"/>
          </a:p>
        </p:txBody>
      </p:sp>
      <p:sp>
        <p:nvSpPr>
          <p:cNvPr id="49" name="Shape 47"/>
          <p:cNvSpPr/>
          <p:nvPr/>
        </p:nvSpPr>
        <p:spPr>
          <a:xfrm>
            <a:off x="457200" y="4645152"/>
            <a:ext cx="8229600" cy="347472"/>
          </a:xfrm>
          <a:prstGeom prst="roundRect">
            <a:avLst>
              <a:gd name="adj" fmla="val 21053"/>
            </a:avLst>
          </a:prstGeom>
          <a:solidFill>
            <a:srgbClr val="E4EEF8"/>
          </a:solidFill>
          <a:ln w="12700">
            <a:solidFill>
              <a:srgbClr val="B8CCE0"/>
            </a:solidFill>
            <a:prstDash val="solid"/>
          </a:ln>
        </p:spPr>
      </p:sp>
      <p:sp>
        <p:nvSpPr>
          <p:cNvPr id="50" name="Text 48"/>
          <p:cNvSpPr/>
          <p:nvPr/>
        </p:nvSpPr>
        <p:spPr>
          <a:xfrm>
            <a:off x="548640" y="4663440"/>
            <a:ext cx="8046720" cy="310896"/>
          </a:xfrm>
          <a:prstGeom prst="rect">
            <a:avLst/>
          </a:prstGeom>
          <a:noFill/>
          <a:ln/>
        </p:spPr>
        <p:txBody>
          <a:bodyPr wrap="square" rtlCol="0" anchor="ctr"/>
          <a:lstStyle/>
          <a:p>
            <a:pPr marL="0" indent="0">
              <a:buNone/>
            </a:pPr>
            <a:r>
              <a:rPr lang="en-US" sz="1000" dirty="0">
                <a:solidFill>
                  <a:srgbClr val="1B2A4A"/>
                </a:solidFill>
                <a:latin typeface="Arial" pitchFamily="34" charset="0"/>
                <a:ea typeface="Arial" pitchFamily="34" charset="-122"/>
                <a:cs typeface="Arial" pitchFamily="34" charset="-120"/>
              </a:rPr>
              <a:t>🔒  Branch protection: all changes to main via pull request  ·  build-test must pass  ·  pre-commit: lint + typecheck on staged files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name="Slide 10">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8778240" y="4846320"/>
            <a:ext cx="274320" cy="182880"/>
          </a:xfrm>
          <a:prstGeom prst="rect">
            <a:avLst/>
          </a:prstGeom>
          <a:noFill/>
          <a:ln/>
        </p:spPr>
        <p:txBody>
          <a:bodyPr wrap="square" rtlCol="0" anchor="ctr"/>
          <a:lstStyle/>
          <a:p>
            <a:pPr marL="0" indent="0" algn="r">
              <a:buNone/>
            </a:pPr>
            <a:r>
              <a:rPr lang="en-US" sz="800" dirty="0">
                <a:solidFill>
                  <a:srgbClr val="8898AA"/>
                </a:solidFill>
                <a:latin typeface="Arial" pitchFamily="34" charset="0"/>
                <a:ea typeface="Arial" pitchFamily="34" charset="-122"/>
                <a:cs typeface="Arial" pitchFamily="34" charset="-120"/>
              </a:rPr>
              <a:t>10</a:t>
            </a:r>
            <a:endParaRPr lang="en-US" sz="800" dirty="0"/>
          </a:p>
        </p:txBody>
      </p:sp>
      <p:sp>
        <p:nvSpPr>
          <p:cNvPr id="3" name="Shape 1"/>
          <p:cNvSpPr/>
          <p:nvPr/>
        </p:nvSpPr>
        <p:spPr>
          <a:xfrm>
            <a:off x="457200" y="274320"/>
            <a:ext cx="1371600" cy="256032"/>
          </a:xfrm>
          <a:prstGeom prst="roundRect">
            <a:avLst>
              <a:gd name="adj" fmla="val 21429"/>
            </a:avLst>
          </a:prstGeom>
          <a:solidFill>
            <a:srgbClr val="1B2A4A"/>
          </a:solidFill>
          <a:ln w="12700">
            <a:solidFill>
              <a:srgbClr val="1B2A4A"/>
            </a:solidFill>
            <a:prstDash val="solid"/>
          </a:ln>
        </p:spPr>
      </p:sp>
      <p:sp>
        <p:nvSpPr>
          <p:cNvPr id="4" name="Text 2"/>
          <p:cNvSpPr/>
          <p:nvPr/>
        </p:nvSpPr>
        <p:spPr>
          <a:xfrm>
            <a:off x="457200" y="274320"/>
            <a:ext cx="1371600" cy="256032"/>
          </a:xfrm>
          <a:prstGeom prst="rect">
            <a:avLst/>
          </a:prstGeom>
          <a:noFill/>
          <a:ln/>
        </p:spPr>
        <p:txBody>
          <a:bodyPr wrap="square" lIns="0" tIns="0" rIns="0" bIns="0" rtlCol="0" anchor="ctr"/>
          <a:lstStyle/>
          <a:p>
            <a:pPr marL="0" indent="0" algn="ctr">
              <a:buNone/>
            </a:pPr>
            <a:r>
              <a:rPr lang="en-US" sz="800" b="1" kern="0" spc="150" dirty="0">
                <a:solidFill>
                  <a:srgbClr val="FFFFFF"/>
                </a:solidFill>
                <a:latin typeface="Arial" pitchFamily="34" charset="0"/>
                <a:ea typeface="Arial" pitchFamily="34" charset="-122"/>
                <a:cs typeface="Arial" pitchFamily="34" charset="-120"/>
              </a:rPr>
              <a:t>RISKS &amp; LIMITATIONS</a:t>
            </a:r>
            <a:endParaRPr lang="en-US" sz="800" dirty="0"/>
          </a:p>
        </p:txBody>
      </p:sp>
      <p:sp>
        <p:nvSpPr>
          <p:cNvPr id="5" name="Text 3"/>
          <p:cNvSpPr/>
          <p:nvPr/>
        </p:nvSpPr>
        <p:spPr>
          <a:xfrm>
            <a:off x="457200" y="594360"/>
            <a:ext cx="8229600" cy="548640"/>
          </a:xfrm>
          <a:prstGeom prst="rect">
            <a:avLst/>
          </a:prstGeom>
          <a:noFill/>
          <a:ln/>
        </p:spPr>
        <p:txBody>
          <a:bodyPr wrap="square"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Current Risks &amp; Known Limitations</a:t>
            </a:r>
            <a:endParaRPr lang="en-US" sz="3000" dirty="0"/>
          </a:p>
        </p:txBody>
      </p:sp>
      <p:sp>
        <p:nvSpPr>
          <p:cNvPr id="6" name="Shape 4"/>
          <p:cNvSpPr/>
          <p:nvPr/>
        </p:nvSpPr>
        <p:spPr>
          <a:xfrm>
            <a:off x="457200" y="1298448"/>
            <a:ext cx="8229600" cy="658368"/>
          </a:xfrm>
          <a:prstGeom prst="roundRect">
            <a:avLst>
              <a:gd name="adj" fmla="val 13889"/>
            </a:avLst>
          </a:prstGeom>
          <a:solidFill>
            <a:srgbClr val="F0FAF5"/>
          </a:solidFill>
          <a:ln w="12700">
            <a:solidFill>
              <a:srgbClr val="D0DAE8"/>
            </a:solidFill>
            <a:prstDash val="solid"/>
          </a:ln>
          <a:effectLst>
            <a:outerShdw blurRad="177800" dist="50800" dir="2700000" algn="bl" rotWithShape="0">
              <a:srgbClr val="000000">
                <a:alpha val="10000"/>
              </a:srgbClr>
            </a:outerShdw>
          </a:effectLst>
        </p:spPr>
      </p:sp>
      <p:sp>
        <p:nvSpPr>
          <p:cNvPr id="7" name="Shape 5"/>
          <p:cNvSpPr/>
          <p:nvPr/>
        </p:nvSpPr>
        <p:spPr>
          <a:xfrm>
            <a:off x="594360" y="1481328"/>
            <a:ext cx="777240" cy="219456"/>
          </a:xfrm>
          <a:prstGeom prst="roundRect">
            <a:avLst>
              <a:gd name="adj" fmla="val 25000"/>
            </a:avLst>
          </a:prstGeom>
          <a:solidFill>
            <a:srgbClr val="27AE60"/>
          </a:solidFill>
          <a:ln w="12700">
            <a:solidFill>
              <a:srgbClr val="27AE60"/>
            </a:solidFill>
            <a:prstDash val="solid"/>
          </a:ln>
        </p:spPr>
      </p:sp>
      <p:sp>
        <p:nvSpPr>
          <p:cNvPr id="8" name="Text 6"/>
          <p:cNvSpPr/>
          <p:nvPr/>
        </p:nvSpPr>
        <p:spPr>
          <a:xfrm>
            <a:off x="594360" y="1481328"/>
            <a:ext cx="777240" cy="21945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LOW</a:t>
            </a:r>
            <a:endParaRPr lang="en-US" sz="800" dirty="0"/>
          </a:p>
        </p:txBody>
      </p:sp>
      <p:sp>
        <p:nvSpPr>
          <p:cNvPr id="9" name="Text 7"/>
          <p:cNvSpPr/>
          <p:nvPr/>
        </p:nvSpPr>
        <p:spPr>
          <a:xfrm>
            <a:off x="1481328" y="1353312"/>
            <a:ext cx="3657600" cy="256032"/>
          </a:xfrm>
          <a:prstGeom prst="rect">
            <a:avLst/>
          </a:prstGeom>
          <a:noFill/>
          <a:ln/>
        </p:spPr>
        <p:txBody>
          <a:bodyPr wrap="square" rtlCol="0" anchor="ctr"/>
          <a:lstStyle/>
          <a:p>
            <a:pPr marL="0" indent="0">
              <a:buNone/>
            </a:pPr>
            <a:r>
              <a:rPr lang="en-US" sz="1100" b="1" dirty="0">
                <a:solidFill>
                  <a:srgbClr val="1B2A4A"/>
                </a:solidFill>
                <a:latin typeface="Arial" pitchFamily="34" charset="0"/>
                <a:ea typeface="Arial" pitchFamily="34" charset="-122"/>
                <a:cs typeface="Arial" pitchFamily="34" charset="-120"/>
              </a:rPr>
              <a:t>Streaming not implemented</a:t>
            </a:r>
            <a:endParaRPr lang="en-US" sz="1100" dirty="0"/>
          </a:p>
        </p:txBody>
      </p:sp>
      <p:sp>
        <p:nvSpPr>
          <p:cNvPr id="10" name="Text 8"/>
          <p:cNvSpPr/>
          <p:nvPr/>
        </p:nvSpPr>
        <p:spPr>
          <a:xfrm>
            <a:off x="1481328" y="1609344"/>
            <a:ext cx="3474720" cy="310896"/>
          </a:xfrm>
          <a:prstGeom prst="rect">
            <a:avLst/>
          </a:prstGeom>
          <a:noFill/>
          <a:ln/>
        </p:spPr>
        <p:txBody>
          <a:bodyPr wrap="square" rtlCol="0" anchor="ctr"/>
          <a:lstStyle/>
          <a:p>
            <a:pPr marL="0" indent="0">
              <a:buNone/>
            </a:pPr>
            <a:r>
              <a:rPr lang="en-US" sz="950" dirty="0">
                <a:solidFill>
                  <a:srgbClr val="4A5568"/>
                </a:solidFill>
                <a:latin typeface="Arial" pitchFamily="34" charset="0"/>
                <a:ea typeface="Arial" pitchFamily="34" charset="-122"/>
                <a:cs typeface="Arial" pitchFamily="34" charset="-120"/>
              </a:rPr>
              <a:t>All LLM calls are completion-based. For large requirement documents, generation may feel slow. No visible token stream to the user during generation.</a:t>
            </a:r>
            <a:endParaRPr lang="en-US" sz="950" dirty="0"/>
          </a:p>
        </p:txBody>
      </p:sp>
      <p:sp>
        <p:nvSpPr>
          <p:cNvPr id="11" name="Text 9"/>
          <p:cNvSpPr/>
          <p:nvPr/>
        </p:nvSpPr>
        <p:spPr>
          <a:xfrm>
            <a:off x="5166359" y="1371600"/>
            <a:ext cx="817673" cy="182880"/>
          </a:xfrm>
          <a:prstGeom prst="rect">
            <a:avLst/>
          </a:prstGeom>
          <a:noFill/>
          <a:ln/>
        </p:spPr>
        <p:txBody>
          <a:bodyPr wrap="square" rtlCol="0" anchor="ctr"/>
          <a:lstStyle/>
          <a:p>
            <a:pPr marL="0" indent="0">
              <a:buNone/>
            </a:pPr>
            <a:r>
              <a:rPr lang="en-US" sz="900" b="1" dirty="0">
                <a:solidFill>
                  <a:srgbClr val="028090"/>
                </a:solidFill>
                <a:latin typeface="Arial" pitchFamily="34" charset="0"/>
                <a:ea typeface="Arial" pitchFamily="34" charset="-122"/>
                <a:cs typeface="Arial" pitchFamily="34" charset="-120"/>
              </a:rPr>
              <a:t>Mitigation:</a:t>
            </a:r>
            <a:endParaRPr lang="en-US" sz="900" dirty="0"/>
          </a:p>
        </p:txBody>
      </p:sp>
      <p:sp>
        <p:nvSpPr>
          <p:cNvPr id="12" name="Text 10"/>
          <p:cNvSpPr/>
          <p:nvPr/>
        </p:nvSpPr>
        <p:spPr>
          <a:xfrm>
            <a:off x="5166360" y="1554480"/>
            <a:ext cx="3364992" cy="365760"/>
          </a:xfrm>
          <a:prstGeom prst="rect">
            <a:avLst/>
          </a:prstGeom>
          <a:noFill/>
          <a:ln/>
        </p:spPr>
        <p:txBody>
          <a:bodyPr wrap="square" rtlCol="0" anchor="ctr"/>
          <a:lstStyle/>
          <a:p>
            <a:pPr marL="0" indent="0">
              <a:buNone/>
            </a:pPr>
            <a:r>
              <a:rPr lang="en-US" sz="950" dirty="0">
                <a:solidFill>
                  <a:srgbClr val="4A5568"/>
                </a:solidFill>
                <a:latin typeface="Arial" pitchFamily="34" charset="0"/>
                <a:ea typeface="Arial" pitchFamily="34" charset="-122"/>
                <a:cs typeface="Arial" pitchFamily="34" charset="-120"/>
              </a:rPr>
              <a:t>Planned for a future release. Current UX shows step-by-step progress labels (1/4 → 4/4) as interim feedback.</a:t>
            </a:r>
            <a:endParaRPr lang="en-US" sz="950" dirty="0"/>
          </a:p>
        </p:txBody>
      </p:sp>
      <p:sp>
        <p:nvSpPr>
          <p:cNvPr id="13" name="Shape 11"/>
          <p:cNvSpPr/>
          <p:nvPr/>
        </p:nvSpPr>
        <p:spPr>
          <a:xfrm>
            <a:off x="457200" y="2029968"/>
            <a:ext cx="8229600" cy="658368"/>
          </a:xfrm>
          <a:prstGeom prst="roundRect">
            <a:avLst>
              <a:gd name="adj" fmla="val 13889"/>
            </a:avLst>
          </a:prstGeom>
          <a:solidFill>
            <a:srgbClr val="FEF9EC"/>
          </a:solidFill>
          <a:ln w="12700">
            <a:solidFill>
              <a:srgbClr val="D0DAE8"/>
            </a:solidFill>
            <a:prstDash val="solid"/>
          </a:ln>
          <a:effectLst>
            <a:outerShdw blurRad="177800" dist="50800" dir="2700000" algn="bl" rotWithShape="0">
              <a:srgbClr val="000000">
                <a:alpha val="10000"/>
              </a:srgbClr>
            </a:outerShdw>
          </a:effectLst>
        </p:spPr>
      </p:sp>
      <p:sp>
        <p:nvSpPr>
          <p:cNvPr id="14" name="Shape 12"/>
          <p:cNvSpPr/>
          <p:nvPr/>
        </p:nvSpPr>
        <p:spPr>
          <a:xfrm>
            <a:off x="594360" y="2212848"/>
            <a:ext cx="777240" cy="219456"/>
          </a:xfrm>
          <a:prstGeom prst="roundRect">
            <a:avLst>
              <a:gd name="adj" fmla="val 25000"/>
            </a:avLst>
          </a:prstGeom>
          <a:solidFill>
            <a:srgbClr val="27AE60"/>
          </a:solidFill>
          <a:ln w="12700">
            <a:solidFill>
              <a:srgbClr val="27AE60"/>
            </a:solidFill>
            <a:prstDash val="solid"/>
          </a:ln>
        </p:spPr>
      </p:sp>
      <p:sp>
        <p:nvSpPr>
          <p:cNvPr id="15" name="Text 13"/>
          <p:cNvSpPr/>
          <p:nvPr/>
        </p:nvSpPr>
        <p:spPr>
          <a:xfrm>
            <a:off x="594360" y="2212848"/>
            <a:ext cx="777240" cy="21945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LOW</a:t>
            </a:r>
            <a:endParaRPr lang="en-US" sz="800" dirty="0"/>
          </a:p>
        </p:txBody>
      </p:sp>
      <p:sp>
        <p:nvSpPr>
          <p:cNvPr id="16" name="Text 14"/>
          <p:cNvSpPr/>
          <p:nvPr/>
        </p:nvSpPr>
        <p:spPr>
          <a:xfrm>
            <a:off x="1481328" y="2084832"/>
            <a:ext cx="3657600" cy="256032"/>
          </a:xfrm>
          <a:prstGeom prst="rect">
            <a:avLst/>
          </a:prstGeom>
          <a:noFill/>
          <a:ln/>
        </p:spPr>
        <p:txBody>
          <a:bodyPr wrap="square" rtlCol="0" anchor="ctr"/>
          <a:lstStyle/>
          <a:p>
            <a:pPr marL="0" indent="0">
              <a:buNone/>
            </a:pPr>
            <a:r>
              <a:rPr lang="en-US" sz="1100" b="1" dirty="0">
                <a:solidFill>
                  <a:srgbClr val="1B2A4A"/>
                </a:solidFill>
                <a:latin typeface="Arial" pitchFamily="34" charset="0"/>
                <a:ea typeface="Arial" pitchFamily="34" charset="-122"/>
                <a:cs typeface="Arial" pitchFamily="34" charset="-120"/>
              </a:rPr>
              <a:t>Shape-only Jira/Xray validation in Settings</a:t>
            </a:r>
            <a:endParaRPr lang="en-US" sz="1100" dirty="0"/>
          </a:p>
        </p:txBody>
      </p:sp>
      <p:sp>
        <p:nvSpPr>
          <p:cNvPr id="17" name="Text 15"/>
          <p:cNvSpPr/>
          <p:nvPr/>
        </p:nvSpPr>
        <p:spPr>
          <a:xfrm>
            <a:off x="1481328" y="2340864"/>
            <a:ext cx="3474720" cy="310896"/>
          </a:xfrm>
          <a:prstGeom prst="rect">
            <a:avLst/>
          </a:prstGeom>
          <a:noFill/>
          <a:ln/>
        </p:spPr>
        <p:txBody>
          <a:bodyPr wrap="square" rtlCol="0" anchor="ctr"/>
          <a:lstStyle/>
          <a:p>
            <a:pPr marL="0" indent="0">
              <a:buNone/>
            </a:pPr>
            <a:r>
              <a:rPr lang="en-US" sz="950" dirty="0">
                <a:solidFill>
                  <a:srgbClr val="4A5568"/>
                </a:solidFill>
                <a:latin typeface="Arial" pitchFamily="34" charset="0"/>
                <a:ea typeface="Arial" pitchFamily="34" charset="-122"/>
                <a:cs typeface="Arial" pitchFamily="34" charset="-120"/>
              </a:rPr>
              <a:t>The Settings 'Test Connection' button validates field shapes but does not make a live API call to verify credentials.</a:t>
            </a:r>
            <a:endParaRPr lang="en-US" sz="950" dirty="0"/>
          </a:p>
        </p:txBody>
      </p:sp>
      <p:sp>
        <p:nvSpPr>
          <p:cNvPr id="18" name="Text 16"/>
          <p:cNvSpPr/>
          <p:nvPr/>
        </p:nvSpPr>
        <p:spPr>
          <a:xfrm>
            <a:off x="5166359" y="2103120"/>
            <a:ext cx="817673" cy="182880"/>
          </a:xfrm>
          <a:prstGeom prst="rect">
            <a:avLst/>
          </a:prstGeom>
          <a:noFill/>
          <a:ln/>
        </p:spPr>
        <p:txBody>
          <a:bodyPr wrap="square" rtlCol="0" anchor="ctr"/>
          <a:lstStyle/>
          <a:p>
            <a:pPr marL="0" indent="0">
              <a:buNone/>
            </a:pPr>
            <a:r>
              <a:rPr lang="en-US" sz="900" b="1" dirty="0">
                <a:solidFill>
                  <a:srgbClr val="028090"/>
                </a:solidFill>
                <a:latin typeface="Arial" pitchFamily="34" charset="0"/>
                <a:ea typeface="Arial" pitchFamily="34" charset="-122"/>
                <a:cs typeface="Arial" pitchFamily="34" charset="-120"/>
              </a:rPr>
              <a:t>Mitigation:</a:t>
            </a:r>
            <a:endParaRPr lang="en-US" sz="900" dirty="0"/>
          </a:p>
        </p:txBody>
      </p:sp>
      <p:sp>
        <p:nvSpPr>
          <p:cNvPr id="19" name="Text 17"/>
          <p:cNvSpPr/>
          <p:nvPr/>
        </p:nvSpPr>
        <p:spPr>
          <a:xfrm>
            <a:off x="5166360" y="2286000"/>
            <a:ext cx="3364992" cy="365760"/>
          </a:xfrm>
          <a:prstGeom prst="rect">
            <a:avLst/>
          </a:prstGeom>
          <a:noFill/>
          <a:ln/>
        </p:spPr>
        <p:txBody>
          <a:bodyPr wrap="square" rtlCol="0" anchor="ctr"/>
          <a:lstStyle/>
          <a:p>
            <a:pPr marL="0" indent="0">
              <a:buNone/>
            </a:pPr>
            <a:r>
              <a:rPr lang="en-US" sz="950" dirty="0">
                <a:solidFill>
                  <a:srgbClr val="4A5568"/>
                </a:solidFill>
                <a:latin typeface="Arial" pitchFamily="34" charset="0"/>
                <a:ea typeface="Arial" pitchFamily="34" charset="-122"/>
                <a:cs typeface="Arial" pitchFamily="34" charset="-120"/>
              </a:rPr>
              <a:t>Live API validation is scoped to Phase 6. Teams should verify credentials manually before first use.</a:t>
            </a:r>
            <a:endParaRPr lang="en-US" sz="950" dirty="0"/>
          </a:p>
        </p:txBody>
      </p:sp>
      <p:sp>
        <p:nvSpPr>
          <p:cNvPr id="20" name="Shape 18"/>
          <p:cNvSpPr/>
          <p:nvPr/>
        </p:nvSpPr>
        <p:spPr>
          <a:xfrm>
            <a:off x="457200" y="2761488"/>
            <a:ext cx="8229600" cy="658368"/>
          </a:xfrm>
          <a:prstGeom prst="roundRect">
            <a:avLst>
              <a:gd name="adj" fmla="val 13889"/>
            </a:avLst>
          </a:prstGeom>
          <a:solidFill>
            <a:srgbClr val="FEF9EC"/>
          </a:solidFill>
          <a:ln w="12700">
            <a:solidFill>
              <a:srgbClr val="D0DAE8"/>
            </a:solidFill>
            <a:prstDash val="solid"/>
          </a:ln>
          <a:effectLst>
            <a:outerShdw blurRad="177800" dist="50800" dir="2700000" algn="bl" rotWithShape="0">
              <a:srgbClr val="000000">
                <a:alpha val="10000"/>
              </a:srgbClr>
            </a:outerShdw>
          </a:effectLst>
        </p:spPr>
      </p:sp>
      <p:sp>
        <p:nvSpPr>
          <p:cNvPr id="21" name="Shape 19"/>
          <p:cNvSpPr/>
          <p:nvPr/>
        </p:nvSpPr>
        <p:spPr>
          <a:xfrm>
            <a:off x="594360" y="2944368"/>
            <a:ext cx="777240" cy="219456"/>
          </a:xfrm>
          <a:prstGeom prst="roundRect">
            <a:avLst>
              <a:gd name="adj" fmla="val 25000"/>
            </a:avLst>
          </a:prstGeom>
          <a:solidFill>
            <a:srgbClr val="E67E22"/>
          </a:solidFill>
          <a:ln w="12700">
            <a:solidFill>
              <a:srgbClr val="E67E22"/>
            </a:solidFill>
            <a:prstDash val="solid"/>
          </a:ln>
        </p:spPr>
      </p:sp>
      <p:sp>
        <p:nvSpPr>
          <p:cNvPr id="22" name="Text 20"/>
          <p:cNvSpPr/>
          <p:nvPr/>
        </p:nvSpPr>
        <p:spPr>
          <a:xfrm>
            <a:off x="594360" y="2944368"/>
            <a:ext cx="777240" cy="21945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MEDIUM</a:t>
            </a:r>
            <a:endParaRPr lang="en-US" sz="800" dirty="0"/>
          </a:p>
        </p:txBody>
      </p:sp>
      <p:sp>
        <p:nvSpPr>
          <p:cNvPr id="23" name="Text 21"/>
          <p:cNvSpPr/>
          <p:nvPr/>
        </p:nvSpPr>
        <p:spPr>
          <a:xfrm>
            <a:off x="1481328" y="2816352"/>
            <a:ext cx="3657600" cy="256032"/>
          </a:xfrm>
          <a:prstGeom prst="rect">
            <a:avLst/>
          </a:prstGeom>
          <a:noFill/>
          <a:ln/>
        </p:spPr>
        <p:txBody>
          <a:bodyPr wrap="square" rtlCol="0" anchor="ctr"/>
          <a:lstStyle/>
          <a:p>
            <a:pPr marL="0" indent="0">
              <a:buNone/>
            </a:pPr>
            <a:r>
              <a:rPr lang="en-US" sz="1100" b="1" dirty="0">
                <a:solidFill>
                  <a:srgbClr val="1B2A4A"/>
                </a:solidFill>
                <a:latin typeface="Arial" pitchFamily="34" charset="0"/>
                <a:ea typeface="Arial" pitchFamily="34" charset="-122"/>
                <a:cs typeface="Arial" pitchFamily="34" charset="-120"/>
              </a:rPr>
              <a:t>Fixed LLM prompt templates</a:t>
            </a:r>
            <a:endParaRPr lang="en-US" sz="1100" dirty="0"/>
          </a:p>
        </p:txBody>
      </p:sp>
      <p:sp>
        <p:nvSpPr>
          <p:cNvPr id="24" name="Text 22"/>
          <p:cNvSpPr/>
          <p:nvPr/>
        </p:nvSpPr>
        <p:spPr>
          <a:xfrm>
            <a:off x="1481328" y="3072384"/>
            <a:ext cx="3474720" cy="310896"/>
          </a:xfrm>
          <a:prstGeom prst="rect">
            <a:avLst/>
          </a:prstGeom>
          <a:noFill/>
          <a:ln/>
        </p:spPr>
        <p:txBody>
          <a:bodyPr wrap="square" rtlCol="0" anchor="ctr"/>
          <a:lstStyle/>
          <a:p>
            <a:pPr marL="0" indent="0">
              <a:buNone/>
            </a:pPr>
            <a:r>
              <a:rPr lang="en-US" sz="950" dirty="0">
                <a:solidFill>
                  <a:srgbClr val="4A5568"/>
                </a:solidFill>
                <a:latin typeface="Arial" pitchFamily="34" charset="0"/>
                <a:ea typeface="Arial" pitchFamily="34" charset="-122"/>
                <a:cs typeface="Arial" pitchFamily="34" charset="-120"/>
              </a:rPr>
              <a:t>Prompt files are not user-customizable from within the extension. Teams with domain-specific test standards cannot modify prompt instructions without code changes.</a:t>
            </a:r>
            <a:endParaRPr lang="en-US" sz="950" dirty="0"/>
          </a:p>
        </p:txBody>
      </p:sp>
      <p:sp>
        <p:nvSpPr>
          <p:cNvPr id="25" name="Text 23"/>
          <p:cNvSpPr/>
          <p:nvPr/>
        </p:nvSpPr>
        <p:spPr>
          <a:xfrm>
            <a:off x="5166359" y="2834640"/>
            <a:ext cx="817673" cy="182880"/>
          </a:xfrm>
          <a:prstGeom prst="rect">
            <a:avLst/>
          </a:prstGeom>
          <a:noFill/>
          <a:ln/>
        </p:spPr>
        <p:txBody>
          <a:bodyPr wrap="square" rtlCol="0" anchor="ctr"/>
          <a:lstStyle/>
          <a:p>
            <a:pPr marL="0" indent="0">
              <a:buNone/>
            </a:pPr>
            <a:r>
              <a:rPr lang="en-US" sz="900" b="1" dirty="0">
                <a:solidFill>
                  <a:srgbClr val="028090"/>
                </a:solidFill>
                <a:latin typeface="Arial" pitchFamily="34" charset="0"/>
                <a:ea typeface="Arial" pitchFamily="34" charset="-122"/>
                <a:cs typeface="Arial" pitchFamily="34" charset="-120"/>
              </a:rPr>
              <a:t>Mitigation:</a:t>
            </a:r>
            <a:endParaRPr lang="en-US" sz="900" dirty="0"/>
          </a:p>
        </p:txBody>
      </p:sp>
      <p:sp>
        <p:nvSpPr>
          <p:cNvPr id="26" name="Text 24"/>
          <p:cNvSpPr/>
          <p:nvPr/>
        </p:nvSpPr>
        <p:spPr>
          <a:xfrm>
            <a:off x="5166360" y="3017520"/>
            <a:ext cx="3364992" cy="365760"/>
          </a:xfrm>
          <a:prstGeom prst="rect">
            <a:avLst/>
          </a:prstGeom>
          <a:noFill/>
          <a:ln/>
        </p:spPr>
        <p:txBody>
          <a:bodyPr wrap="square" rtlCol="0" anchor="ctr"/>
          <a:lstStyle/>
          <a:p>
            <a:pPr marL="0" indent="0">
              <a:buNone/>
            </a:pPr>
            <a:r>
              <a:rPr lang="en-US" sz="950" dirty="0">
                <a:solidFill>
                  <a:srgbClr val="4A5568"/>
                </a:solidFill>
                <a:latin typeface="Arial" pitchFamily="34" charset="0"/>
                <a:ea typeface="Arial" pitchFamily="34" charset="-122"/>
                <a:cs typeface="Arial" pitchFamily="34" charset="-120"/>
              </a:rPr>
              <a:t>Prompt customization is planned. Interim workaround: edit prompt .txt files in the extension source and rebuild.</a:t>
            </a:r>
            <a:endParaRPr lang="en-US" sz="950" dirty="0"/>
          </a:p>
        </p:txBody>
      </p:sp>
      <p:sp>
        <p:nvSpPr>
          <p:cNvPr id="27" name="Shape 25"/>
          <p:cNvSpPr/>
          <p:nvPr/>
        </p:nvSpPr>
        <p:spPr>
          <a:xfrm>
            <a:off x="457200" y="3493008"/>
            <a:ext cx="8229600" cy="658368"/>
          </a:xfrm>
          <a:prstGeom prst="roundRect">
            <a:avLst>
              <a:gd name="adj" fmla="val 13889"/>
            </a:avLst>
          </a:prstGeom>
          <a:solidFill>
            <a:srgbClr val="F0FAF5"/>
          </a:solidFill>
          <a:ln w="12700">
            <a:solidFill>
              <a:srgbClr val="D0DAE8"/>
            </a:solidFill>
            <a:prstDash val="solid"/>
          </a:ln>
          <a:effectLst>
            <a:outerShdw blurRad="177800" dist="50800" dir="2700000" algn="bl" rotWithShape="0">
              <a:srgbClr val="000000">
                <a:alpha val="10000"/>
              </a:srgbClr>
            </a:outerShdw>
          </a:effectLst>
        </p:spPr>
      </p:sp>
      <p:sp>
        <p:nvSpPr>
          <p:cNvPr id="28" name="Shape 26"/>
          <p:cNvSpPr/>
          <p:nvPr/>
        </p:nvSpPr>
        <p:spPr>
          <a:xfrm>
            <a:off x="594360" y="3675888"/>
            <a:ext cx="777240" cy="219456"/>
          </a:xfrm>
          <a:prstGeom prst="roundRect">
            <a:avLst>
              <a:gd name="adj" fmla="val 25000"/>
            </a:avLst>
          </a:prstGeom>
          <a:solidFill>
            <a:srgbClr val="27AE60"/>
          </a:solidFill>
          <a:ln w="12700">
            <a:solidFill>
              <a:srgbClr val="27AE60"/>
            </a:solidFill>
            <a:prstDash val="solid"/>
          </a:ln>
        </p:spPr>
      </p:sp>
      <p:sp>
        <p:nvSpPr>
          <p:cNvPr id="29" name="Text 27"/>
          <p:cNvSpPr/>
          <p:nvPr/>
        </p:nvSpPr>
        <p:spPr>
          <a:xfrm>
            <a:off x="594360" y="3675888"/>
            <a:ext cx="777240" cy="21945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LOW</a:t>
            </a:r>
            <a:endParaRPr lang="en-US" sz="800" dirty="0"/>
          </a:p>
        </p:txBody>
      </p:sp>
      <p:sp>
        <p:nvSpPr>
          <p:cNvPr id="30" name="Text 28"/>
          <p:cNvSpPr/>
          <p:nvPr/>
        </p:nvSpPr>
        <p:spPr>
          <a:xfrm>
            <a:off x="1481328" y="3547872"/>
            <a:ext cx="3657600" cy="256032"/>
          </a:xfrm>
          <a:prstGeom prst="rect">
            <a:avLst/>
          </a:prstGeom>
          <a:noFill/>
          <a:ln/>
        </p:spPr>
        <p:txBody>
          <a:bodyPr wrap="square" rtlCol="0" anchor="ctr"/>
          <a:lstStyle/>
          <a:p>
            <a:pPr marL="0" indent="0">
              <a:buNone/>
            </a:pPr>
            <a:r>
              <a:rPr lang="en-US" sz="1100" b="1" dirty="0">
                <a:solidFill>
                  <a:srgbClr val="1B2A4A"/>
                </a:solidFill>
                <a:latin typeface="Arial" pitchFamily="34" charset="0"/>
                <a:ea typeface="Arial" pitchFamily="34" charset="-122"/>
                <a:cs typeface="Arial" pitchFamily="34" charset="-120"/>
              </a:rPr>
              <a:t>No requirement versioning or diff history</a:t>
            </a:r>
            <a:endParaRPr lang="en-US" sz="1100" dirty="0"/>
          </a:p>
        </p:txBody>
      </p:sp>
      <p:sp>
        <p:nvSpPr>
          <p:cNvPr id="31" name="Text 29"/>
          <p:cNvSpPr/>
          <p:nvPr/>
        </p:nvSpPr>
        <p:spPr>
          <a:xfrm>
            <a:off x="1481328" y="3803904"/>
            <a:ext cx="3474720" cy="310896"/>
          </a:xfrm>
          <a:prstGeom prst="rect">
            <a:avLst/>
          </a:prstGeom>
          <a:noFill/>
          <a:ln/>
        </p:spPr>
        <p:txBody>
          <a:bodyPr wrap="square" rtlCol="0" anchor="ctr"/>
          <a:lstStyle/>
          <a:p>
            <a:pPr marL="0" indent="0">
              <a:buNone/>
            </a:pPr>
            <a:r>
              <a:rPr lang="en-US" sz="950" dirty="0">
                <a:solidFill>
                  <a:srgbClr val="4A5568"/>
                </a:solidFill>
                <a:latin typeface="Arial" pitchFamily="34" charset="0"/>
                <a:ea typeface="Arial" pitchFamily="34" charset="-122"/>
                <a:cs typeface="Arial" pitchFamily="34" charset="-120"/>
              </a:rPr>
              <a:t>There is no built-in tracking of changes between requirement versions. Re-generating after requirement changes will produce new test cases without comparing to prior runs.</a:t>
            </a:r>
            <a:endParaRPr lang="en-US" sz="950" dirty="0"/>
          </a:p>
        </p:txBody>
      </p:sp>
      <p:sp>
        <p:nvSpPr>
          <p:cNvPr id="32" name="Text 30"/>
          <p:cNvSpPr/>
          <p:nvPr/>
        </p:nvSpPr>
        <p:spPr>
          <a:xfrm>
            <a:off x="5166359" y="3566160"/>
            <a:ext cx="817673" cy="182880"/>
          </a:xfrm>
          <a:prstGeom prst="rect">
            <a:avLst/>
          </a:prstGeom>
          <a:noFill/>
          <a:ln/>
        </p:spPr>
        <p:txBody>
          <a:bodyPr wrap="square" rtlCol="0" anchor="ctr"/>
          <a:lstStyle/>
          <a:p>
            <a:pPr marL="0" indent="0">
              <a:buNone/>
            </a:pPr>
            <a:r>
              <a:rPr lang="en-US" sz="900" b="1" dirty="0">
                <a:solidFill>
                  <a:srgbClr val="028090"/>
                </a:solidFill>
                <a:latin typeface="Arial" pitchFamily="34" charset="0"/>
                <a:ea typeface="Arial" pitchFamily="34" charset="-122"/>
                <a:cs typeface="Arial" pitchFamily="34" charset="-120"/>
              </a:rPr>
              <a:t>Mitigation:</a:t>
            </a:r>
            <a:endParaRPr lang="en-US" sz="900" dirty="0"/>
          </a:p>
        </p:txBody>
      </p:sp>
      <p:sp>
        <p:nvSpPr>
          <p:cNvPr id="33" name="Text 31"/>
          <p:cNvSpPr/>
          <p:nvPr/>
        </p:nvSpPr>
        <p:spPr>
          <a:xfrm>
            <a:off x="5166360" y="3749040"/>
            <a:ext cx="3364992" cy="365760"/>
          </a:xfrm>
          <a:prstGeom prst="rect">
            <a:avLst/>
          </a:prstGeom>
          <a:noFill/>
          <a:ln/>
        </p:spPr>
        <p:txBody>
          <a:bodyPr wrap="square" rtlCol="0" anchor="ctr"/>
          <a:lstStyle/>
          <a:p>
            <a:pPr marL="0" indent="0">
              <a:buNone/>
            </a:pPr>
            <a:r>
              <a:rPr lang="en-US" sz="950" dirty="0">
                <a:solidFill>
                  <a:srgbClr val="4A5568"/>
                </a:solidFill>
                <a:latin typeface="Arial" pitchFamily="34" charset="0"/>
                <a:ea typeface="Arial" pitchFamily="34" charset="-122"/>
                <a:cs typeface="Arial" pitchFamily="34" charset="-120"/>
              </a:rPr>
              <a:t>Fingerprint dedup prevents duplicate Xray pushes. Full versioning is a future phase item.</a:t>
            </a:r>
            <a:endParaRPr lang="en-US" sz="950" dirty="0"/>
          </a:p>
        </p:txBody>
      </p:sp>
      <p:sp>
        <p:nvSpPr>
          <p:cNvPr id="34" name="Shape 32"/>
          <p:cNvSpPr/>
          <p:nvPr/>
        </p:nvSpPr>
        <p:spPr>
          <a:xfrm>
            <a:off x="457200" y="4224528"/>
            <a:ext cx="8229600" cy="658368"/>
          </a:xfrm>
          <a:prstGeom prst="roundRect">
            <a:avLst>
              <a:gd name="adj" fmla="val 13889"/>
            </a:avLst>
          </a:prstGeom>
          <a:solidFill>
            <a:srgbClr val="F0FAF5"/>
          </a:solidFill>
          <a:ln w="12700">
            <a:solidFill>
              <a:srgbClr val="D0DAE8"/>
            </a:solidFill>
            <a:prstDash val="solid"/>
          </a:ln>
          <a:effectLst>
            <a:outerShdw blurRad="177800" dist="50800" dir="2700000" algn="bl" rotWithShape="0">
              <a:srgbClr val="000000">
                <a:alpha val="10000"/>
              </a:srgbClr>
            </a:outerShdw>
          </a:effectLst>
        </p:spPr>
      </p:sp>
      <p:sp>
        <p:nvSpPr>
          <p:cNvPr id="35" name="Shape 33"/>
          <p:cNvSpPr/>
          <p:nvPr/>
        </p:nvSpPr>
        <p:spPr>
          <a:xfrm>
            <a:off x="594360" y="4407408"/>
            <a:ext cx="777240" cy="219456"/>
          </a:xfrm>
          <a:prstGeom prst="roundRect">
            <a:avLst>
              <a:gd name="adj" fmla="val 25000"/>
            </a:avLst>
          </a:prstGeom>
          <a:solidFill>
            <a:srgbClr val="27AE60"/>
          </a:solidFill>
          <a:ln w="12700">
            <a:solidFill>
              <a:srgbClr val="27AE60"/>
            </a:solidFill>
            <a:prstDash val="solid"/>
          </a:ln>
        </p:spPr>
      </p:sp>
      <p:sp>
        <p:nvSpPr>
          <p:cNvPr id="36" name="Text 34"/>
          <p:cNvSpPr/>
          <p:nvPr/>
        </p:nvSpPr>
        <p:spPr>
          <a:xfrm>
            <a:off x="594360" y="4407408"/>
            <a:ext cx="777240" cy="21945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LOW</a:t>
            </a:r>
            <a:endParaRPr lang="en-US" sz="800" dirty="0"/>
          </a:p>
        </p:txBody>
      </p:sp>
      <p:sp>
        <p:nvSpPr>
          <p:cNvPr id="37" name="Text 35"/>
          <p:cNvSpPr/>
          <p:nvPr/>
        </p:nvSpPr>
        <p:spPr>
          <a:xfrm>
            <a:off x="1481328" y="4279392"/>
            <a:ext cx="3657600" cy="256032"/>
          </a:xfrm>
          <a:prstGeom prst="rect">
            <a:avLst/>
          </a:prstGeom>
          <a:noFill/>
          <a:ln/>
        </p:spPr>
        <p:txBody>
          <a:bodyPr wrap="square" rtlCol="0" anchor="ctr"/>
          <a:lstStyle/>
          <a:p>
            <a:pPr marL="0" indent="0">
              <a:buNone/>
            </a:pPr>
            <a:r>
              <a:rPr lang="en-US" sz="1100" b="1" dirty="0">
                <a:solidFill>
                  <a:srgbClr val="1B2A4A"/>
                </a:solidFill>
                <a:latin typeface="Arial" pitchFamily="34" charset="0"/>
                <a:ea typeface="Arial" pitchFamily="34" charset="-122"/>
                <a:cs typeface="Arial" pitchFamily="34" charset="-120"/>
              </a:rPr>
              <a:t>Single permission level (no RBAC)</a:t>
            </a:r>
            <a:endParaRPr lang="en-US" sz="1100" dirty="0"/>
          </a:p>
        </p:txBody>
      </p:sp>
      <p:sp>
        <p:nvSpPr>
          <p:cNvPr id="38" name="Text 36"/>
          <p:cNvSpPr/>
          <p:nvPr/>
        </p:nvSpPr>
        <p:spPr>
          <a:xfrm>
            <a:off x="1481328" y="4535424"/>
            <a:ext cx="3474720" cy="310896"/>
          </a:xfrm>
          <a:prstGeom prst="rect">
            <a:avLst/>
          </a:prstGeom>
          <a:noFill/>
          <a:ln/>
        </p:spPr>
        <p:txBody>
          <a:bodyPr wrap="square" rtlCol="0" anchor="ctr"/>
          <a:lstStyle/>
          <a:p>
            <a:pPr marL="0" indent="0">
              <a:buNone/>
            </a:pPr>
            <a:r>
              <a:rPr lang="en-US" sz="950" dirty="0">
                <a:solidFill>
                  <a:srgbClr val="4A5568"/>
                </a:solidFill>
                <a:latin typeface="Arial" pitchFamily="34" charset="0"/>
                <a:ea typeface="Arial" pitchFamily="34" charset="-122"/>
                <a:cs typeface="Arial" pitchFamily="34" charset="-120"/>
              </a:rPr>
              <a:t>All VS Code users with the extension installed share identical capabilities. There is no role-based access control to restrict, for example, Xray push rights.</a:t>
            </a:r>
            <a:endParaRPr lang="en-US" sz="950" dirty="0"/>
          </a:p>
        </p:txBody>
      </p:sp>
      <p:sp>
        <p:nvSpPr>
          <p:cNvPr id="39" name="Text 37"/>
          <p:cNvSpPr/>
          <p:nvPr/>
        </p:nvSpPr>
        <p:spPr>
          <a:xfrm>
            <a:off x="5166359" y="4297680"/>
            <a:ext cx="817673" cy="182880"/>
          </a:xfrm>
          <a:prstGeom prst="rect">
            <a:avLst/>
          </a:prstGeom>
          <a:noFill/>
          <a:ln/>
        </p:spPr>
        <p:txBody>
          <a:bodyPr wrap="square" rtlCol="0" anchor="ctr"/>
          <a:lstStyle/>
          <a:p>
            <a:pPr marL="0" indent="0">
              <a:buNone/>
            </a:pPr>
            <a:r>
              <a:rPr lang="en-US" sz="900" b="1" dirty="0">
                <a:solidFill>
                  <a:srgbClr val="028090"/>
                </a:solidFill>
                <a:latin typeface="Arial" pitchFamily="34" charset="0"/>
                <a:ea typeface="Arial" pitchFamily="34" charset="-122"/>
                <a:cs typeface="Arial" pitchFamily="34" charset="-120"/>
              </a:rPr>
              <a:t>Mitigation:</a:t>
            </a:r>
            <a:endParaRPr lang="en-US" sz="900" dirty="0"/>
          </a:p>
        </p:txBody>
      </p:sp>
      <p:sp>
        <p:nvSpPr>
          <p:cNvPr id="40" name="Text 38"/>
          <p:cNvSpPr/>
          <p:nvPr/>
        </p:nvSpPr>
        <p:spPr>
          <a:xfrm>
            <a:off x="5166360" y="4480560"/>
            <a:ext cx="3364992" cy="365760"/>
          </a:xfrm>
          <a:prstGeom prst="rect">
            <a:avLst/>
          </a:prstGeom>
          <a:noFill/>
          <a:ln/>
        </p:spPr>
        <p:txBody>
          <a:bodyPr wrap="square" rtlCol="0" anchor="ctr"/>
          <a:lstStyle/>
          <a:p>
            <a:pPr marL="0" indent="0">
              <a:buNone/>
            </a:pPr>
            <a:r>
              <a:rPr lang="en-US" sz="950" dirty="0">
                <a:solidFill>
                  <a:srgbClr val="4A5568"/>
                </a:solidFill>
                <a:latin typeface="Arial" pitchFamily="34" charset="0"/>
                <a:ea typeface="Arial" pitchFamily="34" charset="-122"/>
                <a:cs typeface="Arial" pitchFamily="34" charset="-120"/>
              </a:rPr>
              <a:t>Acceptable at current team scale. RBAC planned as the user base grows.</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name="Slide 11">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8778240" y="4846320"/>
            <a:ext cx="274320" cy="182880"/>
          </a:xfrm>
          <a:prstGeom prst="rect">
            <a:avLst/>
          </a:prstGeom>
          <a:noFill/>
          <a:ln/>
        </p:spPr>
        <p:txBody>
          <a:bodyPr wrap="square" rtlCol="0" anchor="ctr"/>
          <a:lstStyle/>
          <a:p>
            <a:pPr marL="0" indent="0" algn="r">
              <a:buNone/>
            </a:pPr>
            <a:r>
              <a:rPr lang="en-US" sz="800" dirty="0">
                <a:solidFill>
                  <a:srgbClr val="8898AA"/>
                </a:solidFill>
                <a:latin typeface="Arial" pitchFamily="34" charset="0"/>
                <a:ea typeface="Arial" pitchFamily="34" charset="-122"/>
                <a:cs typeface="Arial" pitchFamily="34" charset="-120"/>
              </a:rPr>
              <a:t>11</a:t>
            </a:r>
            <a:endParaRPr lang="en-US" sz="800" dirty="0"/>
          </a:p>
        </p:txBody>
      </p:sp>
      <p:sp>
        <p:nvSpPr>
          <p:cNvPr id="3" name="Shape 1"/>
          <p:cNvSpPr/>
          <p:nvPr/>
        </p:nvSpPr>
        <p:spPr>
          <a:xfrm>
            <a:off x="457200" y="274320"/>
            <a:ext cx="1371600" cy="256032"/>
          </a:xfrm>
          <a:prstGeom prst="roundRect">
            <a:avLst>
              <a:gd name="adj" fmla="val 21429"/>
            </a:avLst>
          </a:prstGeom>
          <a:solidFill>
            <a:srgbClr val="028090"/>
          </a:solidFill>
          <a:ln w="12700">
            <a:solidFill>
              <a:srgbClr val="028090"/>
            </a:solidFill>
            <a:prstDash val="solid"/>
          </a:ln>
        </p:spPr>
      </p:sp>
      <p:sp>
        <p:nvSpPr>
          <p:cNvPr id="4" name="Text 2"/>
          <p:cNvSpPr/>
          <p:nvPr/>
        </p:nvSpPr>
        <p:spPr>
          <a:xfrm>
            <a:off x="457200" y="274320"/>
            <a:ext cx="1371600" cy="256032"/>
          </a:xfrm>
          <a:prstGeom prst="rect">
            <a:avLst/>
          </a:prstGeom>
          <a:noFill/>
          <a:ln/>
        </p:spPr>
        <p:txBody>
          <a:bodyPr wrap="square" lIns="0" tIns="0" rIns="0" bIns="0" rtlCol="0" anchor="ctr"/>
          <a:lstStyle/>
          <a:p>
            <a:pPr marL="0" indent="0" algn="ctr">
              <a:buNone/>
            </a:pPr>
            <a:r>
              <a:rPr lang="en-US" sz="800" b="1" kern="0" spc="150" dirty="0">
                <a:solidFill>
                  <a:srgbClr val="FFFFFF"/>
                </a:solidFill>
                <a:latin typeface="Arial" pitchFamily="34" charset="0"/>
                <a:ea typeface="Arial" pitchFamily="34" charset="-122"/>
                <a:cs typeface="Arial" pitchFamily="34" charset="-120"/>
              </a:rPr>
              <a:t>ROADMAP</a:t>
            </a:r>
            <a:endParaRPr lang="en-US" sz="800" dirty="0"/>
          </a:p>
        </p:txBody>
      </p:sp>
      <p:sp>
        <p:nvSpPr>
          <p:cNvPr id="5" name="Text 3"/>
          <p:cNvSpPr/>
          <p:nvPr/>
        </p:nvSpPr>
        <p:spPr>
          <a:xfrm>
            <a:off x="457200" y="594360"/>
            <a:ext cx="8229600" cy="50292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Roadmap &amp; Next Steps</a:t>
            </a:r>
            <a:endParaRPr lang="en-US" sz="3000" dirty="0"/>
          </a:p>
        </p:txBody>
      </p:sp>
      <p:sp>
        <p:nvSpPr>
          <p:cNvPr id="6" name="Shape 4"/>
          <p:cNvSpPr/>
          <p:nvPr/>
        </p:nvSpPr>
        <p:spPr>
          <a:xfrm>
            <a:off x="457200" y="1261872"/>
            <a:ext cx="2697480" cy="3429000"/>
          </a:xfrm>
          <a:prstGeom prst="roundRect">
            <a:avLst>
              <a:gd name="adj" fmla="val 4068"/>
            </a:avLst>
          </a:prstGeom>
          <a:solidFill>
            <a:srgbClr val="1F3A5F"/>
          </a:solidFill>
          <a:ln w="12700">
            <a:solidFill>
              <a:srgbClr val="2A4A72"/>
            </a:solidFill>
            <a:prstDash val="solid"/>
          </a:ln>
          <a:effectLst>
            <a:outerShdw blurRad="177800" dist="50800" dir="2700000" algn="bl" rotWithShape="0">
              <a:srgbClr val="000000">
                <a:alpha val="10000"/>
              </a:srgbClr>
            </a:outerShdw>
          </a:effectLst>
        </p:spPr>
      </p:sp>
      <p:sp>
        <p:nvSpPr>
          <p:cNvPr id="7" name="Shape 5"/>
          <p:cNvSpPr/>
          <p:nvPr/>
        </p:nvSpPr>
        <p:spPr>
          <a:xfrm>
            <a:off x="457200" y="1261872"/>
            <a:ext cx="2697480" cy="640080"/>
          </a:xfrm>
          <a:prstGeom prst="roundRect">
            <a:avLst>
              <a:gd name="adj" fmla="val 17143"/>
            </a:avLst>
          </a:prstGeom>
          <a:solidFill>
            <a:srgbClr val="028090"/>
          </a:solidFill>
          <a:ln w="12700">
            <a:solidFill>
              <a:srgbClr val="028090"/>
            </a:solidFill>
            <a:prstDash val="solid"/>
          </a:ln>
        </p:spPr>
      </p:sp>
      <p:sp>
        <p:nvSpPr>
          <p:cNvPr id="8" name="Shape 6"/>
          <p:cNvSpPr/>
          <p:nvPr/>
        </p:nvSpPr>
        <p:spPr>
          <a:xfrm>
            <a:off x="457200" y="1536192"/>
            <a:ext cx="2697480" cy="365760"/>
          </a:xfrm>
          <a:prstGeom prst="line">
            <a:avLst/>
          </a:prstGeom>
          <a:solidFill>
            <a:srgbClr val="028090"/>
          </a:solidFill>
          <a:ln w="12700">
            <a:solidFill>
              <a:srgbClr val="028090"/>
            </a:solidFill>
            <a:prstDash val="solid"/>
          </a:ln>
        </p:spPr>
      </p:sp>
      <p:sp>
        <p:nvSpPr>
          <p:cNvPr id="9" name="Text 7"/>
          <p:cNvSpPr/>
          <p:nvPr/>
        </p:nvSpPr>
        <p:spPr>
          <a:xfrm>
            <a:off x="457200" y="1280160"/>
            <a:ext cx="2697480" cy="329184"/>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v0.0.5</a:t>
            </a:r>
            <a:endParaRPr lang="en-US" sz="1600" dirty="0"/>
          </a:p>
        </p:txBody>
      </p:sp>
      <p:sp>
        <p:nvSpPr>
          <p:cNvPr id="10" name="Text 8"/>
          <p:cNvSpPr/>
          <p:nvPr/>
        </p:nvSpPr>
        <p:spPr>
          <a:xfrm>
            <a:off x="457200" y="1591056"/>
            <a:ext cx="2697480" cy="237744"/>
          </a:xfrm>
          <a:prstGeom prst="rect">
            <a:avLst/>
          </a:prstGeom>
          <a:noFill/>
          <a:ln/>
        </p:spPr>
        <p:txBody>
          <a:bodyPr wrap="square" rtlCol="0" anchor="ctr"/>
          <a:lstStyle/>
          <a:p>
            <a:pPr marL="0" indent="0" algn="ctr">
              <a:buNone/>
            </a:pPr>
            <a:r>
              <a:rPr lang="en-US" sz="1000" dirty="0">
                <a:solidFill>
                  <a:srgbClr val="D8EEF0"/>
                </a:solidFill>
                <a:latin typeface="Arial" pitchFamily="34" charset="0"/>
                <a:ea typeface="Arial" pitchFamily="34" charset="-122"/>
                <a:cs typeface="Arial" pitchFamily="34" charset="-120"/>
              </a:rPr>
              <a:t>Near Term</a:t>
            </a:r>
            <a:endParaRPr lang="en-US" sz="1000" dirty="0"/>
          </a:p>
        </p:txBody>
      </p:sp>
      <p:sp>
        <p:nvSpPr>
          <p:cNvPr id="11" name="Shape 9"/>
          <p:cNvSpPr/>
          <p:nvPr/>
        </p:nvSpPr>
        <p:spPr>
          <a:xfrm>
            <a:off x="1115568" y="2011680"/>
            <a:ext cx="1371600" cy="237744"/>
          </a:xfrm>
          <a:prstGeom prst="roundRect">
            <a:avLst>
              <a:gd name="adj" fmla="val 38462"/>
            </a:avLst>
          </a:prstGeom>
          <a:solidFill>
            <a:srgbClr val="0D2A44"/>
          </a:solidFill>
          <a:ln w="12700">
            <a:solidFill>
              <a:srgbClr val="028090"/>
            </a:solidFill>
            <a:prstDash val="solid"/>
          </a:ln>
        </p:spPr>
      </p:sp>
      <p:sp>
        <p:nvSpPr>
          <p:cNvPr id="12" name="Text 10"/>
          <p:cNvSpPr/>
          <p:nvPr/>
        </p:nvSpPr>
        <p:spPr>
          <a:xfrm>
            <a:off x="1115568" y="2011680"/>
            <a:ext cx="1371600" cy="237744"/>
          </a:xfrm>
          <a:prstGeom prst="rect">
            <a:avLst/>
          </a:prstGeom>
          <a:noFill/>
          <a:ln/>
        </p:spPr>
        <p:txBody>
          <a:bodyPr wrap="square" lIns="0" tIns="0" rIns="0" bIns="0" rtlCol="0" anchor="ctr"/>
          <a:lstStyle/>
          <a:p>
            <a:pPr marL="0" indent="0" algn="ctr">
              <a:buNone/>
            </a:pPr>
            <a:r>
              <a:rPr lang="en-US" sz="900" dirty="0">
                <a:solidFill>
                  <a:srgbClr val="028090"/>
                </a:solidFill>
                <a:latin typeface="Arial" pitchFamily="34" charset="0"/>
                <a:ea typeface="Arial" pitchFamily="34" charset="-122"/>
                <a:cs typeface="Arial" pitchFamily="34" charset="-120"/>
              </a:rPr>
              <a:t>Planned</a:t>
            </a:r>
            <a:endParaRPr lang="en-US" sz="900" dirty="0"/>
          </a:p>
        </p:txBody>
      </p:sp>
      <p:sp>
        <p:nvSpPr>
          <p:cNvPr id="13" name="Shape 11"/>
          <p:cNvSpPr/>
          <p:nvPr/>
        </p:nvSpPr>
        <p:spPr>
          <a:xfrm>
            <a:off x="640080" y="2395728"/>
            <a:ext cx="201168" cy="201168"/>
          </a:xfrm>
          <a:prstGeom prst="ellipse">
            <a:avLst/>
          </a:prstGeom>
          <a:solidFill>
            <a:srgbClr val="028090"/>
          </a:solidFill>
          <a:ln w="12700">
            <a:solidFill>
              <a:srgbClr val="028090"/>
            </a:solidFill>
            <a:prstDash val="solid"/>
          </a:ln>
        </p:spPr>
      </p:sp>
      <p:sp>
        <p:nvSpPr>
          <p:cNvPr id="14" name="Text 12"/>
          <p:cNvSpPr/>
          <p:nvPr/>
        </p:nvSpPr>
        <p:spPr>
          <a:xfrm>
            <a:off x="932688" y="2350008"/>
            <a:ext cx="2121408" cy="502920"/>
          </a:xfrm>
          <a:prstGeom prst="rect">
            <a:avLst/>
          </a:prstGeom>
          <a:noFill/>
          <a:ln/>
        </p:spPr>
        <p:txBody>
          <a:bodyPr wrap="square" rtlCol="0" anchor="ctr"/>
          <a:lstStyle/>
          <a:p>
            <a:pPr marL="0" indent="0">
              <a:buNone/>
            </a:pPr>
            <a:r>
              <a:rPr lang="en-US" sz="1000" dirty="0">
                <a:solidFill>
                  <a:srgbClr val="CADCFC"/>
                </a:solidFill>
                <a:latin typeface="Arial" pitchFamily="34" charset="0"/>
                <a:ea typeface="Arial" pitchFamily="34" charset="-122"/>
                <a:cs typeface="Arial" pitchFamily="34" charset="-120"/>
              </a:rPr>
              <a:t>Live Jira/Xray API validation in Settings</a:t>
            </a:r>
            <a:endParaRPr lang="en-US" sz="1000" dirty="0"/>
          </a:p>
        </p:txBody>
      </p:sp>
      <p:sp>
        <p:nvSpPr>
          <p:cNvPr id="15" name="Shape 13"/>
          <p:cNvSpPr/>
          <p:nvPr/>
        </p:nvSpPr>
        <p:spPr>
          <a:xfrm>
            <a:off x="640080" y="3054096"/>
            <a:ext cx="201168" cy="201168"/>
          </a:xfrm>
          <a:prstGeom prst="ellipse">
            <a:avLst/>
          </a:prstGeom>
          <a:solidFill>
            <a:srgbClr val="028090"/>
          </a:solidFill>
          <a:ln w="12700">
            <a:solidFill>
              <a:srgbClr val="028090"/>
            </a:solidFill>
            <a:prstDash val="solid"/>
          </a:ln>
        </p:spPr>
      </p:sp>
      <p:sp>
        <p:nvSpPr>
          <p:cNvPr id="16" name="Text 14"/>
          <p:cNvSpPr/>
          <p:nvPr/>
        </p:nvSpPr>
        <p:spPr>
          <a:xfrm>
            <a:off x="932688" y="3008376"/>
            <a:ext cx="2121408" cy="502920"/>
          </a:xfrm>
          <a:prstGeom prst="rect">
            <a:avLst/>
          </a:prstGeom>
          <a:noFill/>
          <a:ln/>
        </p:spPr>
        <p:txBody>
          <a:bodyPr wrap="square" rtlCol="0" anchor="ctr"/>
          <a:lstStyle/>
          <a:p>
            <a:pPr marL="0" indent="0">
              <a:buNone/>
            </a:pPr>
            <a:r>
              <a:rPr lang="en-US" sz="1000" dirty="0">
                <a:solidFill>
                  <a:srgbClr val="CADCFC"/>
                </a:solidFill>
                <a:latin typeface="Arial" pitchFamily="34" charset="0"/>
                <a:ea typeface="Arial" pitchFamily="34" charset="-122"/>
                <a:cs typeface="Arial" pitchFamily="34" charset="-120"/>
              </a:rPr>
              <a:t>Token-streaming for real-time LLM output</a:t>
            </a:r>
            <a:endParaRPr lang="en-US" sz="1000" dirty="0"/>
          </a:p>
        </p:txBody>
      </p:sp>
      <p:sp>
        <p:nvSpPr>
          <p:cNvPr id="17" name="Shape 15"/>
          <p:cNvSpPr/>
          <p:nvPr/>
        </p:nvSpPr>
        <p:spPr>
          <a:xfrm>
            <a:off x="640080" y="3712464"/>
            <a:ext cx="201168" cy="201168"/>
          </a:xfrm>
          <a:prstGeom prst="ellipse">
            <a:avLst/>
          </a:prstGeom>
          <a:solidFill>
            <a:srgbClr val="028090"/>
          </a:solidFill>
          <a:ln w="12700">
            <a:solidFill>
              <a:srgbClr val="028090"/>
            </a:solidFill>
            <a:prstDash val="solid"/>
          </a:ln>
        </p:spPr>
      </p:sp>
      <p:sp>
        <p:nvSpPr>
          <p:cNvPr id="18" name="Text 16"/>
          <p:cNvSpPr/>
          <p:nvPr/>
        </p:nvSpPr>
        <p:spPr>
          <a:xfrm>
            <a:off x="932688" y="3666744"/>
            <a:ext cx="2121408" cy="502920"/>
          </a:xfrm>
          <a:prstGeom prst="rect">
            <a:avLst/>
          </a:prstGeom>
          <a:noFill/>
          <a:ln/>
        </p:spPr>
        <p:txBody>
          <a:bodyPr wrap="square" rtlCol="0" anchor="ctr"/>
          <a:lstStyle/>
          <a:p>
            <a:pPr marL="0" indent="0">
              <a:buNone/>
            </a:pPr>
            <a:r>
              <a:rPr lang="en-US" sz="1000" dirty="0">
                <a:solidFill>
                  <a:srgbClr val="CADCFC"/>
                </a:solidFill>
                <a:latin typeface="Arial" pitchFamily="34" charset="0"/>
                <a:ea typeface="Arial" pitchFamily="34" charset="-122"/>
                <a:cs typeface="Arial" pitchFamily="34" charset="-120"/>
              </a:rPr>
              <a:t>User-customizable prompt templates</a:t>
            </a:r>
            <a:endParaRPr lang="en-US" sz="1000" dirty="0"/>
          </a:p>
        </p:txBody>
      </p:sp>
      <p:sp>
        <p:nvSpPr>
          <p:cNvPr id="19" name="Shape 17"/>
          <p:cNvSpPr/>
          <p:nvPr/>
        </p:nvSpPr>
        <p:spPr>
          <a:xfrm>
            <a:off x="3383280" y="1261872"/>
            <a:ext cx="2697480" cy="3429000"/>
          </a:xfrm>
          <a:prstGeom prst="roundRect">
            <a:avLst>
              <a:gd name="adj" fmla="val 4068"/>
            </a:avLst>
          </a:prstGeom>
          <a:solidFill>
            <a:srgbClr val="1F3A5F"/>
          </a:solidFill>
          <a:ln w="12700">
            <a:solidFill>
              <a:srgbClr val="2A4A72"/>
            </a:solidFill>
            <a:prstDash val="solid"/>
          </a:ln>
          <a:effectLst>
            <a:outerShdw blurRad="177800" dist="50800" dir="2700000" algn="bl" rotWithShape="0">
              <a:srgbClr val="000000">
                <a:alpha val="10000"/>
              </a:srgbClr>
            </a:outerShdw>
          </a:effectLst>
        </p:spPr>
      </p:sp>
      <p:sp>
        <p:nvSpPr>
          <p:cNvPr id="20" name="Shape 18"/>
          <p:cNvSpPr/>
          <p:nvPr/>
        </p:nvSpPr>
        <p:spPr>
          <a:xfrm>
            <a:off x="3383280" y="1261872"/>
            <a:ext cx="2697480" cy="640080"/>
          </a:xfrm>
          <a:prstGeom prst="roundRect">
            <a:avLst>
              <a:gd name="adj" fmla="val 17143"/>
            </a:avLst>
          </a:prstGeom>
          <a:solidFill>
            <a:srgbClr val="02A8BC"/>
          </a:solidFill>
          <a:ln w="12700">
            <a:solidFill>
              <a:srgbClr val="02A8BC"/>
            </a:solidFill>
            <a:prstDash val="solid"/>
          </a:ln>
        </p:spPr>
      </p:sp>
      <p:sp>
        <p:nvSpPr>
          <p:cNvPr id="21" name="Shape 19"/>
          <p:cNvSpPr/>
          <p:nvPr/>
        </p:nvSpPr>
        <p:spPr>
          <a:xfrm>
            <a:off x="3383280" y="1536192"/>
            <a:ext cx="2697480" cy="365760"/>
          </a:xfrm>
          <a:prstGeom prst="line">
            <a:avLst/>
          </a:prstGeom>
          <a:solidFill>
            <a:srgbClr val="02A8BC"/>
          </a:solidFill>
          <a:ln w="12700">
            <a:solidFill>
              <a:srgbClr val="02A8BC"/>
            </a:solidFill>
            <a:prstDash val="solid"/>
          </a:ln>
        </p:spPr>
      </p:sp>
      <p:sp>
        <p:nvSpPr>
          <p:cNvPr id="22" name="Text 20"/>
          <p:cNvSpPr/>
          <p:nvPr/>
        </p:nvSpPr>
        <p:spPr>
          <a:xfrm>
            <a:off x="3383280" y="1280160"/>
            <a:ext cx="2697480" cy="329184"/>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v0.1.0</a:t>
            </a:r>
            <a:endParaRPr lang="en-US" sz="1600" dirty="0"/>
          </a:p>
        </p:txBody>
      </p:sp>
      <p:sp>
        <p:nvSpPr>
          <p:cNvPr id="23" name="Text 21"/>
          <p:cNvSpPr/>
          <p:nvPr/>
        </p:nvSpPr>
        <p:spPr>
          <a:xfrm>
            <a:off x="3383280" y="1591056"/>
            <a:ext cx="2697480" cy="237744"/>
          </a:xfrm>
          <a:prstGeom prst="rect">
            <a:avLst/>
          </a:prstGeom>
          <a:noFill/>
          <a:ln/>
        </p:spPr>
        <p:txBody>
          <a:bodyPr wrap="square" rtlCol="0" anchor="ctr"/>
          <a:lstStyle/>
          <a:p>
            <a:pPr marL="0" indent="0" algn="ctr">
              <a:buNone/>
            </a:pPr>
            <a:r>
              <a:rPr lang="en-US" sz="1000" dirty="0">
                <a:solidFill>
                  <a:srgbClr val="D8EEF0"/>
                </a:solidFill>
                <a:latin typeface="Arial" pitchFamily="34" charset="0"/>
                <a:ea typeface="Arial" pitchFamily="34" charset="-122"/>
                <a:cs typeface="Arial" pitchFamily="34" charset="-120"/>
              </a:rPr>
              <a:t>Mid Term</a:t>
            </a:r>
            <a:endParaRPr lang="en-US" sz="1000" dirty="0"/>
          </a:p>
        </p:txBody>
      </p:sp>
      <p:sp>
        <p:nvSpPr>
          <p:cNvPr id="24" name="Shape 22"/>
          <p:cNvSpPr/>
          <p:nvPr/>
        </p:nvSpPr>
        <p:spPr>
          <a:xfrm>
            <a:off x="4041648" y="2011680"/>
            <a:ext cx="1371600" cy="237744"/>
          </a:xfrm>
          <a:prstGeom prst="roundRect">
            <a:avLst>
              <a:gd name="adj" fmla="val 38462"/>
            </a:avLst>
          </a:prstGeom>
          <a:solidFill>
            <a:srgbClr val="0D2A44"/>
          </a:solidFill>
          <a:ln w="12700">
            <a:solidFill>
              <a:srgbClr val="02A8BC"/>
            </a:solidFill>
            <a:prstDash val="solid"/>
          </a:ln>
        </p:spPr>
      </p:sp>
      <p:sp>
        <p:nvSpPr>
          <p:cNvPr id="25" name="Text 23"/>
          <p:cNvSpPr/>
          <p:nvPr/>
        </p:nvSpPr>
        <p:spPr>
          <a:xfrm>
            <a:off x="4041648" y="2011680"/>
            <a:ext cx="1371600" cy="237744"/>
          </a:xfrm>
          <a:prstGeom prst="rect">
            <a:avLst/>
          </a:prstGeom>
          <a:noFill/>
          <a:ln/>
        </p:spPr>
        <p:txBody>
          <a:bodyPr wrap="square" lIns="0" tIns="0" rIns="0" bIns="0" rtlCol="0" anchor="ctr"/>
          <a:lstStyle/>
          <a:p>
            <a:pPr marL="0" indent="0" algn="ctr">
              <a:buNone/>
            </a:pPr>
            <a:r>
              <a:rPr lang="en-US" sz="900" dirty="0">
                <a:solidFill>
                  <a:srgbClr val="02A8BC"/>
                </a:solidFill>
                <a:latin typeface="Arial" pitchFamily="34" charset="0"/>
                <a:ea typeface="Arial" pitchFamily="34" charset="-122"/>
                <a:cs typeface="Arial" pitchFamily="34" charset="-120"/>
              </a:rPr>
              <a:t>Scoped</a:t>
            </a:r>
            <a:endParaRPr lang="en-US" sz="900" dirty="0"/>
          </a:p>
        </p:txBody>
      </p:sp>
      <p:sp>
        <p:nvSpPr>
          <p:cNvPr id="26" name="Shape 24"/>
          <p:cNvSpPr/>
          <p:nvPr/>
        </p:nvSpPr>
        <p:spPr>
          <a:xfrm>
            <a:off x="3566160" y="2395728"/>
            <a:ext cx="201168" cy="201168"/>
          </a:xfrm>
          <a:prstGeom prst="ellipse">
            <a:avLst/>
          </a:prstGeom>
          <a:solidFill>
            <a:srgbClr val="02A8BC"/>
          </a:solidFill>
          <a:ln w="12700">
            <a:solidFill>
              <a:srgbClr val="02A8BC"/>
            </a:solidFill>
            <a:prstDash val="solid"/>
          </a:ln>
        </p:spPr>
      </p:sp>
      <p:sp>
        <p:nvSpPr>
          <p:cNvPr id="27" name="Text 25"/>
          <p:cNvSpPr/>
          <p:nvPr/>
        </p:nvSpPr>
        <p:spPr>
          <a:xfrm>
            <a:off x="3858768" y="2350008"/>
            <a:ext cx="2121408" cy="502920"/>
          </a:xfrm>
          <a:prstGeom prst="rect">
            <a:avLst/>
          </a:prstGeom>
          <a:noFill/>
          <a:ln/>
        </p:spPr>
        <p:txBody>
          <a:bodyPr wrap="square" rtlCol="0" anchor="ctr"/>
          <a:lstStyle/>
          <a:p>
            <a:pPr marL="0" indent="0">
              <a:buNone/>
            </a:pPr>
            <a:r>
              <a:rPr lang="en-US" sz="1000" dirty="0">
                <a:solidFill>
                  <a:srgbClr val="CADCFC"/>
                </a:solidFill>
                <a:latin typeface="Arial" pitchFamily="34" charset="0"/>
                <a:ea typeface="Arial" pitchFamily="34" charset="-122"/>
                <a:cs typeface="Arial" pitchFamily="34" charset="-120"/>
              </a:rPr>
              <a:t>Requirement versioning &amp; diff tracking</a:t>
            </a:r>
            <a:endParaRPr lang="en-US" sz="1000" dirty="0"/>
          </a:p>
        </p:txBody>
      </p:sp>
      <p:sp>
        <p:nvSpPr>
          <p:cNvPr id="28" name="Shape 26"/>
          <p:cNvSpPr/>
          <p:nvPr/>
        </p:nvSpPr>
        <p:spPr>
          <a:xfrm>
            <a:off x="3566160" y="3054096"/>
            <a:ext cx="201168" cy="201168"/>
          </a:xfrm>
          <a:prstGeom prst="ellipse">
            <a:avLst/>
          </a:prstGeom>
          <a:solidFill>
            <a:srgbClr val="02A8BC"/>
          </a:solidFill>
          <a:ln w="12700">
            <a:solidFill>
              <a:srgbClr val="02A8BC"/>
            </a:solidFill>
            <a:prstDash val="solid"/>
          </a:ln>
        </p:spPr>
      </p:sp>
      <p:sp>
        <p:nvSpPr>
          <p:cNvPr id="29" name="Text 27"/>
          <p:cNvSpPr/>
          <p:nvPr/>
        </p:nvSpPr>
        <p:spPr>
          <a:xfrm>
            <a:off x="3858768" y="3008376"/>
            <a:ext cx="2121408" cy="502920"/>
          </a:xfrm>
          <a:prstGeom prst="rect">
            <a:avLst/>
          </a:prstGeom>
          <a:noFill/>
          <a:ln/>
        </p:spPr>
        <p:txBody>
          <a:bodyPr wrap="square" rtlCol="0" anchor="ctr"/>
          <a:lstStyle/>
          <a:p>
            <a:pPr marL="0" indent="0">
              <a:buNone/>
            </a:pPr>
            <a:r>
              <a:rPr lang="en-US" sz="1000" dirty="0">
                <a:solidFill>
                  <a:srgbClr val="CADCFC"/>
                </a:solidFill>
                <a:latin typeface="Arial" pitchFamily="34" charset="0"/>
                <a:ea typeface="Arial" pitchFamily="34" charset="-122"/>
                <a:cs typeface="Arial" pitchFamily="34" charset="-120"/>
              </a:rPr>
              <a:t>Multi-project Xray configuration</a:t>
            </a:r>
            <a:endParaRPr lang="en-US" sz="1000" dirty="0"/>
          </a:p>
        </p:txBody>
      </p:sp>
      <p:sp>
        <p:nvSpPr>
          <p:cNvPr id="30" name="Shape 28"/>
          <p:cNvSpPr/>
          <p:nvPr/>
        </p:nvSpPr>
        <p:spPr>
          <a:xfrm>
            <a:off x="3566160" y="3712464"/>
            <a:ext cx="201168" cy="201168"/>
          </a:xfrm>
          <a:prstGeom prst="ellipse">
            <a:avLst/>
          </a:prstGeom>
          <a:solidFill>
            <a:srgbClr val="02A8BC"/>
          </a:solidFill>
          <a:ln w="12700">
            <a:solidFill>
              <a:srgbClr val="02A8BC"/>
            </a:solidFill>
            <a:prstDash val="solid"/>
          </a:ln>
        </p:spPr>
      </p:sp>
      <p:sp>
        <p:nvSpPr>
          <p:cNvPr id="31" name="Text 29"/>
          <p:cNvSpPr/>
          <p:nvPr/>
        </p:nvSpPr>
        <p:spPr>
          <a:xfrm>
            <a:off x="3858768" y="3666744"/>
            <a:ext cx="2121408" cy="502920"/>
          </a:xfrm>
          <a:prstGeom prst="rect">
            <a:avLst/>
          </a:prstGeom>
          <a:noFill/>
          <a:ln/>
        </p:spPr>
        <p:txBody>
          <a:bodyPr wrap="square" rtlCol="0" anchor="ctr"/>
          <a:lstStyle/>
          <a:p>
            <a:pPr marL="0" indent="0">
              <a:buNone/>
            </a:pPr>
            <a:r>
              <a:rPr lang="en-US" sz="1000" dirty="0">
                <a:solidFill>
                  <a:srgbClr val="CADCFC"/>
                </a:solidFill>
                <a:latin typeface="Arial" pitchFamily="34" charset="0"/>
                <a:ea typeface="Arial" pitchFamily="34" charset="-122"/>
                <a:cs typeface="Arial" pitchFamily="34" charset="-120"/>
              </a:rPr>
              <a:t>Bulk scenario editing UI</a:t>
            </a:r>
            <a:endParaRPr lang="en-US" sz="1000" dirty="0"/>
          </a:p>
        </p:txBody>
      </p:sp>
      <p:sp>
        <p:nvSpPr>
          <p:cNvPr id="32" name="Shape 30"/>
          <p:cNvSpPr/>
          <p:nvPr/>
        </p:nvSpPr>
        <p:spPr>
          <a:xfrm>
            <a:off x="6309360" y="1261872"/>
            <a:ext cx="2697480" cy="3429000"/>
          </a:xfrm>
          <a:prstGeom prst="roundRect">
            <a:avLst>
              <a:gd name="adj" fmla="val 4068"/>
            </a:avLst>
          </a:prstGeom>
          <a:solidFill>
            <a:srgbClr val="1F3A5F"/>
          </a:solidFill>
          <a:ln w="12700">
            <a:solidFill>
              <a:srgbClr val="2A4A72"/>
            </a:solidFill>
            <a:prstDash val="solid"/>
          </a:ln>
          <a:effectLst>
            <a:outerShdw blurRad="177800" dist="50800" dir="2700000" algn="bl" rotWithShape="0">
              <a:srgbClr val="000000">
                <a:alpha val="10000"/>
              </a:srgbClr>
            </a:outerShdw>
          </a:effectLst>
        </p:spPr>
      </p:sp>
      <p:sp>
        <p:nvSpPr>
          <p:cNvPr id="33" name="Shape 31"/>
          <p:cNvSpPr/>
          <p:nvPr/>
        </p:nvSpPr>
        <p:spPr>
          <a:xfrm>
            <a:off x="6309360" y="1261872"/>
            <a:ext cx="2697480" cy="640080"/>
          </a:xfrm>
          <a:prstGeom prst="roundRect">
            <a:avLst>
              <a:gd name="adj" fmla="val 17143"/>
            </a:avLst>
          </a:prstGeom>
          <a:solidFill>
            <a:srgbClr val="E67E22"/>
          </a:solidFill>
          <a:ln w="12700">
            <a:solidFill>
              <a:srgbClr val="E67E22"/>
            </a:solidFill>
            <a:prstDash val="solid"/>
          </a:ln>
        </p:spPr>
      </p:sp>
      <p:sp>
        <p:nvSpPr>
          <p:cNvPr id="34" name="Shape 32"/>
          <p:cNvSpPr/>
          <p:nvPr/>
        </p:nvSpPr>
        <p:spPr>
          <a:xfrm>
            <a:off x="6309360" y="1536192"/>
            <a:ext cx="2697480" cy="365760"/>
          </a:xfrm>
          <a:prstGeom prst="line">
            <a:avLst/>
          </a:prstGeom>
          <a:solidFill>
            <a:srgbClr val="E67E22"/>
          </a:solidFill>
          <a:ln w="12700">
            <a:solidFill>
              <a:srgbClr val="E67E22"/>
            </a:solidFill>
            <a:prstDash val="solid"/>
          </a:ln>
        </p:spPr>
      </p:sp>
      <p:sp>
        <p:nvSpPr>
          <p:cNvPr id="35" name="Text 33"/>
          <p:cNvSpPr/>
          <p:nvPr/>
        </p:nvSpPr>
        <p:spPr>
          <a:xfrm>
            <a:off x="6309360" y="1280160"/>
            <a:ext cx="2697480" cy="329184"/>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v1.0</a:t>
            </a:r>
            <a:endParaRPr lang="en-US" sz="1600" dirty="0"/>
          </a:p>
        </p:txBody>
      </p:sp>
      <p:sp>
        <p:nvSpPr>
          <p:cNvPr id="36" name="Text 34"/>
          <p:cNvSpPr/>
          <p:nvPr/>
        </p:nvSpPr>
        <p:spPr>
          <a:xfrm>
            <a:off x="6309360" y="1591056"/>
            <a:ext cx="2697480" cy="237744"/>
          </a:xfrm>
          <a:prstGeom prst="rect">
            <a:avLst/>
          </a:prstGeom>
          <a:noFill/>
          <a:ln/>
        </p:spPr>
        <p:txBody>
          <a:bodyPr wrap="square" rtlCol="0" anchor="ctr"/>
          <a:lstStyle/>
          <a:p>
            <a:pPr marL="0" indent="0" algn="ctr">
              <a:buNone/>
            </a:pPr>
            <a:r>
              <a:rPr lang="en-US" sz="1000" dirty="0">
                <a:solidFill>
                  <a:srgbClr val="D8EEF0"/>
                </a:solidFill>
                <a:latin typeface="Arial" pitchFamily="34" charset="0"/>
                <a:ea typeface="Arial" pitchFamily="34" charset="-122"/>
                <a:cs typeface="Arial" pitchFamily="34" charset="-120"/>
              </a:rPr>
              <a:t>Strategic</a:t>
            </a:r>
            <a:endParaRPr lang="en-US" sz="1000" dirty="0"/>
          </a:p>
        </p:txBody>
      </p:sp>
      <p:sp>
        <p:nvSpPr>
          <p:cNvPr id="37" name="Shape 35"/>
          <p:cNvSpPr/>
          <p:nvPr/>
        </p:nvSpPr>
        <p:spPr>
          <a:xfrm>
            <a:off x="6967728" y="2011680"/>
            <a:ext cx="1371600" cy="237744"/>
          </a:xfrm>
          <a:prstGeom prst="roundRect">
            <a:avLst>
              <a:gd name="adj" fmla="val 38462"/>
            </a:avLst>
          </a:prstGeom>
          <a:solidFill>
            <a:srgbClr val="0D2A44"/>
          </a:solidFill>
          <a:ln w="12700">
            <a:solidFill>
              <a:srgbClr val="E67E22"/>
            </a:solidFill>
            <a:prstDash val="solid"/>
          </a:ln>
        </p:spPr>
      </p:sp>
      <p:sp>
        <p:nvSpPr>
          <p:cNvPr id="38" name="Text 36"/>
          <p:cNvSpPr/>
          <p:nvPr/>
        </p:nvSpPr>
        <p:spPr>
          <a:xfrm>
            <a:off x="6967728" y="2011680"/>
            <a:ext cx="1371600" cy="237744"/>
          </a:xfrm>
          <a:prstGeom prst="rect">
            <a:avLst/>
          </a:prstGeom>
          <a:noFill/>
          <a:ln/>
        </p:spPr>
        <p:txBody>
          <a:bodyPr wrap="square" lIns="0" tIns="0" rIns="0" bIns="0" rtlCol="0" anchor="ctr"/>
          <a:lstStyle/>
          <a:p>
            <a:pPr marL="0" indent="0" algn="ctr">
              <a:buNone/>
            </a:pPr>
            <a:r>
              <a:rPr lang="en-US" sz="900" dirty="0">
                <a:solidFill>
                  <a:srgbClr val="E67E22"/>
                </a:solidFill>
                <a:latin typeface="Arial" pitchFamily="34" charset="0"/>
                <a:ea typeface="Arial" pitchFamily="34" charset="-122"/>
                <a:cs typeface="Arial" pitchFamily="34" charset="-120"/>
              </a:rPr>
              <a:t>Backlog</a:t>
            </a:r>
            <a:endParaRPr lang="en-US" sz="900" dirty="0"/>
          </a:p>
        </p:txBody>
      </p:sp>
      <p:sp>
        <p:nvSpPr>
          <p:cNvPr id="39" name="Shape 37"/>
          <p:cNvSpPr/>
          <p:nvPr/>
        </p:nvSpPr>
        <p:spPr>
          <a:xfrm>
            <a:off x="6492240" y="2395728"/>
            <a:ext cx="201168" cy="201168"/>
          </a:xfrm>
          <a:prstGeom prst="ellipse">
            <a:avLst/>
          </a:prstGeom>
          <a:solidFill>
            <a:srgbClr val="E67E22"/>
          </a:solidFill>
          <a:ln w="12700">
            <a:solidFill>
              <a:srgbClr val="E67E22"/>
            </a:solidFill>
            <a:prstDash val="solid"/>
          </a:ln>
        </p:spPr>
      </p:sp>
      <p:sp>
        <p:nvSpPr>
          <p:cNvPr id="40" name="Text 38"/>
          <p:cNvSpPr/>
          <p:nvPr/>
        </p:nvSpPr>
        <p:spPr>
          <a:xfrm>
            <a:off x="6784848" y="2350008"/>
            <a:ext cx="2121408" cy="502920"/>
          </a:xfrm>
          <a:prstGeom prst="rect">
            <a:avLst/>
          </a:prstGeom>
          <a:noFill/>
          <a:ln/>
        </p:spPr>
        <p:txBody>
          <a:bodyPr wrap="square" rtlCol="0" anchor="ctr"/>
          <a:lstStyle/>
          <a:p>
            <a:pPr marL="0" indent="0">
              <a:buNone/>
            </a:pPr>
            <a:r>
              <a:rPr lang="en-US" sz="1000" dirty="0">
                <a:solidFill>
                  <a:srgbClr val="CADCFC"/>
                </a:solidFill>
                <a:latin typeface="Arial" pitchFamily="34" charset="0"/>
                <a:ea typeface="Arial" pitchFamily="34" charset="-122"/>
                <a:cs typeface="Arial" pitchFamily="34" charset="-120"/>
              </a:rPr>
              <a:t>Role-based access control (RBAC)</a:t>
            </a:r>
            <a:endParaRPr lang="en-US" sz="1000" dirty="0"/>
          </a:p>
        </p:txBody>
      </p:sp>
      <p:sp>
        <p:nvSpPr>
          <p:cNvPr id="41" name="Shape 39"/>
          <p:cNvSpPr/>
          <p:nvPr/>
        </p:nvSpPr>
        <p:spPr>
          <a:xfrm>
            <a:off x="6492240" y="3054096"/>
            <a:ext cx="201168" cy="201168"/>
          </a:xfrm>
          <a:prstGeom prst="ellipse">
            <a:avLst/>
          </a:prstGeom>
          <a:solidFill>
            <a:srgbClr val="E67E22"/>
          </a:solidFill>
          <a:ln w="12700">
            <a:solidFill>
              <a:srgbClr val="E67E22"/>
            </a:solidFill>
            <a:prstDash val="solid"/>
          </a:ln>
        </p:spPr>
      </p:sp>
      <p:sp>
        <p:nvSpPr>
          <p:cNvPr id="42" name="Text 40"/>
          <p:cNvSpPr/>
          <p:nvPr/>
        </p:nvSpPr>
        <p:spPr>
          <a:xfrm>
            <a:off x="6784848" y="3008376"/>
            <a:ext cx="2121408" cy="502920"/>
          </a:xfrm>
          <a:prstGeom prst="rect">
            <a:avLst/>
          </a:prstGeom>
          <a:noFill/>
          <a:ln/>
        </p:spPr>
        <p:txBody>
          <a:bodyPr wrap="square" rtlCol="0" anchor="ctr"/>
          <a:lstStyle/>
          <a:p>
            <a:pPr marL="0" indent="0">
              <a:buNone/>
            </a:pPr>
            <a:r>
              <a:rPr lang="en-US" sz="1000" dirty="0">
                <a:solidFill>
                  <a:srgbClr val="CADCFC"/>
                </a:solidFill>
                <a:latin typeface="Arial" pitchFamily="34" charset="0"/>
                <a:ea typeface="Arial" pitchFamily="34" charset="-122"/>
                <a:cs typeface="Arial" pitchFamily="34" charset="-120"/>
              </a:rPr>
              <a:t>Analytics dashboard: push history &amp; coverage metrics</a:t>
            </a:r>
            <a:endParaRPr lang="en-US" sz="1000" dirty="0"/>
          </a:p>
        </p:txBody>
      </p:sp>
      <p:sp>
        <p:nvSpPr>
          <p:cNvPr id="43" name="Shape 41"/>
          <p:cNvSpPr/>
          <p:nvPr/>
        </p:nvSpPr>
        <p:spPr>
          <a:xfrm>
            <a:off x="6492240" y="3712464"/>
            <a:ext cx="201168" cy="201168"/>
          </a:xfrm>
          <a:prstGeom prst="ellipse">
            <a:avLst/>
          </a:prstGeom>
          <a:solidFill>
            <a:srgbClr val="E67E22"/>
          </a:solidFill>
          <a:ln w="12700">
            <a:solidFill>
              <a:srgbClr val="E67E22"/>
            </a:solidFill>
            <a:prstDash val="solid"/>
          </a:ln>
        </p:spPr>
      </p:sp>
      <p:sp>
        <p:nvSpPr>
          <p:cNvPr id="44" name="Text 42"/>
          <p:cNvSpPr/>
          <p:nvPr/>
        </p:nvSpPr>
        <p:spPr>
          <a:xfrm>
            <a:off x="6784848" y="3666744"/>
            <a:ext cx="2121408" cy="502920"/>
          </a:xfrm>
          <a:prstGeom prst="rect">
            <a:avLst/>
          </a:prstGeom>
          <a:noFill/>
          <a:ln/>
        </p:spPr>
        <p:txBody>
          <a:bodyPr wrap="square" rtlCol="0" anchor="ctr"/>
          <a:lstStyle/>
          <a:p>
            <a:pPr marL="0" indent="0">
              <a:buNone/>
            </a:pPr>
            <a:r>
              <a:rPr lang="en-US" sz="1000" dirty="0">
                <a:solidFill>
                  <a:srgbClr val="CADCFC"/>
                </a:solidFill>
                <a:latin typeface="Arial" pitchFamily="34" charset="0"/>
                <a:ea typeface="Arial" pitchFamily="34" charset="-122"/>
                <a:cs typeface="Arial" pitchFamily="34" charset="-120"/>
              </a:rPr>
              <a:t>CI/CD integration for automated test generation on PR</a:t>
            </a:r>
            <a:endParaRPr lang="en-US" sz="1000" dirty="0"/>
          </a:p>
        </p:txBody>
      </p:sp>
      <p:sp>
        <p:nvSpPr>
          <p:cNvPr id="45" name="Shape 43"/>
          <p:cNvSpPr/>
          <p:nvPr/>
        </p:nvSpPr>
        <p:spPr>
          <a:xfrm>
            <a:off x="457200" y="4773168"/>
            <a:ext cx="8229600" cy="347472"/>
          </a:xfrm>
          <a:prstGeom prst="roundRect">
            <a:avLst>
              <a:gd name="adj" fmla="val 21053"/>
            </a:avLst>
          </a:prstGeom>
          <a:solidFill>
            <a:srgbClr val="0D2A44"/>
          </a:solidFill>
          <a:ln w="12700">
            <a:solidFill>
              <a:srgbClr val="02A8BC"/>
            </a:solidFill>
            <a:prstDash val="solid"/>
          </a:ln>
        </p:spPr>
      </p:sp>
      <p:sp>
        <p:nvSpPr>
          <p:cNvPr id="46" name="Text 44"/>
          <p:cNvSpPr/>
          <p:nvPr/>
        </p:nvSpPr>
        <p:spPr>
          <a:xfrm>
            <a:off x="548640" y="4791456"/>
            <a:ext cx="8046720" cy="310896"/>
          </a:xfrm>
          <a:prstGeom prst="rect">
            <a:avLst/>
          </a:prstGeom>
          <a:noFill/>
          <a:ln/>
        </p:spPr>
        <p:txBody>
          <a:bodyPr wrap="square" rtlCol="0" anchor="ctr"/>
          <a:lstStyle/>
          <a:p>
            <a:pPr marL="0" indent="0">
              <a:buNone/>
            </a:pPr>
            <a:r>
              <a:rPr lang="en-US" sz="1050" dirty="0">
                <a:solidFill>
                  <a:srgbClr val="02A8BC"/>
                </a:solidFill>
                <a:latin typeface="Arial" pitchFamily="34" charset="0"/>
                <a:ea typeface="Arial" pitchFamily="34" charset="-122"/>
                <a:cs typeface="Arial" pitchFamily="34" charset="-120"/>
              </a:rPr>
              <a:t>⚡  Immediate: Test v0.0.4 in VS Code (F5) → validate Generate All end-to-end → confirm Xray push with live credentials</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0"/>
          <p:cNvSpPr/>
          <p:nvPr/>
        </p:nvSpPr>
        <p:spPr>
          <a:xfrm>
            <a:off x="8778240" y="4846320"/>
            <a:ext cx="274320" cy="182880"/>
          </a:xfrm>
          <a:prstGeom prst="rect">
            <a:avLst/>
          </a:prstGeom>
          <a:noFill/>
          <a:ln/>
        </p:spPr>
        <p:txBody>
          <a:bodyPr wrap="square" rtlCol="0" anchor="ctr"/>
          <a:lstStyle/>
          <a:p>
            <a:pPr marL="0" indent="0" algn="r">
              <a:buNone/>
            </a:pPr>
            <a:r>
              <a:rPr lang="en-US" sz="800" dirty="0">
                <a:solidFill>
                  <a:srgbClr val="8898AA"/>
                </a:solidFill>
                <a:latin typeface="Arial" pitchFamily="34" charset="0"/>
                <a:ea typeface="Arial" pitchFamily="34" charset="-122"/>
                <a:cs typeface="Arial" pitchFamily="34" charset="-120"/>
              </a:rPr>
              <a:t>12</a:t>
            </a:r>
            <a:endParaRPr lang="en-US" sz="800" dirty="0"/>
          </a:p>
        </p:txBody>
      </p:sp>
      <p:sp>
        <p:nvSpPr>
          <p:cNvPr id="3" name="Shape 1"/>
          <p:cNvSpPr/>
          <p:nvPr/>
        </p:nvSpPr>
        <p:spPr>
          <a:xfrm>
            <a:off x="0" y="0"/>
            <a:ext cx="9144000" cy="1060704"/>
          </a:xfrm>
          <a:prstGeom prst="line">
            <a:avLst/>
          </a:prstGeom>
          <a:solidFill>
            <a:srgbClr val="1A5C38"/>
          </a:solidFill>
          <a:ln w="12700">
            <a:solidFill>
              <a:srgbClr val="1A5C38"/>
            </a:solidFill>
            <a:prstDash val="solid"/>
          </a:ln>
        </p:spPr>
      </p:sp>
      <p:sp>
        <p:nvSpPr>
          <p:cNvPr id="4" name="Shape 2"/>
          <p:cNvSpPr/>
          <p:nvPr/>
        </p:nvSpPr>
        <p:spPr>
          <a:xfrm>
            <a:off x="457200" y="201168"/>
            <a:ext cx="1371600" cy="256032"/>
          </a:xfrm>
          <a:prstGeom prst="roundRect">
            <a:avLst>
              <a:gd name="adj" fmla="val 21429"/>
            </a:avLst>
          </a:prstGeom>
          <a:solidFill>
            <a:srgbClr val="4AAA6F"/>
          </a:solidFill>
          <a:ln w="12700">
            <a:solidFill>
              <a:srgbClr val="4AAA6F"/>
            </a:solidFill>
            <a:prstDash val="solid"/>
          </a:ln>
        </p:spPr>
      </p:sp>
      <p:sp>
        <p:nvSpPr>
          <p:cNvPr id="5" name="Text 3"/>
          <p:cNvSpPr/>
          <p:nvPr/>
        </p:nvSpPr>
        <p:spPr>
          <a:xfrm>
            <a:off x="457200" y="201168"/>
            <a:ext cx="1371600" cy="256032"/>
          </a:xfrm>
          <a:prstGeom prst="rect">
            <a:avLst/>
          </a:prstGeom>
          <a:noFill/>
          <a:ln/>
        </p:spPr>
        <p:txBody>
          <a:bodyPr wrap="square" lIns="0" tIns="0" rIns="0" bIns="0" rtlCol="0" anchor="ctr"/>
          <a:lstStyle/>
          <a:p>
            <a:pPr marL="0" indent="0" algn="ctr">
              <a:buNone/>
            </a:pPr>
            <a:r>
              <a:rPr lang="en-US" sz="800" b="1" kern="0" spc="150" dirty="0">
                <a:solidFill>
                  <a:srgbClr val="FFFFFF"/>
                </a:solidFill>
                <a:latin typeface="Arial" pitchFamily="34" charset="0"/>
                <a:ea typeface="Arial" pitchFamily="34" charset="-122"/>
                <a:cs typeface="Arial" pitchFamily="34" charset="-120"/>
              </a:rPr>
              <a:t>RESPONSIBLE AI</a:t>
            </a:r>
            <a:endParaRPr lang="en-US" sz="800" dirty="0"/>
          </a:p>
        </p:txBody>
      </p:sp>
      <p:sp>
        <p:nvSpPr>
          <p:cNvPr id="6" name="Text 4"/>
          <p:cNvSpPr/>
          <p:nvPr/>
        </p:nvSpPr>
        <p:spPr>
          <a:xfrm>
            <a:off x="457200" y="475488"/>
            <a:ext cx="6858000" cy="475488"/>
          </a:xfrm>
          <a:prstGeom prst="rect">
            <a:avLst/>
          </a:prstGeom>
          <a:noFill/>
          <a:ln/>
        </p:spPr>
        <p:txBody>
          <a:bodyPr wrap="square" rtlCol="0" anchor="ctr"/>
          <a:lstStyle/>
          <a:p>
            <a:pPr marL="0" indent="0">
              <a:buNone/>
            </a:pPr>
            <a:r>
              <a:rPr lang="en-US" sz="2600" b="1" dirty="0">
                <a:latin typeface="Cambria" pitchFamily="34" charset="0"/>
                <a:ea typeface="Cambria" pitchFamily="34" charset="-122"/>
                <a:cs typeface="Cambria" pitchFamily="34" charset="-120"/>
              </a:rPr>
              <a:t>Sustainability in Our AI Journey</a:t>
            </a:r>
            <a:endParaRPr lang="en-US" sz="2600" dirty="0"/>
          </a:p>
        </p:txBody>
      </p:sp>
      <p:sp>
        <p:nvSpPr>
          <p:cNvPr id="7" name="Shape 5"/>
          <p:cNvSpPr/>
          <p:nvPr/>
        </p:nvSpPr>
        <p:spPr>
          <a:xfrm>
            <a:off x="8028432" y="182880"/>
            <a:ext cx="694944" cy="694944"/>
          </a:xfrm>
          <a:prstGeom prst="ellipse">
            <a:avLst/>
          </a:prstGeom>
          <a:solidFill>
            <a:srgbClr val="2E8B57"/>
          </a:solidFill>
          <a:ln w="12700">
            <a:solidFill>
              <a:srgbClr val="4AAA6F"/>
            </a:solidFill>
            <a:prstDash val="solid"/>
          </a:ln>
        </p:spPr>
      </p:sp>
      <p:sp>
        <p:nvSpPr>
          <p:cNvPr id="8" name="Text 6"/>
          <p:cNvSpPr/>
          <p:nvPr/>
        </p:nvSpPr>
        <p:spPr>
          <a:xfrm>
            <a:off x="8028432" y="164592"/>
            <a:ext cx="694944" cy="694944"/>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9" name="Shape 7"/>
          <p:cNvSpPr/>
          <p:nvPr/>
        </p:nvSpPr>
        <p:spPr>
          <a:xfrm>
            <a:off x="457200" y="1152144"/>
            <a:ext cx="8229600" cy="475488"/>
          </a:xfrm>
          <a:prstGeom prst="roundRect">
            <a:avLst>
              <a:gd name="adj" fmla="val 15385"/>
            </a:avLst>
          </a:prstGeom>
          <a:solidFill>
            <a:srgbClr val="1A5C38"/>
          </a:solidFill>
          <a:ln w="12700">
            <a:solidFill>
              <a:srgbClr val="1A5C38"/>
            </a:solidFill>
            <a:prstDash val="solid"/>
          </a:ln>
        </p:spPr>
      </p:sp>
      <p:sp>
        <p:nvSpPr>
          <p:cNvPr id="10" name="Text 8"/>
          <p:cNvSpPr/>
          <p:nvPr/>
        </p:nvSpPr>
        <p:spPr>
          <a:xfrm>
            <a:off x="594360" y="1161288"/>
            <a:ext cx="7955280" cy="457200"/>
          </a:xfrm>
          <a:prstGeom prst="rect">
            <a:avLst/>
          </a:prstGeom>
          <a:noFill/>
          <a:ln/>
        </p:spPr>
        <p:txBody>
          <a:bodyPr wrap="square" rtlCol="0" anchor="ctr"/>
          <a:lstStyle/>
          <a:p>
            <a:pPr marL="0" indent="0">
              <a:buNone/>
            </a:pPr>
            <a:r>
              <a:rPr lang="en-US" sz="1150" b="1" i="1" dirty="0">
                <a:solidFill>
                  <a:srgbClr val="A8D5BC"/>
                </a:solidFill>
                <a:latin typeface="Cambria" pitchFamily="34" charset="0"/>
                <a:ea typeface="Cambria" pitchFamily="34" charset="-122"/>
                <a:cs typeface="Cambria" pitchFamily="34" charset="-120"/>
              </a:rPr>
              <a:t>“Generate only what is needed, when it is needed, using only the context that matters.”</a:t>
            </a:r>
            <a:endParaRPr lang="en-US" sz="1150" dirty="0"/>
          </a:p>
        </p:txBody>
      </p:sp>
      <p:sp>
        <p:nvSpPr>
          <p:cNvPr id="11" name="Text 9"/>
          <p:cNvSpPr/>
          <p:nvPr/>
        </p:nvSpPr>
        <p:spPr>
          <a:xfrm>
            <a:off x="457200" y="1773936"/>
            <a:ext cx="4160520" cy="274320"/>
          </a:xfrm>
          <a:prstGeom prst="rect">
            <a:avLst/>
          </a:prstGeom>
          <a:noFill/>
          <a:ln/>
        </p:spPr>
        <p:txBody>
          <a:bodyPr wrap="square" rtlCol="0" anchor="ctr"/>
          <a:lstStyle/>
          <a:p>
            <a:pPr marL="0" indent="0">
              <a:buNone/>
            </a:pPr>
            <a:r>
              <a:rPr lang="en-US" sz="1300" b="1" dirty="0">
                <a:solidFill>
                  <a:srgbClr val="1A5C38"/>
                </a:solidFill>
                <a:latin typeface="Arial" pitchFamily="34" charset="0"/>
                <a:ea typeface="Arial" pitchFamily="34" charset="-122"/>
                <a:cs typeface="Arial" pitchFamily="34" charset="-120"/>
              </a:rPr>
              <a:t>Actions Implemented</a:t>
            </a:r>
            <a:endParaRPr lang="en-US" sz="1300" dirty="0"/>
          </a:p>
        </p:txBody>
      </p:sp>
      <p:sp>
        <p:nvSpPr>
          <p:cNvPr id="12" name="Shape 10"/>
          <p:cNvSpPr/>
          <p:nvPr/>
        </p:nvSpPr>
        <p:spPr>
          <a:xfrm>
            <a:off x="457200" y="2121408"/>
            <a:ext cx="4160520" cy="621792"/>
          </a:xfrm>
          <a:prstGeom prst="roundRect">
            <a:avLst>
              <a:gd name="adj" fmla="val 13235"/>
            </a:avLst>
          </a:prstGeom>
          <a:solidFill>
            <a:srgbClr val="FFFFFF"/>
          </a:solidFill>
          <a:ln w="12700">
            <a:solidFill>
              <a:srgbClr val="A8D5BC"/>
            </a:solidFill>
            <a:prstDash val="solid"/>
          </a:ln>
          <a:effectLst>
            <a:outerShdw blurRad="76200" dist="25400" dir="2700000" algn="bl" rotWithShape="0">
              <a:srgbClr val="000000">
                <a:alpha val="7000"/>
              </a:srgbClr>
            </a:outerShdw>
          </a:effectLst>
        </p:spPr>
      </p:sp>
      <p:sp>
        <p:nvSpPr>
          <p:cNvPr id="13" name="Shape 11"/>
          <p:cNvSpPr/>
          <p:nvPr/>
        </p:nvSpPr>
        <p:spPr>
          <a:xfrm>
            <a:off x="585216" y="2286000"/>
            <a:ext cx="310896" cy="310896"/>
          </a:xfrm>
          <a:prstGeom prst="ellipse">
            <a:avLst/>
          </a:prstGeom>
          <a:solidFill>
            <a:srgbClr val="D4EDE0"/>
          </a:solidFill>
          <a:ln w="12700">
            <a:solidFill>
              <a:srgbClr val="D4EDE0"/>
            </a:solidFill>
            <a:prstDash val="solid"/>
          </a:ln>
        </p:spPr>
      </p:sp>
      <p:sp>
        <p:nvSpPr>
          <p:cNvPr id="14" name="Text 12"/>
          <p:cNvSpPr/>
          <p:nvPr/>
        </p:nvSpPr>
        <p:spPr>
          <a:xfrm>
            <a:off x="585216" y="2267712"/>
            <a:ext cx="310896" cy="310896"/>
          </a:xfrm>
          <a:prstGeom prst="rect">
            <a:avLst/>
          </a:prstGeom>
          <a:noFill/>
          <a:ln/>
        </p:spPr>
        <p:txBody>
          <a:bodyPr wrap="square" lIns="0" tIns="0" rIns="0" bIns="0" rtlCol="0" anchor="ctr"/>
          <a:lstStyle/>
          <a:p>
            <a:pPr marL="0" indent="0" algn="ctr">
              <a:buNone/>
            </a:pPr>
            <a:r>
              <a:rPr lang="en-US" sz="1200" dirty="0">
                <a:solidFill>
                  <a:srgbClr val="000000"/>
                </a:solidFill>
              </a:rPr>
              <a:t>🎯</a:t>
            </a:r>
            <a:endParaRPr lang="en-US" sz="1200" dirty="0"/>
          </a:p>
        </p:txBody>
      </p:sp>
      <p:sp>
        <p:nvSpPr>
          <p:cNvPr id="15" name="Text 13"/>
          <p:cNvSpPr/>
          <p:nvPr/>
        </p:nvSpPr>
        <p:spPr>
          <a:xfrm>
            <a:off x="1005840" y="2167128"/>
            <a:ext cx="3493008" cy="219456"/>
          </a:xfrm>
          <a:prstGeom prst="rect">
            <a:avLst/>
          </a:prstGeom>
          <a:noFill/>
          <a:ln/>
        </p:spPr>
        <p:txBody>
          <a:bodyPr wrap="square" rtlCol="0" anchor="ctr"/>
          <a:lstStyle/>
          <a:p>
            <a:pPr marL="0" indent="0">
              <a:buNone/>
            </a:pPr>
            <a:r>
              <a:rPr lang="en-US" sz="1050" b="1" dirty="0">
                <a:solidFill>
                  <a:srgbClr val="1A5C38"/>
                </a:solidFill>
                <a:latin typeface="Arial" pitchFamily="34" charset="0"/>
                <a:ea typeface="Arial" pitchFamily="34" charset="-122"/>
                <a:cs typeface="Arial" pitchFamily="34" charset="-120"/>
              </a:rPr>
              <a:t>Prompt Optimisation</a:t>
            </a:r>
            <a:endParaRPr lang="en-US" sz="1050" dirty="0"/>
          </a:p>
        </p:txBody>
      </p:sp>
      <p:sp>
        <p:nvSpPr>
          <p:cNvPr id="16" name="Text 14"/>
          <p:cNvSpPr/>
          <p:nvPr/>
        </p:nvSpPr>
        <p:spPr>
          <a:xfrm>
            <a:off x="1005840" y="2386584"/>
            <a:ext cx="3493008" cy="329184"/>
          </a:xfrm>
          <a:prstGeom prst="rect">
            <a:avLst/>
          </a:prstGeom>
          <a:noFill/>
          <a:ln/>
        </p:spPr>
        <p:txBody>
          <a:bodyPr wrap="square" rtlCol="0" anchor="ctr"/>
          <a:lstStyle/>
          <a:p>
            <a:pPr marL="0" indent="0">
              <a:buNone/>
            </a:pPr>
            <a:r>
              <a:rPr lang="en-US" sz="950" dirty="0">
                <a:solidFill>
                  <a:srgbClr val="4A5568"/>
                </a:solidFill>
                <a:latin typeface="Arial" pitchFamily="34" charset="0"/>
                <a:ea typeface="Arial" pitchFamily="34" charset="-122"/>
                <a:cs typeface="Arial" pitchFamily="34" charset="-120"/>
              </a:rPr>
              <a:t>Refined templates eliminate redundant instructions. Standardised prompts improve response quality with fewer tokens.</a:t>
            </a:r>
            <a:endParaRPr lang="en-US" sz="950" dirty="0"/>
          </a:p>
        </p:txBody>
      </p:sp>
      <p:sp>
        <p:nvSpPr>
          <p:cNvPr id="17" name="Shape 15"/>
          <p:cNvSpPr/>
          <p:nvPr/>
        </p:nvSpPr>
        <p:spPr>
          <a:xfrm>
            <a:off x="457200" y="2807208"/>
            <a:ext cx="4160520" cy="621792"/>
          </a:xfrm>
          <a:prstGeom prst="roundRect">
            <a:avLst>
              <a:gd name="adj" fmla="val 13235"/>
            </a:avLst>
          </a:prstGeom>
          <a:solidFill>
            <a:srgbClr val="FFFFFF"/>
          </a:solidFill>
          <a:ln w="12700">
            <a:solidFill>
              <a:srgbClr val="A8D5BC"/>
            </a:solidFill>
            <a:prstDash val="solid"/>
          </a:ln>
          <a:effectLst>
            <a:outerShdw blurRad="76200" dist="25400" dir="2700000" algn="bl" rotWithShape="0">
              <a:srgbClr val="000000">
                <a:alpha val="7000"/>
              </a:srgbClr>
            </a:outerShdw>
          </a:effectLst>
        </p:spPr>
      </p:sp>
      <p:sp>
        <p:nvSpPr>
          <p:cNvPr id="18" name="Shape 16"/>
          <p:cNvSpPr/>
          <p:nvPr/>
        </p:nvSpPr>
        <p:spPr>
          <a:xfrm>
            <a:off x="585216" y="2971800"/>
            <a:ext cx="310896" cy="310896"/>
          </a:xfrm>
          <a:prstGeom prst="ellipse">
            <a:avLst/>
          </a:prstGeom>
          <a:solidFill>
            <a:srgbClr val="D4EDE0"/>
          </a:solidFill>
          <a:ln w="12700">
            <a:solidFill>
              <a:srgbClr val="D4EDE0"/>
            </a:solidFill>
            <a:prstDash val="solid"/>
          </a:ln>
        </p:spPr>
      </p:sp>
      <p:sp>
        <p:nvSpPr>
          <p:cNvPr id="19" name="Text 17"/>
          <p:cNvSpPr/>
          <p:nvPr/>
        </p:nvSpPr>
        <p:spPr>
          <a:xfrm>
            <a:off x="585216" y="2953512"/>
            <a:ext cx="310896" cy="310896"/>
          </a:xfrm>
          <a:prstGeom prst="rect">
            <a:avLst/>
          </a:prstGeom>
          <a:noFill/>
          <a:ln/>
        </p:spPr>
        <p:txBody>
          <a:bodyPr wrap="square" lIns="0" tIns="0" rIns="0" bIns="0" rtlCol="0" anchor="ctr"/>
          <a:lstStyle/>
          <a:p>
            <a:pPr marL="0" indent="0" algn="ctr">
              <a:buNone/>
            </a:pPr>
            <a:r>
              <a:rPr lang="en-US" sz="1200" dirty="0">
                <a:solidFill>
                  <a:srgbClr val="000000"/>
                </a:solidFill>
              </a:rPr>
              <a:t>📦</a:t>
            </a:r>
            <a:endParaRPr lang="en-US" sz="1200" dirty="0"/>
          </a:p>
        </p:txBody>
      </p:sp>
      <p:sp>
        <p:nvSpPr>
          <p:cNvPr id="20" name="Text 18"/>
          <p:cNvSpPr/>
          <p:nvPr/>
        </p:nvSpPr>
        <p:spPr>
          <a:xfrm>
            <a:off x="1005840" y="2852928"/>
            <a:ext cx="3493008" cy="219456"/>
          </a:xfrm>
          <a:prstGeom prst="rect">
            <a:avLst/>
          </a:prstGeom>
          <a:noFill/>
          <a:ln/>
        </p:spPr>
        <p:txBody>
          <a:bodyPr wrap="square" rtlCol="0" anchor="ctr"/>
          <a:lstStyle/>
          <a:p>
            <a:pPr marL="0" indent="0">
              <a:buNone/>
            </a:pPr>
            <a:r>
              <a:rPr lang="en-US" sz="1050" b="1" dirty="0">
                <a:solidFill>
                  <a:srgbClr val="1A5C38"/>
                </a:solidFill>
                <a:latin typeface="Arial" pitchFamily="34" charset="0"/>
                <a:ea typeface="Arial" pitchFamily="34" charset="-122"/>
                <a:cs typeface="Arial" pitchFamily="34" charset="-120"/>
              </a:rPr>
              <a:t>Selective Context Delivery</a:t>
            </a:r>
            <a:endParaRPr lang="en-US" sz="1050" dirty="0"/>
          </a:p>
        </p:txBody>
      </p:sp>
      <p:sp>
        <p:nvSpPr>
          <p:cNvPr id="21" name="Text 19"/>
          <p:cNvSpPr/>
          <p:nvPr/>
        </p:nvSpPr>
        <p:spPr>
          <a:xfrm>
            <a:off x="1005840" y="3072384"/>
            <a:ext cx="3493008" cy="329184"/>
          </a:xfrm>
          <a:prstGeom prst="rect">
            <a:avLst/>
          </a:prstGeom>
          <a:noFill/>
          <a:ln/>
        </p:spPr>
        <p:txBody>
          <a:bodyPr wrap="square" rtlCol="0" anchor="ctr"/>
          <a:lstStyle/>
          <a:p>
            <a:pPr marL="0" indent="0">
              <a:buNone/>
            </a:pPr>
            <a:r>
              <a:rPr lang="en-US" sz="950" dirty="0">
                <a:solidFill>
                  <a:srgbClr val="4A5568"/>
                </a:solidFill>
                <a:latin typeface="Arial" pitchFamily="34" charset="0"/>
                <a:ea typeface="Arial" pitchFamily="34" charset="-122"/>
                <a:cs typeface="Arial" pitchFamily="34" charset="-120"/>
              </a:rPr>
              <a:t>Only relevant requirement content is sent to the AI. Unchanged information is never reprocessed.</a:t>
            </a:r>
            <a:endParaRPr lang="en-US" sz="950" dirty="0"/>
          </a:p>
        </p:txBody>
      </p:sp>
      <p:sp>
        <p:nvSpPr>
          <p:cNvPr id="22" name="Shape 20"/>
          <p:cNvSpPr/>
          <p:nvPr/>
        </p:nvSpPr>
        <p:spPr>
          <a:xfrm>
            <a:off x="457200" y="3493008"/>
            <a:ext cx="4160520" cy="621792"/>
          </a:xfrm>
          <a:prstGeom prst="roundRect">
            <a:avLst>
              <a:gd name="adj" fmla="val 13235"/>
            </a:avLst>
          </a:prstGeom>
          <a:solidFill>
            <a:srgbClr val="FFFFFF"/>
          </a:solidFill>
          <a:ln w="12700">
            <a:solidFill>
              <a:srgbClr val="A8D5BC"/>
            </a:solidFill>
            <a:prstDash val="solid"/>
          </a:ln>
          <a:effectLst>
            <a:outerShdw blurRad="76200" dist="25400" dir="2700000" algn="bl" rotWithShape="0">
              <a:srgbClr val="000000">
                <a:alpha val="7000"/>
              </a:srgbClr>
            </a:outerShdw>
          </a:effectLst>
        </p:spPr>
      </p:sp>
      <p:sp>
        <p:nvSpPr>
          <p:cNvPr id="23" name="Shape 21"/>
          <p:cNvSpPr/>
          <p:nvPr/>
        </p:nvSpPr>
        <p:spPr>
          <a:xfrm>
            <a:off x="585216" y="3657600"/>
            <a:ext cx="310896" cy="310896"/>
          </a:xfrm>
          <a:prstGeom prst="ellipse">
            <a:avLst/>
          </a:prstGeom>
          <a:solidFill>
            <a:srgbClr val="D4EDE0"/>
          </a:solidFill>
          <a:ln w="12700">
            <a:solidFill>
              <a:srgbClr val="D4EDE0"/>
            </a:solidFill>
            <a:prstDash val="solid"/>
          </a:ln>
        </p:spPr>
      </p:sp>
      <p:sp>
        <p:nvSpPr>
          <p:cNvPr id="24" name="Text 22"/>
          <p:cNvSpPr/>
          <p:nvPr/>
        </p:nvSpPr>
        <p:spPr>
          <a:xfrm>
            <a:off x="585216" y="3639312"/>
            <a:ext cx="310896" cy="310896"/>
          </a:xfrm>
          <a:prstGeom prst="rect">
            <a:avLst/>
          </a:prstGeom>
          <a:noFill/>
          <a:ln/>
        </p:spPr>
        <p:txBody>
          <a:bodyPr wrap="square" lIns="0" tIns="0" rIns="0" bIns="0" rtlCol="0" anchor="ctr"/>
          <a:lstStyle/>
          <a:p>
            <a:pPr marL="0" indent="0" algn="ctr">
              <a:buNone/>
            </a:pPr>
            <a:r>
              <a:rPr lang="en-US" sz="1200" dirty="0">
                <a:solidFill>
                  <a:srgbClr val="000000"/>
                </a:solidFill>
              </a:rPr>
              <a:t>♻️</a:t>
            </a:r>
            <a:endParaRPr lang="en-US" sz="1200" dirty="0"/>
          </a:p>
        </p:txBody>
      </p:sp>
      <p:sp>
        <p:nvSpPr>
          <p:cNvPr id="25" name="Text 23"/>
          <p:cNvSpPr/>
          <p:nvPr/>
        </p:nvSpPr>
        <p:spPr>
          <a:xfrm>
            <a:off x="1005840" y="3538728"/>
            <a:ext cx="3493008" cy="219456"/>
          </a:xfrm>
          <a:prstGeom prst="rect">
            <a:avLst/>
          </a:prstGeom>
          <a:noFill/>
          <a:ln/>
        </p:spPr>
        <p:txBody>
          <a:bodyPr wrap="square" rtlCol="0" anchor="ctr"/>
          <a:lstStyle/>
          <a:p>
            <a:pPr marL="0" indent="0">
              <a:buNone/>
            </a:pPr>
            <a:r>
              <a:rPr lang="en-US" sz="1050" b="1" dirty="0">
                <a:solidFill>
                  <a:srgbClr val="1A5C38"/>
                </a:solidFill>
                <a:latin typeface="Arial" pitchFamily="34" charset="0"/>
                <a:ea typeface="Arial" pitchFamily="34" charset="-122"/>
                <a:cs typeface="Arial" pitchFamily="34" charset="-120"/>
              </a:rPr>
              <a:t>Artifact Reuse &amp; Deduplication</a:t>
            </a:r>
            <a:endParaRPr lang="en-US" sz="1050" dirty="0"/>
          </a:p>
        </p:txBody>
      </p:sp>
      <p:sp>
        <p:nvSpPr>
          <p:cNvPr id="26" name="Text 24"/>
          <p:cNvSpPr/>
          <p:nvPr/>
        </p:nvSpPr>
        <p:spPr>
          <a:xfrm>
            <a:off x="1005840" y="3758184"/>
            <a:ext cx="3493008" cy="329184"/>
          </a:xfrm>
          <a:prstGeom prst="rect">
            <a:avLst/>
          </a:prstGeom>
          <a:noFill/>
          <a:ln/>
        </p:spPr>
        <p:txBody>
          <a:bodyPr wrap="square" rtlCol="0" anchor="ctr"/>
          <a:lstStyle/>
          <a:p>
            <a:pPr marL="0" indent="0">
              <a:buNone/>
            </a:pPr>
            <a:r>
              <a:rPr lang="en-US" sz="950" dirty="0">
                <a:solidFill>
                  <a:srgbClr val="4A5568"/>
                </a:solidFill>
                <a:latin typeface="Arial" pitchFamily="34" charset="0"/>
                <a:ea typeface="Arial" pitchFamily="34" charset="-122"/>
                <a:cs typeface="Arial" pitchFamily="34" charset="-120"/>
              </a:rPr>
              <a:t>SHA-256 fingerprinting prevents re-generating identical outputs. Previously generated artifacts are reused across sessions.</a:t>
            </a:r>
            <a:endParaRPr lang="en-US" sz="950" dirty="0"/>
          </a:p>
        </p:txBody>
      </p:sp>
      <p:sp>
        <p:nvSpPr>
          <p:cNvPr id="27" name="Shape 25"/>
          <p:cNvSpPr/>
          <p:nvPr/>
        </p:nvSpPr>
        <p:spPr>
          <a:xfrm>
            <a:off x="457200" y="4178808"/>
            <a:ext cx="4160520" cy="621792"/>
          </a:xfrm>
          <a:prstGeom prst="roundRect">
            <a:avLst>
              <a:gd name="adj" fmla="val 13235"/>
            </a:avLst>
          </a:prstGeom>
          <a:solidFill>
            <a:srgbClr val="FFFFFF"/>
          </a:solidFill>
          <a:ln w="12700">
            <a:solidFill>
              <a:srgbClr val="A8D5BC"/>
            </a:solidFill>
            <a:prstDash val="solid"/>
          </a:ln>
          <a:effectLst>
            <a:outerShdw blurRad="76200" dist="25400" dir="2700000" algn="bl" rotWithShape="0">
              <a:srgbClr val="000000">
                <a:alpha val="7000"/>
              </a:srgbClr>
            </a:outerShdw>
          </a:effectLst>
        </p:spPr>
      </p:sp>
      <p:sp>
        <p:nvSpPr>
          <p:cNvPr id="28" name="Shape 26"/>
          <p:cNvSpPr/>
          <p:nvPr/>
        </p:nvSpPr>
        <p:spPr>
          <a:xfrm>
            <a:off x="585216" y="4343400"/>
            <a:ext cx="310896" cy="310896"/>
          </a:xfrm>
          <a:prstGeom prst="ellipse">
            <a:avLst/>
          </a:prstGeom>
          <a:solidFill>
            <a:srgbClr val="D4EDE0"/>
          </a:solidFill>
          <a:ln w="12700">
            <a:solidFill>
              <a:srgbClr val="D4EDE0"/>
            </a:solidFill>
            <a:prstDash val="solid"/>
          </a:ln>
        </p:spPr>
      </p:sp>
      <p:sp>
        <p:nvSpPr>
          <p:cNvPr id="29" name="Text 27"/>
          <p:cNvSpPr/>
          <p:nvPr/>
        </p:nvSpPr>
        <p:spPr>
          <a:xfrm>
            <a:off x="585216" y="4325112"/>
            <a:ext cx="310896" cy="310896"/>
          </a:xfrm>
          <a:prstGeom prst="rect">
            <a:avLst/>
          </a:prstGeom>
          <a:noFill/>
          <a:ln/>
        </p:spPr>
        <p:txBody>
          <a:bodyPr wrap="square" lIns="0" tIns="0" rIns="0" bIns="0" rtlCol="0" anchor="ctr"/>
          <a:lstStyle/>
          <a:p>
            <a:pPr marL="0" indent="0" algn="ctr">
              <a:buNone/>
            </a:pPr>
            <a:r>
              <a:rPr lang="en-US" sz="1200" dirty="0">
                <a:solidFill>
                  <a:srgbClr val="000000"/>
                </a:solidFill>
              </a:rPr>
              <a:t>✅</a:t>
            </a:r>
            <a:endParaRPr lang="en-US" sz="1200" dirty="0"/>
          </a:p>
        </p:txBody>
      </p:sp>
      <p:sp>
        <p:nvSpPr>
          <p:cNvPr id="30" name="Text 28"/>
          <p:cNvSpPr/>
          <p:nvPr/>
        </p:nvSpPr>
        <p:spPr>
          <a:xfrm>
            <a:off x="1005840" y="4224528"/>
            <a:ext cx="3493008" cy="219456"/>
          </a:xfrm>
          <a:prstGeom prst="rect">
            <a:avLst/>
          </a:prstGeom>
          <a:noFill/>
          <a:ln/>
        </p:spPr>
        <p:txBody>
          <a:bodyPr wrap="square" rtlCol="0" anchor="ctr"/>
          <a:lstStyle/>
          <a:p>
            <a:pPr marL="0" indent="0">
              <a:buNone/>
            </a:pPr>
            <a:r>
              <a:rPr lang="en-US" sz="1050" b="1" dirty="0">
                <a:solidFill>
                  <a:srgbClr val="1A5C38"/>
                </a:solidFill>
                <a:latin typeface="Arial" pitchFamily="34" charset="0"/>
                <a:ea typeface="Arial" pitchFamily="34" charset="-122"/>
                <a:cs typeface="Arial" pitchFamily="34" charset="-120"/>
              </a:rPr>
              <a:t>Validation Gate Before Generation</a:t>
            </a:r>
            <a:endParaRPr lang="en-US" sz="1050" dirty="0"/>
          </a:p>
        </p:txBody>
      </p:sp>
      <p:sp>
        <p:nvSpPr>
          <p:cNvPr id="31" name="Text 29"/>
          <p:cNvSpPr/>
          <p:nvPr/>
        </p:nvSpPr>
        <p:spPr>
          <a:xfrm>
            <a:off x="1005840" y="4443984"/>
            <a:ext cx="3493008" cy="329184"/>
          </a:xfrm>
          <a:prstGeom prst="rect">
            <a:avLst/>
          </a:prstGeom>
          <a:noFill/>
          <a:ln/>
        </p:spPr>
        <p:txBody>
          <a:bodyPr wrap="square" rtlCol="0" anchor="ctr"/>
          <a:lstStyle/>
          <a:p>
            <a:pPr marL="0" indent="0">
              <a:buNone/>
            </a:pPr>
            <a:r>
              <a:rPr lang="en-US" sz="950" dirty="0">
                <a:solidFill>
                  <a:srgbClr val="4A5568"/>
                </a:solidFill>
                <a:latin typeface="Arial" pitchFamily="34" charset="0"/>
                <a:ea typeface="Arial" pitchFamily="34" charset="-122"/>
                <a:cs typeface="Arial" pitchFamily="34" charset="-120"/>
              </a:rPr>
              <a:t>Users must review and confirm requirements before AI runs, eliminating regeneration from incomplete inputs.</a:t>
            </a:r>
            <a:endParaRPr lang="en-US" sz="950" dirty="0"/>
          </a:p>
        </p:txBody>
      </p:sp>
      <p:sp>
        <p:nvSpPr>
          <p:cNvPr id="32" name="Text 30"/>
          <p:cNvSpPr/>
          <p:nvPr/>
        </p:nvSpPr>
        <p:spPr>
          <a:xfrm>
            <a:off x="4846320" y="1773936"/>
            <a:ext cx="3840480" cy="274320"/>
          </a:xfrm>
          <a:prstGeom prst="rect">
            <a:avLst/>
          </a:prstGeom>
          <a:noFill/>
          <a:ln/>
        </p:spPr>
        <p:txBody>
          <a:bodyPr wrap="square" rtlCol="0" anchor="ctr"/>
          <a:lstStyle/>
          <a:p>
            <a:pPr marL="0" indent="0">
              <a:buNone/>
            </a:pPr>
            <a:r>
              <a:rPr lang="en-US" sz="1300" b="1" dirty="0">
                <a:solidFill>
                  <a:srgbClr val="1A5C38"/>
                </a:solidFill>
                <a:latin typeface="Arial" pitchFamily="34" charset="0"/>
                <a:ea typeface="Arial" pitchFamily="34" charset="-122"/>
                <a:cs typeface="Arial" pitchFamily="34" charset="-120"/>
              </a:rPr>
              <a:t>Additional Controls</a:t>
            </a:r>
            <a:endParaRPr lang="en-US" sz="1300" dirty="0"/>
          </a:p>
        </p:txBody>
      </p:sp>
      <p:sp>
        <p:nvSpPr>
          <p:cNvPr id="33" name="Shape 31"/>
          <p:cNvSpPr/>
          <p:nvPr/>
        </p:nvSpPr>
        <p:spPr>
          <a:xfrm>
            <a:off x="4846320" y="2121408"/>
            <a:ext cx="3840480" cy="621792"/>
          </a:xfrm>
          <a:prstGeom prst="roundRect">
            <a:avLst>
              <a:gd name="adj" fmla="val 13235"/>
            </a:avLst>
          </a:prstGeom>
          <a:solidFill>
            <a:srgbClr val="FFFFFF"/>
          </a:solidFill>
          <a:ln w="12700">
            <a:solidFill>
              <a:srgbClr val="A8D5BC"/>
            </a:solidFill>
            <a:prstDash val="solid"/>
          </a:ln>
          <a:effectLst>
            <a:outerShdw blurRad="76200" dist="25400" dir="2700000" algn="bl" rotWithShape="0">
              <a:srgbClr val="000000">
                <a:alpha val="7000"/>
              </a:srgbClr>
            </a:outerShdw>
          </a:effectLst>
        </p:spPr>
      </p:sp>
      <p:sp>
        <p:nvSpPr>
          <p:cNvPr id="34" name="Shape 32"/>
          <p:cNvSpPr/>
          <p:nvPr/>
        </p:nvSpPr>
        <p:spPr>
          <a:xfrm>
            <a:off x="4974336" y="2286000"/>
            <a:ext cx="310896" cy="310896"/>
          </a:xfrm>
          <a:prstGeom prst="ellipse">
            <a:avLst/>
          </a:prstGeom>
          <a:solidFill>
            <a:srgbClr val="D4EDE0"/>
          </a:solidFill>
          <a:ln w="12700">
            <a:solidFill>
              <a:srgbClr val="D4EDE0"/>
            </a:solidFill>
            <a:prstDash val="solid"/>
          </a:ln>
        </p:spPr>
      </p:sp>
      <p:sp>
        <p:nvSpPr>
          <p:cNvPr id="35" name="Text 33"/>
          <p:cNvSpPr/>
          <p:nvPr/>
        </p:nvSpPr>
        <p:spPr>
          <a:xfrm>
            <a:off x="4974336" y="2267712"/>
            <a:ext cx="310896" cy="310896"/>
          </a:xfrm>
          <a:prstGeom prst="rect">
            <a:avLst/>
          </a:prstGeom>
          <a:noFill/>
          <a:ln/>
        </p:spPr>
        <p:txBody>
          <a:bodyPr wrap="square" lIns="0" tIns="0" rIns="0" bIns="0" rtlCol="0" anchor="ctr"/>
          <a:lstStyle/>
          <a:p>
            <a:pPr marL="0" indent="0" algn="ctr">
              <a:buNone/>
            </a:pPr>
            <a:r>
              <a:rPr lang="en-US" sz="1200" dirty="0">
                <a:solidFill>
                  <a:srgbClr val="000000"/>
                </a:solidFill>
              </a:rPr>
              <a:t>🗂️</a:t>
            </a:r>
            <a:endParaRPr lang="en-US" sz="1200" dirty="0"/>
          </a:p>
        </p:txBody>
      </p:sp>
      <p:sp>
        <p:nvSpPr>
          <p:cNvPr id="36" name="Text 34"/>
          <p:cNvSpPr/>
          <p:nvPr/>
        </p:nvSpPr>
        <p:spPr>
          <a:xfrm>
            <a:off x="5394960" y="2167128"/>
            <a:ext cx="3163824" cy="219456"/>
          </a:xfrm>
          <a:prstGeom prst="rect">
            <a:avLst/>
          </a:prstGeom>
          <a:noFill/>
          <a:ln/>
        </p:spPr>
        <p:txBody>
          <a:bodyPr wrap="square" rtlCol="0" anchor="ctr"/>
          <a:lstStyle/>
          <a:p>
            <a:pPr marL="0" indent="0">
              <a:buNone/>
            </a:pPr>
            <a:r>
              <a:rPr lang="en-US" sz="1050" b="1" dirty="0">
                <a:solidFill>
                  <a:srgbClr val="1A5C38"/>
                </a:solidFill>
                <a:latin typeface="Arial" pitchFamily="34" charset="0"/>
                <a:ea typeface="Arial" pitchFamily="34" charset="-122"/>
                <a:cs typeface="Arial" pitchFamily="34" charset="-120"/>
              </a:rPr>
              <a:t>Structured Document Parsing</a:t>
            </a:r>
            <a:endParaRPr lang="en-US" sz="1050" dirty="0"/>
          </a:p>
        </p:txBody>
      </p:sp>
      <p:sp>
        <p:nvSpPr>
          <p:cNvPr id="37" name="Text 35"/>
          <p:cNvSpPr/>
          <p:nvPr/>
        </p:nvSpPr>
        <p:spPr>
          <a:xfrm>
            <a:off x="5394960" y="2386584"/>
            <a:ext cx="3163824" cy="329184"/>
          </a:xfrm>
          <a:prstGeom prst="rect">
            <a:avLst/>
          </a:prstGeom>
          <a:noFill/>
          <a:ln/>
        </p:spPr>
        <p:txBody>
          <a:bodyPr wrap="square" rtlCol="0" anchor="ctr"/>
          <a:lstStyle/>
          <a:p>
            <a:pPr marL="0" indent="0">
              <a:buNone/>
            </a:pPr>
            <a:r>
              <a:rPr lang="en-US" sz="950" dirty="0">
                <a:solidFill>
                  <a:srgbClr val="4A5568"/>
                </a:solidFill>
                <a:latin typeface="Arial" pitchFamily="34" charset="0"/>
                <a:ea typeface="Arial" pitchFamily="34" charset="-122"/>
                <a:cs typeface="Arial" pitchFamily="34" charset="-120"/>
              </a:rPr>
              <a:t>Tables, metadata, and document structure preserved during parsing — reducing AI effort to reconstruct context.</a:t>
            </a:r>
            <a:endParaRPr lang="en-US" sz="950" dirty="0"/>
          </a:p>
        </p:txBody>
      </p:sp>
      <p:sp>
        <p:nvSpPr>
          <p:cNvPr id="38" name="Shape 36"/>
          <p:cNvSpPr/>
          <p:nvPr/>
        </p:nvSpPr>
        <p:spPr>
          <a:xfrm>
            <a:off x="4846320" y="2807208"/>
            <a:ext cx="3840480" cy="621792"/>
          </a:xfrm>
          <a:prstGeom prst="roundRect">
            <a:avLst>
              <a:gd name="adj" fmla="val 13235"/>
            </a:avLst>
          </a:prstGeom>
          <a:solidFill>
            <a:srgbClr val="FFFFFF"/>
          </a:solidFill>
          <a:ln w="12700">
            <a:solidFill>
              <a:srgbClr val="A8D5BC"/>
            </a:solidFill>
            <a:prstDash val="solid"/>
          </a:ln>
          <a:effectLst>
            <a:outerShdw blurRad="76200" dist="25400" dir="2700000" algn="bl" rotWithShape="0">
              <a:srgbClr val="000000">
                <a:alpha val="7000"/>
              </a:srgbClr>
            </a:outerShdw>
          </a:effectLst>
        </p:spPr>
      </p:sp>
      <p:sp>
        <p:nvSpPr>
          <p:cNvPr id="39" name="Shape 37"/>
          <p:cNvSpPr/>
          <p:nvPr/>
        </p:nvSpPr>
        <p:spPr>
          <a:xfrm>
            <a:off x="4974336" y="2971800"/>
            <a:ext cx="310896" cy="310896"/>
          </a:xfrm>
          <a:prstGeom prst="ellipse">
            <a:avLst/>
          </a:prstGeom>
          <a:solidFill>
            <a:srgbClr val="D4EDE0"/>
          </a:solidFill>
          <a:ln w="12700">
            <a:solidFill>
              <a:srgbClr val="D4EDE0"/>
            </a:solidFill>
            <a:prstDash val="solid"/>
          </a:ln>
        </p:spPr>
      </p:sp>
      <p:sp>
        <p:nvSpPr>
          <p:cNvPr id="40" name="Text 38"/>
          <p:cNvSpPr/>
          <p:nvPr/>
        </p:nvSpPr>
        <p:spPr>
          <a:xfrm>
            <a:off x="4974336" y="2953512"/>
            <a:ext cx="310896" cy="310896"/>
          </a:xfrm>
          <a:prstGeom prst="rect">
            <a:avLst/>
          </a:prstGeom>
          <a:noFill/>
          <a:ln/>
        </p:spPr>
        <p:txBody>
          <a:bodyPr wrap="square" lIns="0" tIns="0" rIns="0" bIns="0" rtlCol="0" anchor="ctr"/>
          <a:lstStyle/>
          <a:p>
            <a:pPr marL="0" indent="0" algn="ctr">
              <a:buNone/>
            </a:pPr>
            <a:r>
              <a:rPr lang="en-US" sz="1200" dirty="0">
                <a:solidFill>
                  <a:srgbClr val="000000"/>
                </a:solidFill>
              </a:rPr>
              <a:t>🎛️</a:t>
            </a:r>
            <a:endParaRPr lang="en-US" sz="1200" dirty="0"/>
          </a:p>
        </p:txBody>
      </p:sp>
      <p:sp>
        <p:nvSpPr>
          <p:cNvPr id="41" name="Text 39"/>
          <p:cNvSpPr/>
          <p:nvPr/>
        </p:nvSpPr>
        <p:spPr>
          <a:xfrm>
            <a:off x="5394960" y="2852928"/>
            <a:ext cx="3163824" cy="219456"/>
          </a:xfrm>
          <a:prstGeom prst="rect">
            <a:avLst/>
          </a:prstGeom>
          <a:noFill/>
          <a:ln/>
        </p:spPr>
        <p:txBody>
          <a:bodyPr wrap="square" rtlCol="0" anchor="ctr"/>
          <a:lstStyle/>
          <a:p>
            <a:pPr marL="0" indent="0">
              <a:buNone/>
            </a:pPr>
            <a:r>
              <a:rPr lang="en-US" sz="1050" b="1" dirty="0">
                <a:solidFill>
                  <a:srgbClr val="1A5C38"/>
                </a:solidFill>
                <a:latin typeface="Arial" pitchFamily="34" charset="0"/>
                <a:ea typeface="Arial" pitchFamily="34" charset="-122"/>
                <a:cs typeface="Arial" pitchFamily="34" charset="-120"/>
              </a:rPr>
              <a:t>Targeted Output Generation</a:t>
            </a:r>
            <a:endParaRPr lang="en-US" sz="1050" dirty="0"/>
          </a:p>
        </p:txBody>
      </p:sp>
      <p:sp>
        <p:nvSpPr>
          <p:cNvPr id="42" name="Text 40"/>
          <p:cNvSpPr/>
          <p:nvPr/>
        </p:nvSpPr>
        <p:spPr>
          <a:xfrm>
            <a:off x="5394960" y="3072384"/>
            <a:ext cx="3163824" cy="329184"/>
          </a:xfrm>
          <a:prstGeom prst="rect">
            <a:avLst/>
          </a:prstGeom>
          <a:noFill/>
          <a:ln/>
        </p:spPr>
        <p:txBody>
          <a:bodyPr wrap="square" rtlCol="0" anchor="ctr"/>
          <a:lstStyle/>
          <a:p>
            <a:pPr marL="0" indent="0">
              <a:buNone/>
            </a:pPr>
            <a:r>
              <a:rPr lang="en-US" sz="950" dirty="0">
                <a:solidFill>
                  <a:srgbClr val="4A5568"/>
                </a:solidFill>
                <a:latin typeface="Arial" pitchFamily="34" charset="0"/>
                <a:ea typeface="Arial" pitchFamily="34" charset="-122"/>
                <a:cs typeface="Arial" pitchFamily="34" charset="-120"/>
              </a:rPr>
              <a:t>Users request only the artifacts they need (scenarios, test cases, Gherkin) — not all outputs by default.</a:t>
            </a:r>
            <a:endParaRPr lang="en-US" sz="950" dirty="0"/>
          </a:p>
        </p:txBody>
      </p:sp>
      <p:sp>
        <p:nvSpPr>
          <p:cNvPr id="43" name="Shape 41"/>
          <p:cNvSpPr/>
          <p:nvPr/>
        </p:nvSpPr>
        <p:spPr>
          <a:xfrm>
            <a:off x="4846320" y="3493008"/>
            <a:ext cx="3840480" cy="621792"/>
          </a:xfrm>
          <a:prstGeom prst="roundRect">
            <a:avLst>
              <a:gd name="adj" fmla="val 13235"/>
            </a:avLst>
          </a:prstGeom>
          <a:solidFill>
            <a:srgbClr val="FFFFFF"/>
          </a:solidFill>
          <a:ln w="12700">
            <a:solidFill>
              <a:srgbClr val="A8D5BC"/>
            </a:solidFill>
            <a:prstDash val="solid"/>
          </a:ln>
          <a:effectLst>
            <a:outerShdw blurRad="76200" dist="25400" dir="2700000" algn="bl" rotWithShape="0">
              <a:srgbClr val="000000">
                <a:alpha val="7000"/>
              </a:srgbClr>
            </a:outerShdw>
          </a:effectLst>
        </p:spPr>
      </p:sp>
      <p:sp>
        <p:nvSpPr>
          <p:cNvPr id="44" name="Shape 42"/>
          <p:cNvSpPr/>
          <p:nvPr/>
        </p:nvSpPr>
        <p:spPr>
          <a:xfrm>
            <a:off x="4974336" y="3657600"/>
            <a:ext cx="310896" cy="310896"/>
          </a:xfrm>
          <a:prstGeom prst="ellipse">
            <a:avLst/>
          </a:prstGeom>
          <a:solidFill>
            <a:srgbClr val="D4EDE0"/>
          </a:solidFill>
          <a:ln w="12700">
            <a:solidFill>
              <a:srgbClr val="D4EDE0"/>
            </a:solidFill>
            <a:prstDash val="solid"/>
          </a:ln>
        </p:spPr>
      </p:sp>
      <p:sp>
        <p:nvSpPr>
          <p:cNvPr id="45" name="Text 43"/>
          <p:cNvSpPr/>
          <p:nvPr/>
        </p:nvSpPr>
        <p:spPr>
          <a:xfrm>
            <a:off x="4974336" y="3639312"/>
            <a:ext cx="310896" cy="310896"/>
          </a:xfrm>
          <a:prstGeom prst="rect">
            <a:avLst/>
          </a:prstGeom>
          <a:noFill/>
          <a:ln/>
        </p:spPr>
        <p:txBody>
          <a:bodyPr wrap="square" lIns="0" tIns="0" rIns="0" bIns="0" rtlCol="0" anchor="ctr"/>
          <a:lstStyle/>
          <a:p>
            <a:pPr marL="0" indent="0" algn="ctr">
              <a:buNone/>
            </a:pPr>
            <a:r>
              <a:rPr lang="en-US" sz="1200" dirty="0">
                <a:solidFill>
                  <a:srgbClr val="000000"/>
                </a:solidFill>
              </a:rPr>
              <a:t>🔄</a:t>
            </a:r>
            <a:endParaRPr lang="en-US" sz="1200" dirty="0"/>
          </a:p>
        </p:txBody>
      </p:sp>
      <p:sp>
        <p:nvSpPr>
          <p:cNvPr id="46" name="Text 44"/>
          <p:cNvSpPr/>
          <p:nvPr/>
        </p:nvSpPr>
        <p:spPr>
          <a:xfrm>
            <a:off x="5394960" y="3538728"/>
            <a:ext cx="3163824" cy="219456"/>
          </a:xfrm>
          <a:prstGeom prst="rect">
            <a:avLst/>
          </a:prstGeom>
          <a:noFill/>
          <a:ln/>
        </p:spPr>
        <p:txBody>
          <a:bodyPr wrap="square" rtlCol="0" anchor="ctr"/>
          <a:lstStyle/>
          <a:p>
            <a:pPr marL="0" indent="0">
              <a:buNone/>
            </a:pPr>
            <a:r>
              <a:rPr lang="en-US" sz="1050" b="1" dirty="0">
                <a:solidFill>
                  <a:srgbClr val="1A5C38"/>
                </a:solidFill>
                <a:latin typeface="Arial" pitchFamily="34" charset="0"/>
                <a:ea typeface="Arial" pitchFamily="34" charset="-122"/>
                <a:cs typeface="Arial" pitchFamily="34" charset="-120"/>
              </a:rPr>
              <a:t>Session Isolation</a:t>
            </a:r>
            <a:endParaRPr lang="en-US" sz="1050" dirty="0"/>
          </a:p>
        </p:txBody>
      </p:sp>
      <p:sp>
        <p:nvSpPr>
          <p:cNvPr id="47" name="Text 45"/>
          <p:cNvSpPr/>
          <p:nvPr/>
        </p:nvSpPr>
        <p:spPr>
          <a:xfrm>
            <a:off x="5394960" y="3758184"/>
            <a:ext cx="3163824" cy="329184"/>
          </a:xfrm>
          <a:prstGeom prst="rect">
            <a:avLst/>
          </a:prstGeom>
          <a:noFill/>
          <a:ln/>
        </p:spPr>
        <p:txBody>
          <a:bodyPr wrap="square" rtlCol="0" anchor="ctr"/>
          <a:lstStyle/>
          <a:p>
            <a:pPr marL="0" indent="0">
              <a:buNone/>
            </a:pPr>
            <a:r>
              <a:rPr lang="en-US" sz="950" dirty="0">
                <a:solidFill>
                  <a:srgbClr val="4A5568"/>
                </a:solidFill>
                <a:latin typeface="Arial" pitchFamily="34" charset="0"/>
                <a:ea typeface="Arial" pitchFamily="34" charset="-122"/>
                <a:cs typeface="Arial" pitchFamily="34" charset="-120"/>
              </a:rPr>
              <a:t>Each generation cycle runs with a clean, isolated context. No excessive carry-over between sessions.</a:t>
            </a:r>
            <a:endParaRPr lang="en-US" sz="950" dirty="0"/>
          </a:p>
        </p:txBody>
      </p:sp>
      <p:sp>
        <p:nvSpPr>
          <p:cNvPr id="48" name="Shape 46"/>
          <p:cNvSpPr/>
          <p:nvPr/>
        </p:nvSpPr>
        <p:spPr>
          <a:xfrm>
            <a:off x="4846320" y="4197096"/>
            <a:ext cx="3840480" cy="804672"/>
          </a:xfrm>
          <a:prstGeom prst="roundRect">
            <a:avLst>
              <a:gd name="adj" fmla="val 11364"/>
            </a:avLst>
          </a:prstGeom>
          <a:solidFill>
            <a:srgbClr val="1A5C38"/>
          </a:solidFill>
          <a:ln w="12700">
            <a:solidFill>
              <a:srgbClr val="1A5C38"/>
            </a:solidFill>
            <a:prstDash val="solid"/>
          </a:ln>
        </p:spPr>
      </p:sp>
      <p:sp>
        <p:nvSpPr>
          <p:cNvPr id="49" name="Text 47"/>
          <p:cNvSpPr/>
          <p:nvPr/>
        </p:nvSpPr>
        <p:spPr>
          <a:xfrm>
            <a:off x="4846320" y="4224528"/>
            <a:ext cx="3840480" cy="237744"/>
          </a:xfrm>
          <a:prstGeom prst="rect">
            <a:avLst/>
          </a:prstGeom>
          <a:noFill/>
          <a:ln/>
        </p:spPr>
        <p:txBody>
          <a:bodyPr wrap="square" rtlCol="0" anchor="ctr"/>
          <a:lstStyle/>
          <a:p>
            <a:pPr marL="0" indent="0" algn="ctr">
              <a:buNone/>
            </a:pPr>
            <a:r>
              <a:rPr lang="en-US" sz="1100" b="1" dirty="0">
                <a:solidFill>
                  <a:srgbClr val="A8D5BC"/>
                </a:solidFill>
                <a:latin typeface="Arial" pitchFamily="34" charset="0"/>
                <a:ea typeface="Arial" pitchFamily="34" charset="-122"/>
                <a:cs typeface="Arial" pitchFamily="34" charset="-120"/>
              </a:rPr>
              <a:t>Benefits</a:t>
            </a:r>
            <a:endParaRPr lang="en-US" sz="1100" dirty="0"/>
          </a:p>
        </p:txBody>
      </p:sp>
      <p:sp>
        <p:nvSpPr>
          <p:cNvPr id="50" name="Text 48"/>
          <p:cNvSpPr/>
          <p:nvPr/>
        </p:nvSpPr>
        <p:spPr>
          <a:xfrm>
            <a:off x="4919472" y="4480560"/>
            <a:ext cx="3694176" cy="182880"/>
          </a:xfrm>
          <a:prstGeom prst="rect">
            <a:avLst/>
          </a:prstGeom>
          <a:noFill/>
          <a:ln/>
        </p:spPr>
        <p:txBody>
          <a:bodyPr wrap="square" rtlCol="0" anchor="ctr"/>
          <a:lstStyle/>
          <a:p>
            <a:pPr marL="0" indent="0" algn="ctr">
              <a:buNone/>
            </a:pPr>
            <a:r>
              <a:rPr lang="en-US" sz="950" dirty="0">
                <a:solidFill>
                  <a:srgbClr val="A8D5BC"/>
                </a:solidFill>
                <a:latin typeface="Arial" pitchFamily="34" charset="0"/>
                <a:ea typeface="Arial" pitchFamily="34" charset="-122"/>
                <a:cs typeface="Arial" pitchFamily="34" charset="-120"/>
              </a:rPr>
              <a:t>↓ Token consumption    ↑ App performance</a:t>
            </a:r>
            <a:endParaRPr lang="en-US" sz="950" dirty="0"/>
          </a:p>
        </p:txBody>
      </p:sp>
      <p:sp>
        <p:nvSpPr>
          <p:cNvPr id="51" name="Text 49"/>
          <p:cNvSpPr/>
          <p:nvPr/>
        </p:nvSpPr>
        <p:spPr>
          <a:xfrm>
            <a:off x="4919472" y="4654296"/>
            <a:ext cx="3694176" cy="182880"/>
          </a:xfrm>
          <a:prstGeom prst="rect">
            <a:avLst/>
          </a:prstGeom>
          <a:noFill/>
          <a:ln/>
        </p:spPr>
        <p:txBody>
          <a:bodyPr wrap="square" rtlCol="0" anchor="ctr"/>
          <a:lstStyle/>
          <a:p>
            <a:pPr marL="0" indent="0" algn="ctr">
              <a:buNone/>
            </a:pPr>
            <a:r>
              <a:rPr lang="en-US" sz="950" dirty="0">
                <a:solidFill>
                  <a:srgbClr val="A8D5BC"/>
                </a:solidFill>
                <a:latin typeface="Arial" pitchFamily="34" charset="0"/>
                <a:ea typeface="Arial" pitchFamily="34" charset="-122"/>
                <a:cs typeface="Arial" pitchFamily="34" charset="-120"/>
              </a:rPr>
              <a:t>↓ Compute overhead    ↑ Response speed</a:t>
            </a:r>
            <a:endParaRPr lang="en-US" sz="950" dirty="0"/>
          </a:p>
        </p:txBody>
      </p:sp>
      <p:sp>
        <p:nvSpPr>
          <p:cNvPr id="52" name="Text 50"/>
          <p:cNvSpPr/>
          <p:nvPr/>
        </p:nvSpPr>
        <p:spPr>
          <a:xfrm>
            <a:off x="4919472" y="4828032"/>
            <a:ext cx="3694176" cy="182880"/>
          </a:xfrm>
          <a:prstGeom prst="rect">
            <a:avLst/>
          </a:prstGeom>
          <a:noFill/>
          <a:ln/>
        </p:spPr>
        <p:txBody>
          <a:bodyPr wrap="square" rtlCol="0" anchor="ctr"/>
          <a:lstStyle/>
          <a:p>
            <a:pPr marL="0" indent="0" algn="ctr">
              <a:buNone/>
            </a:pPr>
            <a:r>
              <a:rPr lang="en-US" sz="950" dirty="0">
                <a:solidFill>
                  <a:srgbClr val="A8D5BC"/>
                </a:solidFill>
                <a:latin typeface="Arial" pitchFamily="34" charset="0"/>
                <a:ea typeface="Arial" pitchFamily="34" charset="-122"/>
                <a:cs typeface="Arial" pitchFamily="34" charset="-120"/>
              </a:rPr>
              <a:t>↓ Cost per generation    ↑ Responsible AI use</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5943600" y="-731520"/>
            <a:ext cx="4572000" cy="4572000"/>
          </a:xfrm>
          <a:prstGeom prst="ellipse">
            <a:avLst/>
          </a:prstGeom>
          <a:solidFill>
            <a:srgbClr val="028090">
              <a:alpha val="12000"/>
            </a:srgbClr>
          </a:solidFill>
          <a:ln w="12700">
            <a:solidFill>
              <a:srgbClr val="028090">
                <a:alpha val="12000"/>
              </a:srgbClr>
            </a:solidFill>
            <a:prstDash val="solid"/>
          </a:ln>
        </p:spPr>
      </p:sp>
      <p:sp>
        <p:nvSpPr>
          <p:cNvPr id="3" name="Shape 1"/>
          <p:cNvSpPr/>
          <p:nvPr/>
        </p:nvSpPr>
        <p:spPr>
          <a:xfrm>
            <a:off x="-1371600" y="2286000"/>
            <a:ext cx="3657600" cy="3657600"/>
          </a:xfrm>
          <a:prstGeom prst="ellipse">
            <a:avLst/>
          </a:prstGeom>
          <a:solidFill>
            <a:srgbClr val="1B2A4A">
              <a:alpha val="60000"/>
            </a:srgbClr>
          </a:solidFill>
          <a:ln w="12700">
            <a:solidFill>
              <a:srgbClr val="1B2A4A">
                <a:alpha val="60000"/>
              </a:srgbClr>
            </a:solidFill>
            <a:prstDash val="solid"/>
          </a:ln>
        </p:spPr>
      </p:sp>
      <p:sp>
        <p:nvSpPr>
          <p:cNvPr id="4" name="Shape 2"/>
          <p:cNvSpPr/>
          <p:nvPr/>
        </p:nvSpPr>
        <p:spPr>
          <a:xfrm>
            <a:off x="2971800" y="731520"/>
            <a:ext cx="1371600" cy="256032"/>
          </a:xfrm>
          <a:prstGeom prst="roundRect">
            <a:avLst>
              <a:gd name="adj" fmla="val 21429"/>
            </a:avLst>
          </a:prstGeom>
          <a:solidFill>
            <a:srgbClr val="028090"/>
          </a:solidFill>
          <a:ln w="12700">
            <a:solidFill>
              <a:srgbClr val="028090"/>
            </a:solidFill>
            <a:prstDash val="solid"/>
          </a:ln>
        </p:spPr>
      </p:sp>
      <p:sp>
        <p:nvSpPr>
          <p:cNvPr id="5" name="Text 3"/>
          <p:cNvSpPr/>
          <p:nvPr/>
        </p:nvSpPr>
        <p:spPr>
          <a:xfrm>
            <a:off x="2971800" y="731520"/>
            <a:ext cx="1371600" cy="256032"/>
          </a:xfrm>
          <a:prstGeom prst="rect">
            <a:avLst/>
          </a:prstGeom>
          <a:noFill/>
          <a:ln/>
        </p:spPr>
        <p:txBody>
          <a:bodyPr wrap="square" lIns="0" tIns="0" rIns="0" bIns="0" rtlCol="0" anchor="ctr"/>
          <a:lstStyle/>
          <a:p>
            <a:pPr marL="0" indent="0" algn="ctr">
              <a:buNone/>
            </a:pPr>
            <a:r>
              <a:rPr lang="en-US" sz="800" b="1" kern="0" spc="150" dirty="0">
                <a:solidFill>
                  <a:srgbClr val="FFFFFF"/>
                </a:solidFill>
                <a:latin typeface="Arial" pitchFamily="34" charset="0"/>
                <a:ea typeface="Arial" pitchFamily="34" charset="-122"/>
                <a:cs typeface="Arial" pitchFamily="34" charset="-120"/>
              </a:rPr>
              <a:t>SUMMARY</a:t>
            </a:r>
            <a:endParaRPr lang="en-US" sz="800" dirty="0"/>
          </a:p>
        </p:txBody>
      </p:sp>
      <p:sp>
        <p:nvSpPr>
          <p:cNvPr id="6" name="Text 4"/>
          <p:cNvSpPr/>
          <p:nvPr/>
        </p:nvSpPr>
        <p:spPr>
          <a:xfrm>
            <a:off x="457200" y="1097280"/>
            <a:ext cx="8229600" cy="777240"/>
          </a:xfrm>
          <a:prstGeom prst="rect">
            <a:avLst/>
          </a:prstGeom>
          <a:noFill/>
          <a:ln/>
        </p:spPr>
        <p:txBody>
          <a:bodyPr wrap="square" rtlCol="0" anchor="ctr"/>
          <a:lstStyle/>
          <a:p>
            <a:pPr marL="0" indent="0" algn="ctr">
              <a:buNone/>
            </a:pPr>
            <a:r>
              <a:rPr lang="en-US" sz="4400" b="1" dirty="0">
                <a:solidFill>
                  <a:srgbClr val="FFFFFF"/>
                </a:solidFill>
                <a:latin typeface="Cambria" pitchFamily="34" charset="0"/>
                <a:ea typeface="Cambria" pitchFamily="34" charset="-122"/>
                <a:cs typeface="Cambria" pitchFamily="34" charset="-120"/>
              </a:rPr>
              <a:t>TraceLM is ready.</a:t>
            </a:r>
            <a:endParaRPr lang="en-US" sz="4400" dirty="0"/>
          </a:p>
        </p:txBody>
      </p:sp>
      <p:sp>
        <p:nvSpPr>
          <p:cNvPr id="7" name="Text 5"/>
          <p:cNvSpPr/>
          <p:nvPr/>
        </p:nvSpPr>
        <p:spPr>
          <a:xfrm>
            <a:off x="457200" y="1874520"/>
            <a:ext cx="8229600" cy="457200"/>
          </a:xfrm>
          <a:prstGeom prst="rect">
            <a:avLst/>
          </a:prstGeom>
          <a:noFill/>
          <a:ln/>
        </p:spPr>
        <p:txBody>
          <a:bodyPr wrap="square" rtlCol="0" anchor="ctr"/>
          <a:lstStyle/>
          <a:p>
            <a:pPr marL="0" indent="0" algn="ctr">
              <a:buNone/>
            </a:pPr>
            <a:r>
              <a:rPr lang="en-US" sz="1700" i="1" dirty="0">
                <a:solidFill>
                  <a:srgbClr val="02A8BC"/>
                </a:solidFill>
                <a:latin typeface="Arial" pitchFamily="34" charset="0"/>
                <a:ea typeface="Arial" pitchFamily="34" charset="-122"/>
                <a:cs typeface="Arial" pitchFamily="34" charset="-120"/>
              </a:rPr>
              <a:t>Requirements → AI Enhancement → Test Cases → Xray</a:t>
            </a:r>
            <a:endParaRPr lang="en-US" sz="1700" dirty="0"/>
          </a:p>
        </p:txBody>
      </p:sp>
      <p:sp>
        <p:nvSpPr>
          <p:cNvPr id="8" name="Shape 6"/>
          <p:cNvSpPr/>
          <p:nvPr/>
        </p:nvSpPr>
        <p:spPr>
          <a:xfrm>
            <a:off x="2743200" y="2450592"/>
            <a:ext cx="3657600" cy="0"/>
          </a:xfrm>
          <a:prstGeom prst="line">
            <a:avLst/>
          </a:prstGeom>
          <a:noFill/>
          <a:ln w="19050">
            <a:solidFill>
              <a:srgbClr val="028090"/>
            </a:solidFill>
            <a:prstDash val="solid"/>
          </a:ln>
        </p:spPr>
      </p:sp>
      <p:sp>
        <p:nvSpPr>
          <p:cNvPr id="9" name="Text 7"/>
          <p:cNvSpPr/>
          <p:nvPr/>
        </p:nvSpPr>
        <p:spPr>
          <a:xfrm>
            <a:off x="1371600" y="2670048"/>
            <a:ext cx="6400800" cy="347472"/>
          </a:xfrm>
          <a:prstGeom prst="rect">
            <a:avLst/>
          </a:prstGeom>
          <a:noFill/>
          <a:ln/>
        </p:spPr>
        <p:txBody>
          <a:bodyPr wrap="square" rtlCol="0" anchor="ctr"/>
          <a:lstStyle/>
          <a:p>
            <a:pPr marL="0" indent="0" algn="ctr">
              <a:buNone/>
            </a:pPr>
            <a:r>
              <a:rPr lang="en-US" sz="1300" dirty="0">
                <a:solidFill>
                  <a:srgbClr val="CADCFC"/>
                </a:solidFill>
                <a:latin typeface="Arial" pitchFamily="34" charset="0"/>
                <a:ea typeface="Arial" pitchFamily="34" charset="-122"/>
                <a:cs typeface="Arial" pitchFamily="34" charset="-120"/>
              </a:rPr>
              <a:t>✅  v0.0.4 live on GitHub — CI/CD verified</a:t>
            </a:r>
            <a:endParaRPr lang="en-US" sz="1300" dirty="0"/>
          </a:p>
        </p:txBody>
      </p:sp>
      <p:sp>
        <p:nvSpPr>
          <p:cNvPr id="10" name="Text 8"/>
          <p:cNvSpPr/>
          <p:nvPr/>
        </p:nvSpPr>
        <p:spPr>
          <a:xfrm>
            <a:off x="1371600" y="3054096"/>
            <a:ext cx="6400800" cy="347472"/>
          </a:xfrm>
          <a:prstGeom prst="rect">
            <a:avLst/>
          </a:prstGeom>
          <a:noFill/>
          <a:ln/>
        </p:spPr>
        <p:txBody>
          <a:bodyPr wrap="square" rtlCol="0" anchor="ctr"/>
          <a:lstStyle/>
          <a:p>
            <a:pPr marL="0" indent="0" algn="ctr">
              <a:buNone/>
            </a:pPr>
            <a:r>
              <a:rPr lang="en-US" sz="1300" dirty="0">
                <a:solidFill>
                  <a:srgbClr val="CADCFC"/>
                </a:solidFill>
                <a:latin typeface="Arial" pitchFamily="34" charset="0"/>
                <a:ea typeface="Arial" pitchFamily="34" charset="-122"/>
                <a:cs typeface="Arial" pitchFamily="34" charset="-120"/>
              </a:rPr>
              <a:t>🔗  3 LLM providers · Jira Cloud · Xray Cloud</a:t>
            </a:r>
            <a:endParaRPr lang="en-US" sz="1300" dirty="0"/>
          </a:p>
        </p:txBody>
      </p:sp>
      <p:sp>
        <p:nvSpPr>
          <p:cNvPr id="11" name="Text 9"/>
          <p:cNvSpPr/>
          <p:nvPr/>
        </p:nvSpPr>
        <p:spPr>
          <a:xfrm>
            <a:off x="1371600" y="3438144"/>
            <a:ext cx="6400800" cy="347472"/>
          </a:xfrm>
          <a:prstGeom prst="rect">
            <a:avLst/>
          </a:prstGeom>
          <a:noFill/>
          <a:ln/>
        </p:spPr>
        <p:txBody>
          <a:bodyPr wrap="square" rtlCol="0" anchor="ctr"/>
          <a:lstStyle/>
          <a:p>
            <a:pPr marL="0" indent="0" algn="ctr">
              <a:buNone/>
            </a:pPr>
            <a:r>
              <a:rPr lang="en-US" sz="1300" dirty="0">
                <a:solidFill>
                  <a:srgbClr val="CADCFC"/>
                </a:solidFill>
                <a:latin typeface="Arial" pitchFamily="34" charset="0"/>
                <a:ea typeface="Arial" pitchFamily="34" charset="-122"/>
                <a:cs typeface="Arial" pitchFamily="34" charset="-120"/>
              </a:rPr>
              <a:t>🛡️  Enterprise security: OS-native SecretStorage + OAuth 2.0</a:t>
            </a:r>
            <a:endParaRPr lang="en-US" sz="1300" dirty="0"/>
          </a:p>
        </p:txBody>
      </p:sp>
      <p:sp>
        <p:nvSpPr>
          <p:cNvPr id="12" name="Text 10"/>
          <p:cNvSpPr/>
          <p:nvPr/>
        </p:nvSpPr>
        <p:spPr>
          <a:xfrm>
            <a:off x="1371600" y="3822192"/>
            <a:ext cx="6400800" cy="347472"/>
          </a:xfrm>
          <a:prstGeom prst="rect">
            <a:avLst/>
          </a:prstGeom>
          <a:noFill/>
          <a:ln/>
        </p:spPr>
        <p:txBody>
          <a:bodyPr wrap="square" rtlCol="0" anchor="ctr"/>
          <a:lstStyle/>
          <a:p>
            <a:pPr marL="0" indent="0" algn="ctr">
              <a:buNone/>
            </a:pPr>
            <a:r>
              <a:rPr lang="en-US" sz="1300" dirty="0">
                <a:solidFill>
                  <a:srgbClr val="CADCFC"/>
                </a:solidFill>
                <a:latin typeface="Arial" pitchFamily="34" charset="0"/>
                <a:ea typeface="Arial" pitchFamily="34" charset="-122"/>
                <a:cs typeface="Arial" pitchFamily="34" charset="-120"/>
              </a:rPr>
              <a:t>🗺️  Roadmap defined through v1.0</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1301</TotalTime>
  <Words>2095</Words>
  <Application>Microsoft Office PowerPoint</Application>
  <PresentationFormat>On-screen Show (16:9)</PresentationFormat>
  <Paragraphs>304</Paragraphs>
  <Slides>13</Slides>
  <Notes>13</Notes>
  <HiddenSlides>8</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TraceLM — Executive Project Update</dc:title>
  <dc:subject>PptxGenJS Presentation</dc:subject>
  <dc:creator>TraceLM Project Team</dc:creator>
  <cp:lastModifiedBy>Ariel Cesar Abaoag</cp:lastModifiedBy>
  <cp:revision>8</cp:revision>
  <dcterms:created xsi:type="dcterms:W3CDTF">2026-06-18T03:58:33Z</dcterms:created>
  <dcterms:modified xsi:type="dcterms:W3CDTF">2026-06-19T06:21:45Z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ab519c6-9f13-416b-ad6c-a79673c31c3f_Enabled">
    <vt:lpwstr>true</vt:lpwstr>
  </property>
  <property fmtid="{D5CDD505-2E9C-101B-9397-08002B2CF9AE}" pid="3" name="MSIP_Label_1ab519c6-9f13-416b-ad6c-a79673c31c3f_SetDate">
    <vt:lpwstr>2026-06-18T04:57:05Z</vt:lpwstr>
  </property>
  <property fmtid="{D5CDD505-2E9C-101B-9397-08002B2CF9AE}" pid="4" name="MSIP_Label_1ab519c6-9f13-416b-ad6c-a79673c31c3f_Method">
    <vt:lpwstr>Privileged</vt:lpwstr>
  </property>
  <property fmtid="{D5CDD505-2E9C-101B-9397-08002B2CF9AE}" pid="5" name="MSIP_Label_1ab519c6-9f13-416b-ad6c-a79673c31c3f_Name">
    <vt:lpwstr>Company Confidential External Use</vt:lpwstr>
  </property>
  <property fmtid="{D5CDD505-2E9C-101B-9397-08002B2CF9AE}" pid="6" name="MSIP_Label_1ab519c6-9f13-416b-ad6c-a79673c31c3f_SiteId">
    <vt:lpwstr>edf442f5-b994-4c86-a131-b42b03a16c95</vt:lpwstr>
  </property>
  <property fmtid="{D5CDD505-2E9C-101B-9397-08002B2CF9AE}" pid="7" name="MSIP_Label_1ab519c6-9f13-416b-ad6c-a79673c31c3f_ActionId">
    <vt:lpwstr>bad512c6-8cdb-4f27-b41c-434e4b78bcaf</vt:lpwstr>
  </property>
  <property fmtid="{D5CDD505-2E9C-101B-9397-08002B2CF9AE}" pid="8" name="MSIP_Label_1ab519c6-9f13-416b-ad6c-a79673c31c3f_ContentBits">
    <vt:lpwstr>0</vt:lpwstr>
  </property>
</Properties>
</file>