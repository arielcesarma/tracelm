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3652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58384"/>
            <a:ext cx="12188952" cy="1499616"/>
          </a:xfrm>
          <a:prstGeom prst="rect">
            <a:avLst/>
          </a:prstGeom>
          <a:solidFill>
            <a:srgbClr val="243556"/>
          </a:solidFill>
          <a:ln w="12700">
            <a:solidFill>
              <a:srgbClr val="2435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TraceLM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2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Test Intelligence Platform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45720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060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Review &amp; Strategic Implementation Plan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09067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Roadmap to Enterprise-Grade SaaS Platform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544068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  |  Principal Architect Assessment  |  Confidential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725912" y="557784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25912" y="55778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0.0.5 → Enterprise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94360"/>
            <a:ext cx="12188952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"/>
            <a:ext cx="10817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65760" y="603504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cover in this session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475488" cy="1051560"/>
          </a:xfrm>
          <a:prstGeom prst="roundRect">
            <a:avLst>
              <a:gd name="adj" fmla="val 1538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005840"/>
            <a:ext cx="18288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8016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A8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1115568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Scorecard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1463040"/>
            <a:ext cx="4892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TraceLM stands today across 4 dimensions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240280"/>
            <a:ext cx="475488" cy="1051560"/>
          </a:xfrm>
          <a:prstGeom prst="roundRect">
            <a:avLst>
              <a:gd name="adj" fmla="val 1538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2240280"/>
            <a:ext cx="18288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1460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A8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2688" y="2350008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TraceLM Does Well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2697480"/>
            <a:ext cx="4892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strengths and unique differentiators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47472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474720"/>
            <a:ext cx="475488" cy="1051560"/>
          </a:xfrm>
          <a:prstGeom prst="roundRect">
            <a:avLst>
              <a:gd name="adj" fmla="val 1538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3474720"/>
            <a:ext cx="18288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74904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A8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2688" y="3584448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Gaps &amp; Risks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" y="3931920"/>
            <a:ext cx="4892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be addressed before production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70916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709160"/>
            <a:ext cx="475488" cy="1051560"/>
          </a:xfrm>
          <a:prstGeom prst="roundRect">
            <a:avLst>
              <a:gd name="adj" fmla="val 1538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709160"/>
            <a:ext cx="18288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98348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A8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2688" y="4818888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Position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2688" y="5166360"/>
            <a:ext cx="4892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TraceLM compares to Xray, Zephyr, TestRail, qTest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100584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1005840"/>
            <a:ext cx="475488" cy="1051560"/>
          </a:xfrm>
          <a:prstGeom prst="roundRect">
            <a:avLst>
              <a:gd name="adj" fmla="val 1538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01968" y="1005840"/>
            <a:ext cx="18288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128016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A8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76288" y="1115568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Architecture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76288" y="1463040"/>
            <a:ext cx="4892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need to go — the proposed future state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09360" y="224028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09360" y="2240280"/>
            <a:ext cx="475488" cy="1051560"/>
          </a:xfrm>
          <a:prstGeom prst="roundRect">
            <a:avLst>
              <a:gd name="adj" fmla="val 1538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01968" y="2240280"/>
            <a:ext cx="18288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251460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A8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76288" y="2350008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5-Phase Implementation Plan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76288" y="2697480"/>
            <a:ext cx="4892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roadmap with timelines and ownership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09360" y="347472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309360" y="3474720"/>
            <a:ext cx="475488" cy="1051560"/>
          </a:xfrm>
          <a:prstGeom prst="roundRect">
            <a:avLst>
              <a:gd name="adj" fmla="val 1538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01968" y="3474720"/>
            <a:ext cx="18288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374904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A8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876288" y="3584448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&amp; Effort Summary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876288" y="3931920"/>
            <a:ext cx="4892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takes to get there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09360" y="470916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309360" y="4709160"/>
            <a:ext cx="475488" cy="1051560"/>
          </a:xfrm>
          <a:prstGeom prst="roundRect">
            <a:avLst>
              <a:gd name="adj" fmla="val 1538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01968" y="4709160"/>
            <a:ext cx="18288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498348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A8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876288" y="4818888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Next Steps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76288" y="5166360"/>
            <a:ext cx="4892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of this leadership team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94360"/>
            <a:ext cx="12188952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"/>
            <a:ext cx="10817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Scorecard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65760" y="603504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maturity assessment — TraceLM v0.0.5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243556"/>
          </a:solidFill>
          <a:ln w="12700">
            <a:solidFill>
              <a:srgbClr val="C0392B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2331720" cy="73152"/>
          </a:xfrm>
          <a:prstGeom prst="roundRect">
            <a:avLst>
              <a:gd name="adj" fmla="val 125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96696"/>
            <a:ext cx="233172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051560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74320" y="1764792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198424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Maturity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88920" y="96012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243556"/>
          </a:solidFill>
          <a:ln w="12700">
            <a:solidFill>
              <a:srgbClr val="E67E22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88920" y="960120"/>
            <a:ext cx="2331720" cy="73152"/>
          </a:xfrm>
          <a:prstGeom prst="roundRect">
            <a:avLst>
              <a:gd name="adj" fmla="val 125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8920" y="996696"/>
            <a:ext cx="233172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1051560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2788920" y="1764792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88920" y="198424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Maturity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51460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243556"/>
          </a:solidFill>
          <a:ln w="12700">
            <a:solidFill>
              <a:srgbClr val="C0392B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514600"/>
            <a:ext cx="2331720" cy="73152"/>
          </a:xfrm>
          <a:prstGeom prst="roundRect">
            <a:avLst>
              <a:gd name="adj" fmla="val 125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51176"/>
            <a:ext cx="233172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606040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274320" y="3319272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353872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Maturity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88920" y="251460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243556"/>
          </a:solidFill>
          <a:ln w="12700">
            <a:solidFill>
              <a:srgbClr val="C0392B"/>
            </a:solidFill>
            <a:prstDash val="solid"/>
          </a:ln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88920" y="2514600"/>
            <a:ext cx="2331720" cy="73152"/>
          </a:xfrm>
          <a:prstGeom prst="roundRect">
            <a:avLst>
              <a:gd name="adj" fmla="val 125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88920" y="2551176"/>
            <a:ext cx="233172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88920" y="2606040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2788920" y="3319272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88920" y="353872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Readiness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4041648"/>
            <a:ext cx="48463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4041648"/>
            <a:ext cx="4846320" cy="256032"/>
          </a:xfrm>
          <a:prstGeom prst="roundRect">
            <a:avLst>
              <a:gd name="adj" fmla="val 28571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169664"/>
            <a:ext cx="4846320" cy="12801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4059936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DEBT  ·  MEDIUM — Manageable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4048" y="4334256"/>
            <a:ext cx="46268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TraceLMPanel.ts is 1,300+ lines and App.tsx is 600+ lines — both need decomposition before Phase 2 work can begin safely.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32120" y="91440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SCORES MEAN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532120" y="1261872"/>
            <a:ext cx="64008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32120" y="1261872"/>
            <a:ext cx="548640" cy="603504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33872" y="1261872"/>
            <a:ext cx="246888" cy="6035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41264" y="1389888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44768" y="1316736"/>
            <a:ext cx="57058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Pre-production. Not suitable for enterprise deployment.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532120" y="1975104"/>
            <a:ext cx="64008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32120" y="1975104"/>
            <a:ext cx="548640" cy="603504"/>
          </a:xfrm>
          <a:prstGeom prst="roundRect">
            <a:avLst>
              <a:gd name="adj" fmla="val 1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33872" y="1975104"/>
            <a:ext cx="246888" cy="60350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41264" y="2103120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44768" y="2029968"/>
            <a:ext cx="57058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Emerging. Functional for single users; gaps for teams.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532120" y="2688336"/>
            <a:ext cx="64008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532120" y="2688336"/>
            <a:ext cx="548640" cy="603504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33872" y="2688336"/>
            <a:ext cx="246888" cy="60350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41264" y="2816352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7–8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144768" y="2743200"/>
            <a:ext cx="57058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Production-ready. Meets most enterprise requirements.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32120" y="3401568"/>
            <a:ext cx="64008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532120" y="3401568"/>
            <a:ext cx="548640" cy="603504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833872" y="3401568"/>
            <a:ext cx="246888" cy="6035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41264" y="3529584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9–10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144768" y="3456432"/>
            <a:ext cx="57058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Enterprise-grade. SOC2, RBAC, SLA, full observability.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74320" y="5166360"/>
            <a:ext cx="11640312" cy="1463040"/>
          </a:xfrm>
          <a:prstGeom prst="roundRect">
            <a:avLst>
              <a:gd name="adj" fmla="val 5000"/>
            </a:avLst>
          </a:prstGeom>
          <a:solidFill>
            <a:srgbClr val="243556"/>
          </a:solidFill>
          <a:ln w="12700">
            <a:solidFill>
              <a:srgbClr val="028090"/>
            </a:solidFill>
            <a:prstDash val="solid"/>
          </a:ln>
          <a:effectLst>
            <a:outerShdw blurRad="1270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502920" y="52303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02920" y="5504688"/>
            <a:ext cx="1122883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TraceLM has a genuinely differentiated AI core — multi-provider LLM generation, automation candidate analysis, and Playwright classification are unique in the market. The constraint is architecture: built as a single-user VS Code extension, that constraint permeates every layer. The gap between current state and enterprise-ready is real — but closeable in ~32 weeks with the right investment.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94360"/>
            <a:ext cx="12188952" cy="45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"/>
            <a:ext cx="10817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TraceLM Does Well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65760" y="603504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and unique market differentiators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36576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270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3657600" cy="54864"/>
          </a:xfrm>
          <a:prstGeom prst="roundRect">
            <a:avLst>
              <a:gd name="adj" fmla="val 16666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70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1170432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Multi-Provider AI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664208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OpenAI, Anthropic, and Gemini behind a clean provider interface. Unique in the TMS market — no competitor offers this.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15968" y="1005840"/>
            <a:ext cx="36576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270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15968" y="1005840"/>
            <a:ext cx="3657600" cy="54864"/>
          </a:xfrm>
          <a:prstGeom prst="roundRect">
            <a:avLst>
              <a:gd name="adj" fmla="val 16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53128" y="1170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956048" y="1170432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Post-Generation Validator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53128" y="1664208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LLM call validates and corrects every generation before the UI sees it. Architecturally forward-thinking quality gate.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66176" y="1005840"/>
            <a:ext cx="36576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270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66176" y="1005840"/>
            <a:ext cx="3657600" cy="54864"/>
          </a:xfrm>
          <a:prstGeom prst="roundRect">
            <a:avLst>
              <a:gd name="adj" fmla="val 16666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03336" y="1170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906256" y="1170432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Analysis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03336" y="1664208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Classifies test cases as P1–P4 automation candidates with Playwright scope, ROI level, and feasibility. No direct competitor.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36576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270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657600"/>
            <a:ext cx="3657600" cy="54864"/>
          </a:xfrm>
          <a:prstGeom prst="roundRect">
            <a:avLst>
              <a:gd name="adj" fmla="val 166667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822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05840" y="3822192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Xray Push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4315968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push with fingerprint deduplication, retry, and rate-limit handling. Production-quality Xray integration no other tool has.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15968" y="3657600"/>
            <a:ext cx="36576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270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15968" y="3657600"/>
            <a:ext cx="3657600" cy="54864"/>
          </a:xfrm>
          <a:prstGeom prst="roundRect">
            <a:avLst>
              <a:gd name="adj" fmla="val 166667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53128" y="3822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956048" y="3822192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Externalized Prompts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53128" y="4315968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LLM prompts are plain text files — non-developers can iterate on prompt quality without code changes. Enables rapid improvement.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266176" y="3657600"/>
            <a:ext cx="36576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270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66176" y="3657600"/>
            <a:ext cx="3657600" cy="54864"/>
          </a:xfrm>
          <a:prstGeom prst="roundRect">
            <a:avLst>
              <a:gd name="adj" fmla="val 16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03336" y="3822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906256" y="3822192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Taxonomy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03336" y="4315968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HP/AF/EC/EG/BR scenario types and Functional/Negative/Edge/Integration test types enforce ISTQB-aligned classification automatically.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94360"/>
            <a:ext cx="12188952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"/>
            <a:ext cx="10817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Gaps &amp; Risks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65760" y="603504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be addressed before enterprise deployment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5577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60120"/>
            <a:ext cx="457200" cy="155448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960120"/>
            <a:ext cx="182880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463040"/>
            <a:ext cx="420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32688" y="112471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Authentication or RBAC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149047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with the extension can access all data. No roles, no permissions, no tenant isolation.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09360" y="960120"/>
            <a:ext cx="5577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960120"/>
            <a:ext cx="457200" cy="155448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960120"/>
            <a:ext cx="182880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463040"/>
            <a:ext cx="420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76288" y="112471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Audit Trail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76288" y="149047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record of who generated what, who edited what, or what was pushed to Jira. Compliance failure.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697480"/>
            <a:ext cx="5577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697480"/>
            <a:ext cx="457200" cy="155448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2697480"/>
            <a:ext cx="182880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200400"/>
            <a:ext cx="420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2688" y="286207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Persistent Storage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" y="322783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generation data lives in React state. Lost on reload. VS Code uninstall = total data loss.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09360" y="2697480"/>
            <a:ext cx="5577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9360" y="2697480"/>
            <a:ext cx="457200" cy="1554480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2697480"/>
            <a:ext cx="182880" cy="1554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27648" y="3200400"/>
            <a:ext cx="420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76288" y="286207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Prompt Injection Guard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76288" y="322783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malicious requirements document could manipulate LLM output. No input sanitization exists.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4434840"/>
            <a:ext cx="5577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4434840"/>
            <a:ext cx="457200" cy="1554480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4434840"/>
            <a:ext cx="182880" cy="1554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4937760"/>
            <a:ext cx="420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32688" y="459943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Traceability Matrix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32688" y="496519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view linking requirement → scenario → test case → Xray. Core TMS feature, completely missing.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09360" y="4434840"/>
            <a:ext cx="5577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09360" y="4434840"/>
            <a:ext cx="457200" cy="1554480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83680" y="4434840"/>
            <a:ext cx="182880" cy="1554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27648" y="4937760"/>
            <a:ext cx="420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876288" y="459943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Cost Governance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76288" y="496519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token budget, no per-org key management, no LLM cost visibility. Cost explosion risk at scale.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5760" y="6236208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62362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CRITICAL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645920" y="6236208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45920" y="62362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HIGH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017520" y="623620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= must fix before any production deployment.  High = must fix before enterprise pilot.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94360"/>
            <a:ext cx="12188952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"/>
            <a:ext cx="10817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Position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65760" y="603504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TraceLM vs. enterprise test management platforms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320040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14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914400"/>
            <a:ext cx="19202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TraceLM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94960" y="914400"/>
            <a:ext cx="164592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914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Xray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040880" y="914400"/>
            <a:ext cx="164592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914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Zephyr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686800" y="914400"/>
            <a:ext cx="164592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32520" y="914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TestRail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332720" y="914400"/>
            <a:ext cx="155448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78440" y="914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qTest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1188720"/>
            <a:ext cx="320040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188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test generation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0" y="1188720"/>
            <a:ext cx="192024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Core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394960" y="1188720"/>
            <a:ext cx="16459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11887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040880" y="1188720"/>
            <a:ext cx="16459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11887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686800" y="1188720"/>
            <a:ext cx="16459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32520" y="11887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332720" y="1188720"/>
            <a:ext cx="155448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78440" y="1188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1463040"/>
            <a:ext cx="320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1463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Multi-provider LLM support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74720" y="1463040"/>
            <a:ext cx="1920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UNIQUE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394960" y="1463040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40680" y="1463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040880" y="1463040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86600" y="1463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686800" y="1463040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32520" y="1463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0332720" y="1463040"/>
            <a:ext cx="1554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78440" y="1463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1737360"/>
            <a:ext cx="320040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1737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candidate analysis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474720" y="1737360"/>
            <a:ext cx="192024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2044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UNIQUE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394960" y="1737360"/>
            <a:ext cx="16459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40680" y="1737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040880" y="1737360"/>
            <a:ext cx="16459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86600" y="1737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686800" y="1737360"/>
            <a:ext cx="16459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732520" y="1737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332720" y="1737360"/>
            <a:ext cx="155448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378440" y="1737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4320" y="2011680"/>
            <a:ext cx="320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2011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Post-generation validation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474720" y="2011680"/>
            <a:ext cx="1920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52044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UNIQUE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394960" y="2011680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40680" y="2011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040880" y="2011680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86600" y="2011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8686800" y="2011680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732520" y="2011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10332720" y="2011680"/>
            <a:ext cx="1554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378440" y="2011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74320" y="2286000"/>
            <a:ext cx="320040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0040" y="22860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Xray push integration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474720" y="2286000"/>
            <a:ext cx="192024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52044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UNIQUE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394960" y="2286000"/>
            <a:ext cx="16459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40680" y="2286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040880" y="2286000"/>
            <a:ext cx="16459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86600" y="2286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8686800" y="2286000"/>
            <a:ext cx="16459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732520" y="2286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10332720" y="2286000"/>
            <a:ext cx="155448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378440" y="2286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274320" y="2560320"/>
            <a:ext cx="320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20040" y="25603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traceability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3474720" y="2560320"/>
            <a:ext cx="1920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52044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5394960" y="2560320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440680" y="2560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7040880" y="2560320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086600" y="2560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8686800" y="2560320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732520" y="2560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10332720" y="2560320"/>
            <a:ext cx="1554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378440" y="2560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274320" y="2834640"/>
            <a:ext cx="320040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20040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execution tracking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3474720" y="2834640"/>
            <a:ext cx="192024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52044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MISSING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5394960" y="2834640"/>
            <a:ext cx="16459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440680" y="2834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7040880" y="2834640"/>
            <a:ext cx="16459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086600" y="2834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8686800" y="2834640"/>
            <a:ext cx="16459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732520" y="2834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10332720" y="2834640"/>
            <a:ext cx="155448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378440" y="2834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274320" y="3108960"/>
            <a:ext cx="320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20040" y="3108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Multi-user collaboration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3474720" y="3108960"/>
            <a:ext cx="1920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52044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MISSING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5394960" y="3108960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440680" y="3108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7040880" y="3108960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086600" y="3108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8686800" y="3108960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732520" y="3108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10332720" y="3108960"/>
            <a:ext cx="1554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0378440" y="3108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274320" y="3383280"/>
            <a:ext cx="320040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20040" y="3383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/ SSO / SAML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3474720" y="3383280"/>
            <a:ext cx="192024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52044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MISSING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5394960" y="3383280"/>
            <a:ext cx="16459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440680" y="3383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7040880" y="3383280"/>
            <a:ext cx="16459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086600" y="3383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8686800" y="3383280"/>
            <a:ext cx="16459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732520" y="3383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10332720" y="3383280"/>
            <a:ext cx="155448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378440" y="3383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274320" y="3657600"/>
            <a:ext cx="320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20040" y="3657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3474720" y="3657600"/>
            <a:ext cx="1920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52044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MISSING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5394960" y="3657600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440680" y="3657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7040880" y="3657600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7086600" y="3657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8686800" y="3657600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732520" y="3657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10332720" y="3657600"/>
            <a:ext cx="1554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0378440" y="3657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139" name="Shape 137"/>
          <p:cNvSpPr/>
          <p:nvPr/>
        </p:nvSpPr>
        <p:spPr>
          <a:xfrm>
            <a:off x="274320" y="3931920"/>
            <a:ext cx="320040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320040" y="3931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</a:t>
            </a:r>
            <a:endParaRPr lang="en-US" sz="850" dirty="0"/>
          </a:p>
        </p:txBody>
      </p:sp>
      <p:sp>
        <p:nvSpPr>
          <p:cNvPr id="141" name="Shape 139"/>
          <p:cNvSpPr/>
          <p:nvPr/>
        </p:nvSpPr>
        <p:spPr>
          <a:xfrm>
            <a:off x="3474720" y="3931920"/>
            <a:ext cx="192024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352044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MISSING</a:t>
            </a:r>
            <a:endParaRPr lang="en-US" sz="850" dirty="0"/>
          </a:p>
        </p:txBody>
      </p:sp>
      <p:sp>
        <p:nvSpPr>
          <p:cNvPr id="143" name="Shape 141"/>
          <p:cNvSpPr/>
          <p:nvPr/>
        </p:nvSpPr>
        <p:spPr>
          <a:xfrm>
            <a:off x="5394960" y="3931920"/>
            <a:ext cx="16459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440680" y="3931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145" name="Shape 143"/>
          <p:cNvSpPr/>
          <p:nvPr/>
        </p:nvSpPr>
        <p:spPr>
          <a:xfrm>
            <a:off x="7040880" y="3931920"/>
            <a:ext cx="16459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086600" y="3931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147" name="Shape 145"/>
          <p:cNvSpPr/>
          <p:nvPr/>
        </p:nvSpPr>
        <p:spPr>
          <a:xfrm>
            <a:off x="8686800" y="3931920"/>
            <a:ext cx="16459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732520" y="3931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149" name="Shape 147"/>
          <p:cNvSpPr/>
          <p:nvPr/>
        </p:nvSpPr>
        <p:spPr>
          <a:xfrm>
            <a:off x="10332720" y="3931920"/>
            <a:ext cx="155448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0378440" y="3931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151" name="Shape 149"/>
          <p:cNvSpPr/>
          <p:nvPr/>
        </p:nvSpPr>
        <p:spPr>
          <a:xfrm>
            <a:off x="274320" y="5166360"/>
            <a:ext cx="11612880" cy="1417320"/>
          </a:xfrm>
          <a:prstGeom prst="roundRect">
            <a:avLst>
              <a:gd name="adj" fmla="val 5161"/>
            </a:avLst>
          </a:prstGeom>
          <a:solidFill>
            <a:srgbClr val="24355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548640" y="5257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INSIGHT</a:t>
            </a:r>
            <a:endParaRPr lang="en-US" sz="1000" dirty="0"/>
          </a:p>
        </p:txBody>
      </p:sp>
      <p:sp>
        <p:nvSpPr>
          <p:cNvPr id="153" name="Text 151"/>
          <p:cNvSpPr/>
          <p:nvPr/>
        </p:nvSpPr>
        <p:spPr>
          <a:xfrm>
            <a:off x="548640" y="5559552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TraceLM holds 4 unique capabilities no competitor has. The AI generation quality, multi-provider support, automation analysis, and Xray integration are genuine differentiators. The critical gap is everything else — collaboration, RBAC, audit, analytics. Closing those gaps in 32 weeks positions TraceLM as the only AI-native enterprise TMS with Xray-native integration.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94360"/>
            <a:ext cx="12188952" cy="45720"/>
          </a:xfrm>
          <a:prstGeom prst="rect">
            <a:avLst/>
          </a:prstGeom>
          <a:solidFill>
            <a:srgbClr val="243556"/>
          </a:solidFill>
          <a:ln w="12700">
            <a:solidFill>
              <a:srgbClr val="2435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"/>
            <a:ext cx="10817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Target Architecture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65760" y="603504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VS Code extension to enterprise SaaS platform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116128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1440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914400"/>
            <a:ext cx="36576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143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LAYER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23160" y="1024128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02412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Extension (webview)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64024" y="1024128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102412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 (React SPA)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04888" y="1024128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0608" y="102412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(future)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0" y="17373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8090"/>
                </a:solidFill>
              </a:rPr>
              <a:t>↕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1965960"/>
            <a:ext cx="116128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196596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0240" y="1965960"/>
            <a:ext cx="36576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423160" y="2075688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E8F4F8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207568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middleware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64024" y="2075688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E8F4F8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207568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04888" y="2075688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E8F4F8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0608" y="207568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routing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445752" y="2075688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E8F4F8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91472" y="207568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0" y="27889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8090"/>
                </a:solidFill>
              </a:rPr>
              <a:t>↕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74320" y="3017520"/>
            <a:ext cx="116128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01752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20240" y="3017520"/>
            <a:ext cx="365760" cy="8229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246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LAYER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423160" y="3127248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E8F4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68880" y="312724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 (OAuth/SAML)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64024" y="3127248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E8F4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9744" y="312724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Service (LLM Orchestrator)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104888" y="3127248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E8F4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50608" y="312724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Service (Xray/Jira)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445752" y="3127248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E8F4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91472" y="312724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Service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43600" y="38404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8090"/>
                </a:solidFill>
              </a:rPr>
              <a:t>↕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74320" y="4069080"/>
            <a:ext cx="116128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406908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20240" y="4069080"/>
            <a:ext cx="365760" cy="8229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4297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/ QUEUE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423160" y="4178808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E8F4F8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68880" y="417880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Queue (BullMQ)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64024" y="4178808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E8F4F8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9744" y="417880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Worker Pool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04888" y="4178808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E8F4F8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50608" y="417880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 Workers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445752" y="4178808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E8F4F8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91472" y="417880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Logger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94360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8090"/>
                </a:solidFill>
              </a:rPr>
              <a:t>↕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274320" y="5120640"/>
            <a:ext cx="116128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12064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20240" y="5120640"/>
            <a:ext cx="365760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5349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423160" y="5230368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E8F4F8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468880" y="523036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(primary store)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764024" y="5230368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E8F4F8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09744" y="523036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(cache + queues)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104888" y="5230368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E8F4F8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50608" y="523036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Registry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9445752" y="5230368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E8F4F8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491472" y="523036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Audit Log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94360"/>
            <a:ext cx="12188952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"/>
            <a:ext cx="10817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5-Phase Implementation Roadmap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65760" y="603504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approach from stable extension to enterprise SaaS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2231136" cy="38404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2231136" cy="749808"/>
          </a:xfrm>
          <a:prstGeom prst="roundRect">
            <a:avLst>
              <a:gd name="adj" fmla="val 975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99616"/>
            <a:ext cx="2231136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969264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207008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" y="1389888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1–6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0624" y="1755648"/>
            <a:ext cx="2121408" cy="420624"/>
          </a:xfrm>
          <a:prstGeom prst="rect">
            <a:avLst/>
          </a:prstGeom>
          <a:solidFill>
            <a:srgbClr val="EFF3F9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" y="1901952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1792224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Decompose TraceLMPanel.ts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20624" y="2231136"/>
            <a:ext cx="212140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" y="2377440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267712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audit log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0624" y="2706624"/>
            <a:ext cx="2121408" cy="420624"/>
          </a:xfrm>
          <a:prstGeom prst="rect">
            <a:avLst/>
          </a:prstGeom>
          <a:solidFill>
            <a:srgbClr val="EFF3F9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" y="2852928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2743200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history store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20624" y="3182112"/>
            <a:ext cx="212140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" y="3328416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218688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approval gate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20624" y="3657600"/>
            <a:ext cx="2121408" cy="420624"/>
          </a:xfrm>
          <a:prstGeom prst="rect">
            <a:avLst/>
          </a:prstGeom>
          <a:solidFill>
            <a:srgbClr val="EFF3F9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" y="3803904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3694176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Matrix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20624" y="4133088"/>
            <a:ext cx="212140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3776" y="4279392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4169664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cost display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604211" y="2606040"/>
            <a:ext cx="5852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670048" y="914400"/>
            <a:ext cx="2231136" cy="38404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670048" y="914400"/>
            <a:ext cx="2231136" cy="749808"/>
          </a:xfrm>
          <a:prstGeom prst="roundRect">
            <a:avLst>
              <a:gd name="adj" fmla="val 9756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70048" y="1499616"/>
            <a:ext cx="2231136" cy="16459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969264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0" y="1207008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Platform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0" y="1389888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7–18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24912" y="1755648"/>
            <a:ext cx="2121408" cy="420624"/>
          </a:xfrm>
          <a:prstGeom prst="rect">
            <a:avLst/>
          </a:prstGeom>
          <a:solidFill>
            <a:srgbClr val="EFF3F9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98064" y="1901952"/>
            <a:ext cx="91440" cy="914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0" y="1792224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NestJS + PostgreSQL + Redis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24912" y="2231136"/>
            <a:ext cx="212140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98064" y="2377440"/>
            <a:ext cx="91440" cy="914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26080" y="2267712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BullMQ pipeline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724912" y="2706624"/>
            <a:ext cx="2121408" cy="420624"/>
          </a:xfrm>
          <a:prstGeom prst="rect">
            <a:avLst/>
          </a:prstGeom>
          <a:solidFill>
            <a:srgbClr val="EFF3F9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98064" y="2852928"/>
            <a:ext cx="91440" cy="914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26080" y="2743200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streaming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24912" y="3182112"/>
            <a:ext cx="212140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98064" y="3328416"/>
            <a:ext cx="91440" cy="914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26080" y="3218688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724912" y="3657600"/>
            <a:ext cx="2121408" cy="420624"/>
          </a:xfrm>
          <a:prstGeom prst="rect">
            <a:avLst/>
          </a:prstGeom>
          <a:solidFill>
            <a:srgbClr val="EFF3F9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98064" y="3803904"/>
            <a:ext cx="91440" cy="914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26080" y="3694176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audit log API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724912" y="4133088"/>
            <a:ext cx="212140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98064" y="4279392"/>
            <a:ext cx="91440" cy="914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26080" y="4169664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E2E suite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908499" y="2606040"/>
            <a:ext cx="5852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974336" y="914400"/>
            <a:ext cx="2231136" cy="38404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6C3483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974336" y="914400"/>
            <a:ext cx="2231136" cy="749808"/>
          </a:xfrm>
          <a:prstGeom prst="roundRect">
            <a:avLst>
              <a:gd name="adj" fmla="val 9756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974336" y="1499616"/>
            <a:ext cx="2231136" cy="16459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47488" y="969264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047488" y="1207008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047488" y="1389888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19–34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029200" y="1755648"/>
            <a:ext cx="2121408" cy="420624"/>
          </a:xfrm>
          <a:prstGeom prst="rect">
            <a:avLst/>
          </a:prstGeom>
          <a:solidFill>
            <a:srgbClr val="EFF3F9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102352" y="1901952"/>
            <a:ext cx="91440" cy="9144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30368" y="1792224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(6 roles)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029200" y="2231136"/>
            <a:ext cx="212140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102352" y="2377440"/>
            <a:ext cx="91440" cy="9144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230368" y="2267712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/ SAML SSO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029200" y="2706624"/>
            <a:ext cx="2121408" cy="420624"/>
          </a:xfrm>
          <a:prstGeom prst="rect">
            <a:avLst/>
          </a:prstGeom>
          <a:solidFill>
            <a:srgbClr val="EFF3F9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102352" y="2852928"/>
            <a:ext cx="91440" cy="9144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230368" y="2743200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RLS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029200" y="3182112"/>
            <a:ext cx="212140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102352" y="3328416"/>
            <a:ext cx="91440" cy="9144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230368" y="3218688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(AWS/Azure)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029200" y="3657600"/>
            <a:ext cx="2121408" cy="420624"/>
          </a:xfrm>
          <a:prstGeom prst="rect">
            <a:avLst/>
          </a:prstGeom>
          <a:solidFill>
            <a:srgbClr val="EFF3F9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102352" y="3803904"/>
            <a:ext cx="91440" cy="9144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230368" y="3694176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workflow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5029200" y="4133088"/>
            <a:ext cx="212140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102352" y="4279392"/>
            <a:ext cx="91440" cy="9144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230368" y="4169664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system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7212787" y="2606040"/>
            <a:ext cx="5852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7278624" y="914400"/>
            <a:ext cx="2231136" cy="38404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7278624" y="914400"/>
            <a:ext cx="2231136" cy="749808"/>
          </a:xfrm>
          <a:prstGeom prst="roundRect">
            <a:avLst>
              <a:gd name="adj" fmla="val 975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278624" y="1499616"/>
            <a:ext cx="2231136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351776" y="969264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7351776" y="1207008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Governance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7351776" y="1389888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35–44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7333488" y="1755648"/>
            <a:ext cx="2121408" cy="420624"/>
          </a:xfrm>
          <a:prstGeom prst="rect">
            <a:avLst/>
          </a:prstGeom>
          <a:solidFill>
            <a:srgbClr val="EFF3F9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406640" y="1901952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534656" y="1792224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Registry + A/B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7333488" y="2231136"/>
            <a:ext cx="212140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406640" y="2377440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534656" y="2267712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Org-level key vault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7333488" y="2706624"/>
            <a:ext cx="2121408" cy="420624"/>
          </a:xfrm>
          <a:prstGeom prst="rect">
            <a:avLst/>
          </a:prstGeom>
          <a:solidFill>
            <a:srgbClr val="EFF3F9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406640" y="2852928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534656" y="2743200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budget limits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7333488" y="3182112"/>
            <a:ext cx="212140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06640" y="3328416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534656" y="3218688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Multi-model evaluation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7333488" y="3657600"/>
            <a:ext cx="2121408" cy="420624"/>
          </a:xfrm>
          <a:prstGeom prst="rect">
            <a:avLst/>
          </a:prstGeom>
          <a:solidFill>
            <a:srgbClr val="EFF3F9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406640" y="3803904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534656" y="3694176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tracking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7333488" y="4133088"/>
            <a:ext cx="212140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406640" y="4279392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534656" y="4169664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regression tests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9517075" y="2606040"/>
            <a:ext cx="5852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9582912" y="914400"/>
            <a:ext cx="2231136" cy="38404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8" name="Shape 106"/>
          <p:cNvSpPr/>
          <p:nvPr/>
        </p:nvSpPr>
        <p:spPr>
          <a:xfrm>
            <a:off x="9582912" y="914400"/>
            <a:ext cx="2231136" cy="749808"/>
          </a:xfrm>
          <a:prstGeom prst="roundRect">
            <a:avLst>
              <a:gd name="adj" fmla="val 9756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582912" y="1499616"/>
            <a:ext cx="2231136" cy="1645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656064" y="969264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000" dirty="0"/>
          </a:p>
        </p:txBody>
      </p:sp>
      <p:sp>
        <p:nvSpPr>
          <p:cNvPr id="111" name="Text 109"/>
          <p:cNvSpPr/>
          <p:nvPr/>
        </p:nvSpPr>
        <p:spPr>
          <a:xfrm>
            <a:off x="9656064" y="1207008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9656064" y="1389888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45+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9637776" y="1755648"/>
            <a:ext cx="2121408" cy="420624"/>
          </a:xfrm>
          <a:prstGeom prst="rect">
            <a:avLst/>
          </a:prstGeom>
          <a:solidFill>
            <a:srgbClr val="EFF3F9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710928" y="1901952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838944" y="1792224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+ autoscaling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9637776" y="2231136"/>
            <a:ext cx="212140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710928" y="2377440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9838944" y="2267712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SOC2 Type II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9637776" y="2706624"/>
            <a:ext cx="2121408" cy="420624"/>
          </a:xfrm>
          <a:prstGeom prst="rect">
            <a:avLst/>
          </a:prstGeom>
          <a:solidFill>
            <a:srgbClr val="EFF3F9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710928" y="2852928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9838944" y="2743200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(browser)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9637776" y="3182112"/>
            <a:ext cx="212140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710928" y="3328416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9838944" y="3218688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 + docs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9637776" y="3657600"/>
            <a:ext cx="2121408" cy="420624"/>
          </a:xfrm>
          <a:prstGeom prst="rect">
            <a:avLst/>
          </a:prstGeom>
          <a:solidFill>
            <a:srgbClr val="EFF3F9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710928" y="3803904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9838944" y="3694176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Penetration testing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9637776" y="4133088"/>
            <a:ext cx="212140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710928" y="4279392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838944" y="4169664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99.9% uptime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365760" y="4965192"/>
            <a:ext cx="11448288" cy="4572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01752" y="4919472"/>
            <a:ext cx="128016" cy="12801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73152" y="5074920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</a:t>
            </a:r>
            <a:endParaRPr lang="en-US" sz="750" dirty="0"/>
          </a:p>
        </p:txBody>
      </p:sp>
      <p:sp>
        <p:nvSpPr>
          <p:cNvPr id="134" name="Shape 132"/>
          <p:cNvSpPr/>
          <p:nvPr/>
        </p:nvSpPr>
        <p:spPr>
          <a:xfrm>
            <a:off x="2606040" y="4919472"/>
            <a:ext cx="128016" cy="12801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2377440" y="5074920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7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4910328" y="4919472"/>
            <a:ext cx="128016" cy="12801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681728" y="5074920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19</a:t>
            </a:r>
            <a:endParaRPr lang="en-US" sz="750" dirty="0"/>
          </a:p>
        </p:txBody>
      </p:sp>
      <p:sp>
        <p:nvSpPr>
          <p:cNvPr id="138" name="Shape 136"/>
          <p:cNvSpPr/>
          <p:nvPr/>
        </p:nvSpPr>
        <p:spPr>
          <a:xfrm>
            <a:off x="7214616" y="4919472"/>
            <a:ext cx="128016" cy="12801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6986016" y="5074920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35</a:t>
            </a:r>
            <a:endParaRPr lang="en-US" sz="750" dirty="0"/>
          </a:p>
        </p:txBody>
      </p:sp>
      <p:sp>
        <p:nvSpPr>
          <p:cNvPr id="140" name="Shape 138"/>
          <p:cNvSpPr/>
          <p:nvPr/>
        </p:nvSpPr>
        <p:spPr>
          <a:xfrm>
            <a:off x="9518904" y="4919472"/>
            <a:ext cx="128016" cy="12801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9290304" y="5074920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45</a:t>
            </a:r>
            <a:endParaRPr lang="en-US" sz="750" dirty="0"/>
          </a:p>
        </p:txBody>
      </p:sp>
      <p:sp>
        <p:nvSpPr>
          <p:cNvPr id="142" name="Shape 140"/>
          <p:cNvSpPr/>
          <p:nvPr/>
        </p:nvSpPr>
        <p:spPr>
          <a:xfrm>
            <a:off x="11823192" y="4919472"/>
            <a:ext cx="128016" cy="12801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11594592" y="5074920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45+</a:t>
            </a:r>
            <a:endParaRPr lang="en-US" sz="750" dirty="0"/>
          </a:p>
        </p:txBody>
      </p:sp>
      <p:sp>
        <p:nvSpPr>
          <p:cNvPr id="144" name="Text 142"/>
          <p:cNvSpPr/>
          <p:nvPr/>
        </p:nvSpPr>
        <p:spPr>
          <a:xfrm>
            <a:off x="365760" y="5138928"/>
            <a:ext cx="22311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devs · 4–6 wks</a:t>
            </a:r>
            <a:endParaRPr lang="en-US" sz="800" dirty="0"/>
          </a:p>
        </p:txBody>
      </p:sp>
      <p:sp>
        <p:nvSpPr>
          <p:cNvPr id="145" name="Text 143"/>
          <p:cNvSpPr/>
          <p:nvPr/>
        </p:nvSpPr>
        <p:spPr>
          <a:xfrm>
            <a:off x="2670048" y="5138928"/>
            <a:ext cx="22311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devs · 8–12 wks</a:t>
            </a:r>
            <a:endParaRPr lang="en-US" sz="800" dirty="0"/>
          </a:p>
        </p:txBody>
      </p:sp>
      <p:sp>
        <p:nvSpPr>
          <p:cNvPr id="146" name="Text 144"/>
          <p:cNvSpPr/>
          <p:nvPr/>
        </p:nvSpPr>
        <p:spPr>
          <a:xfrm>
            <a:off x="4974336" y="5138928"/>
            <a:ext cx="22311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devs · 12–16 wks</a:t>
            </a:r>
            <a:endParaRPr lang="en-US" sz="800" dirty="0"/>
          </a:p>
        </p:txBody>
      </p:sp>
      <p:sp>
        <p:nvSpPr>
          <p:cNvPr id="147" name="Text 145"/>
          <p:cNvSpPr/>
          <p:nvPr/>
        </p:nvSpPr>
        <p:spPr>
          <a:xfrm>
            <a:off x="7278624" y="5138928"/>
            <a:ext cx="22311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devs · 8–10 wks</a:t>
            </a:r>
            <a:endParaRPr lang="en-US" sz="800" dirty="0"/>
          </a:p>
        </p:txBody>
      </p:sp>
      <p:sp>
        <p:nvSpPr>
          <p:cNvPr id="148" name="Text 146"/>
          <p:cNvSpPr/>
          <p:nvPr/>
        </p:nvSpPr>
        <p:spPr>
          <a:xfrm>
            <a:off x="9582912" y="5138928"/>
            <a:ext cx="22311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 devs · Ongoing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94360"/>
            <a:ext cx="12188952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"/>
            <a:ext cx="10817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Foundation  (Weeks 1–6)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65760" y="603504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current extension production-stable for individual and team use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658368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83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Developers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658368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6583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Weeks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65836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6583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 Person-Days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051560"/>
            <a:ext cx="45720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0515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1051560"/>
            <a:ext cx="256032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1051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1051560"/>
            <a:ext cx="82296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051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0" y="1051560"/>
            <a:ext cx="10058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1051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20640" y="1051560"/>
            <a:ext cx="676656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10515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delivers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1325880"/>
            <a:ext cx="45720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1325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31520" y="1325880"/>
            <a:ext cx="25603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1325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Decompose TraceLMPanel.ts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91840" y="1325880"/>
            <a:ext cx="82296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1325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days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0" y="1325880"/>
            <a:ext cx="100584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60520" y="1325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120640" y="1325880"/>
            <a:ext cx="676656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132588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god object into LLM Orchestrator, Push Service, Session Service. Foundation for everything else.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1600200"/>
            <a:ext cx="457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1600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31520" y="1600200"/>
            <a:ext cx="2560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1600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audit logging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91840" y="1600200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1600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days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114800" y="1600200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60520" y="1600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120640" y="1600200"/>
            <a:ext cx="6766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160020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log of every generate, edit, delete, push action. Compliance prerequisite.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1874520"/>
            <a:ext cx="45720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1874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31520" y="1874520"/>
            <a:ext cx="25603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1874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 guard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91840" y="1874520"/>
            <a:ext cx="82296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37560" y="1874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day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114800" y="1874520"/>
            <a:ext cx="100584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6052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120640" y="1874520"/>
            <a:ext cx="676656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66360" y="187452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 and escape all document input before LLM calls.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74320" y="2148840"/>
            <a:ext cx="457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2148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31520" y="2148840"/>
            <a:ext cx="2560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7240" y="2148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Session/generation history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291840" y="2148840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37560" y="2148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days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114800" y="2148840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60520" y="2148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120640" y="2148840"/>
            <a:ext cx="6766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66360" y="214884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last 10 generations with timestamps. Reload without regenerating. Eliminates data loss on reload.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74320" y="2423160"/>
            <a:ext cx="45720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0040" y="2423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31520" y="2423160"/>
            <a:ext cx="25603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77240" y="2423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gate before push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291840" y="2423160"/>
            <a:ext cx="82296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37560" y="2423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days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114800" y="2423160"/>
            <a:ext cx="100584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60520" y="2423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120640" y="2423160"/>
            <a:ext cx="676656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66360" y="24231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confirmation with change summary before any test case is pushed to Xray.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274320" y="2697480"/>
            <a:ext cx="457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0040" y="2697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731520" y="2697480"/>
            <a:ext cx="2560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77240" y="2697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Traceability Matrix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3291840" y="2697480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337560" y="2697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days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114800" y="2697480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160520" y="2697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5120640" y="2697480"/>
            <a:ext cx="6766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166360" y="269748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linking requirement → scenario → test case → Xray key. Core TMS parity feature.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274320" y="2971800"/>
            <a:ext cx="45720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0040" y="2971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731520" y="2971800"/>
            <a:ext cx="25603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77240" y="2971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token/cost tracking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3291840" y="2971800"/>
            <a:ext cx="82296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337560" y="2971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day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4114800" y="2971800"/>
            <a:ext cx="100584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160520" y="2971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5120640" y="2971800"/>
            <a:ext cx="676656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166360" y="297180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tokens in/out and estimated cost per generation.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274320" y="3246120"/>
            <a:ext cx="457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20040" y="32461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731520" y="3246120"/>
            <a:ext cx="2560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77240" y="3246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fallback chain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3291840" y="3246120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337560" y="3246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days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4114800" y="3246120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160520" y="3246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5120640" y="3246120"/>
            <a:ext cx="6766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166360" y="324612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Auto-route to secondary provider if primary LLM call fails.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274320" y="5669280"/>
            <a:ext cx="11612880" cy="9144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Exit Criteria: TraceLMPanel decomposed · audit log active · session history working · push approval in place · traceability matrix visible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94360"/>
            <a:ext cx="12188952" cy="45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"/>
            <a:ext cx="10817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&amp; 3 — Core Platform + Enterprise  (Weeks 7–34)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65760" y="603504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service, multi-tenancy, RBAC, and cloud deployment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5577840" cy="530352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270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5577840" cy="347472"/>
          </a:xfrm>
          <a:prstGeom prst="roundRect">
            <a:avLst>
              <a:gd name="adj" fmla="val 21053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115568"/>
            <a:ext cx="5577840" cy="14630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960120"/>
            <a:ext cx="5358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CORE PLATFORM  (Wks 7–18)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" y="1316736"/>
            <a:ext cx="54681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362456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362456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0080" y="1335024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NestJS backend + PostgreSQL + Redis (Docker Compose)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" y="1792224"/>
            <a:ext cx="5468112" cy="457200"/>
          </a:xfrm>
          <a:prstGeom prst="rect">
            <a:avLst/>
          </a:prstGeom>
          <a:solidFill>
            <a:srgbClr val="F0F5FB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1837944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837944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1810512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and implement PostgreSQL schema (orgs, workspaces, users, artifacts, audit_log)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" y="2267712"/>
            <a:ext cx="54681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313432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313432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" y="228600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push history from globalState to PostgreSQL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9184" y="2743200"/>
            <a:ext cx="5468112" cy="457200"/>
          </a:xfrm>
          <a:prstGeom prst="rect">
            <a:avLst/>
          </a:prstGeom>
          <a:solidFill>
            <a:srgbClr val="F0F5FB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788920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78892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0080" y="2761488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async generation pipeline — BullMQ job queue + LLM worker pool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9184" y="3218688"/>
            <a:ext cx="54681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264408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64408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0080" y="3236976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/ SSE streaming — real-time progress to VS Code webview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9184" y="3694176"/>
            <a:ext cx="5468112" cy="457200"/>
          </a:xfrm>
          <a:prstGeom prst="rect">
            <a:avLst/>
          </a:prstGeom>
          <a:solidFill>
            <a:srgbClr val="F0F5FB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739896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739896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0080" y="3712464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LLM response cache with configurable TTL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184" y="4169664"/>
            <a:ext cx="54681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4215384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215384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40080" y="4187952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audit log — every LLM request logged with prompt hash and cost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9184" y="4645152"/>
            <a:ext cx="5468112" cy="457200"/>
          </a:xfrm>
          <a:prstGeom prst="rect">
            <a:avLst/>
          </a:prstGeom>
          <a:solidFill>
            <a:srgbClr val="F0F5FB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4690872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690872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40080" y="466344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API + dashboard (coverage metrics, push history, quality trends)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9184" y="5120640"/>
            <a:ext cx="54681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5166360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516636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40080" y="5138928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test suite (Playwright) for critical generation workflows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9184" y="5596128"/>
            <a:ext cx="5468112" cy="457200"/>
          </a:xfrm>
          <a:prstGeom prst="rect">
            <a:avLst/>
          </a:prstGeom>
          <a:solidFill>
            <a:srgbClr val="F0F5FB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" y="5641848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5641848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40080" y="5614416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developers · 8–12 weeks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17920" y="914400"/>
            <a:ext cx="5577840" cy="530352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270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217920" y="914400"/>
            <a:ext cx="5577840" cy="347472"/>
          </a:xfrm>
          <a:prstGeom prst="roundRect">
            <a:avLst>
              <a:gd name="adj" fmla="val 21053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17920" y="1115568"/>
            <a:ext cx="5577840" cy="14630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45936" y="960120"/>
            <a:ext cx="5358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ENTERPRISE FEATURES  (Wks 19–34)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272784" y="1316736"/>
            <a:ext cx="54681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09360" y="1362456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09360" y="1362456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583680" y="1335024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 → Workspace → Member hierarchy in DB and API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272784" y="1792224"/>
            <a:ext cx="5468112" cy="457200"/>
          </a:xfrm>
          <a:prstGeom prst="rect">
            <a:avLst/>
          </a:prstGeom>
          <a:solidFill>
            <a:srgbClr val="F0F5FB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09360" y="1837944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9360" y="1837944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583680" y="1810512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— 6 roles: Org Admin, Workspace Admin, QA Lead, Test Analyst, Developer, Viewer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272784" y="2267712"/>
            <a:ext cx="54681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09360" y="2313432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09360" y="2313432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583680" y="228600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authentication (Google, Microsoft, GitHub)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272784" y="2743200"/>
            <a:ext cx="5468112" cy="457200"/>
          </a:xfrm>
          <a:prstGeom prst="rect">
            <a:avLst/>
          </a:prstGeom>
          <a:solidFill>
            <a:srgbClr val="F0F5FB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309360" y="2788920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09360" y="278892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583680" y="2761488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SAML SSO for enterprise IdPs (Okta, Azure AD, Ping)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272784" y="3218688"/>
            <a:ext cx="54681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309360" y="3264408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09360" y="3264408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583680" y="3236976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deployment — API Gateway, ECS/AKS, RDS, ElastiCache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272784" y="3694176"/>
            <a:ext cx="5468112" cy="457200"/>
          </a:xfrm>
          <a:prstGeom prst="rect">
            <a:avLst/>
          </a:prstGeom>
          <a:solidFill>
            <a:srgbClr val="F0F5FB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309360" y="3739896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09360" y="3739896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583680" y="3712464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row-level security for multi-tenant isolation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272784" y="4169664"/>
            <a:ext cx="54681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309360" y="4215384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09360" y="4215384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6583680" y="4187952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admin UI — manage members, roles, LLM keys, Jira settings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272784" y="4645152"/>
            <a:ext cx="5468112" cy="457200"/>
          </a:xfrm>
          <a:prstGeom prst="rect">
            <a:avLst/>
          </a:prstGeom>
          <a:solidFill>
            <a:srgbClr val="F0F5FB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309360" y="4690872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309360" y="4690872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6583680" y="466344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system — email, Slack webhook, in-app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272784" y="5120640"/>
            <a:ext cx="54681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309360" y="5166360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309360" y="516636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6583680" y="5138928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workflow — QA Lead must approve before Xray push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6272784" y="5596128"/>
            <a:ext cx="5468112" cy="457200"/>
          </a:xfrm>
          <a:prstGeom prst="rect">
            <a:avLst/>
          </a:prstGeom>
          <a:solidFill>
            <a:srgbClr val="F0F5FB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309360" y="5641848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309360" y="5641848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6583680" y="5614416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developers · 12–16 weeks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94360"/>
            <a:ext cx="12188952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"/>
            <a:ext cx="10817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&amp; 5 — AI Governance + Scale  (Weeks 35+)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65760" y="603504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quality framework, compliance, and enterprise-grade reliability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5577840" cy="530352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270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5577840" cy="347472"/>
          </a:xfrm>
          <a:prstGeom prst="roundRect">
            <a:avLst>
              <a:gd name="adj" fmla="val 2105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115568"/>
            <a:ext cx="5577840" cy="1463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960120"/>
            <a:ext cx="5358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— AI &amp; AUTOMATION  (Wks 35–44)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" y="1316736"/>
            <a:ext cx="54681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362456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362456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0080" y="1335024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Registry — versioned prompts in DB with A/B testing and rollback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" y="1792224"/>
            <a:ext cx="5468112" cy="457200"/>
          </a:xfrm>
          <a:prstGeom prst="rect">
            <a:avLst/>
          </a:prstGeom>
          <a:solidFill>
            <a:srgbClr val="F0F5FB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1837944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837944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1810512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Organization-level LLM key vault (HashiCorp Vault / AWS Secrets Manager)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" y="2267712"/>
            <a:ext cx="54681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313432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313432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" y="228600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Per-workspace token budget and cost alerts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9184" y="2743200"/>
            <a:ext cx="5468112" cy="457200"/>
          </a:xfrm>
          <a:prstGeom prst="rect">
            <a:avLst/>
          </a:prstGeom>
          <a:solidFill>
            <a:srgbClr val="F0F5FB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788920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78892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0080" y="2761488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Multi-model evaluation framework — run same prompt on 3 models, compare quality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9184" y="3218688"/>
            <a:ext cx="54681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264408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64408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0080" y="3236976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feedback pipeline — thumbs up/down aggregated per prompt version per model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9184" y="3694176"/>
            <a:ext cx="5468112" cy="457200"/>
          </a:xfrm>
          <a:prstGeom prst="rect">
            <a:avLst/>
          </a:prstGeom>
          <a:solidFill>
            <a:srgbClr val="F0F5FB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739896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739896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0080" y="3712464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regression test suite — automated quality checks on prompt changes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184" y="4169664"/>
            <a:ext cx="54681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4215384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215384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40080" y="4187952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flags for safe model/prompt rollout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9184" y="4645152"/>
            <a:ext cx="5468112" cy="457200"/>
          </a:xfrm>
          <a:prstGeom prst="rect">
            <a:avLst/>
          </a:prstGeom>
          <a:solidFill>
            <a:srgbClr val="F0F5FB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4690872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690872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40080" y="466344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execution tracking — record test run results against generated test cases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9184" y="5120640"/>
            <a:ext cx="54681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5166360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516636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40080" y="5138928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linking — link Jira bug issues to test cases that surfaced them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9184" y="5596128"/>
            <a:ext cx="5468112" cy="457200"/>
          </a:xfrm>
          <a:prstGeom prst="rect">
            <a:avLst/>
          </a:prstGeom>
          <a:solidFill>
            <a:srgbClr val="F0F5FB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" y="5641848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5641848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40080" y="5614416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developers · 8–10 weeks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17920" y="914400"/>
            <a:ext cx="5577840" cy="530352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270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217920" y="914400"/>
            <a:ext cx="5577840" cy="347472"/>
          </a:xfrm>
          <a:prstGeom prst="roundRect">
            <a:avLst>
              <a:gd name="adj" fmla="val 2105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17920" y="1115568"/>
            <a:ext cx="5577840" cy="14630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45936" y="960120"/>
            <a:ext cx="5358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— SCALE &amp; OPTIMIZATION  (Wks 45+)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272784" y="1316736"/>
            <a:ext cx="54681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09360" y="1362456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09360" y="1362456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583680" y="1335024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deployment — horizontal scaling for all services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272784" y="1792224"/>
            <a:ext cx="5468112" cy="457200"/>
          </a:xfrm>
          <a:prstGeom prst="rect">
            <a:avLst/>
          </a:prstGeom>
          <a:solidFill>
            <a:srgbClr val="F0F5FB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09360" y="1837944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9360" y="1837944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583680" y="1810512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architecture — Kafka/EventBridge for audit and analytics pipeline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272784" y="2267712"/>
            <a:ext cx="54681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09360" y="2313432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09360" y="2313432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583680" y="228600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 for webview assets (CloudFront / Vercel Edge)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272784" y="2743200"/>
            <a:ext cx="5468112" cy="457200"/>
          </a:xfrm>
          <a:prstGeom prst="rect">
            <a:avLst/>
          </a:prstGeom>
          <a:solidFill>
            <a:srgbClr val="F0F5FB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309360" y="2788920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09360" y="278892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583680" y="2761488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SOC2 Type II compliance readiness — controls, policies, audit evidence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272784" y="3218688"/>
            <a:ext cx="54681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309360" y="3264408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09360" y="3264408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583680" y="3236976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Penetration testing + remediation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272784" y="3694176"/>
            <a:ext cx="5468112" cy="457200"/>
          </a:xfrm>
          <a:prstGeom prst="rect">
            <a:avLst/>
          </a:prstGeom>
          <a:solidFill>
            <a:srgbClr val="F0F5FB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309360" y="3739896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09360" y="3739896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583680" y="3712464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definition and monitoring (99.9% uptime, alerting, on-call)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272784" y="4169664"/>
            <a:ext cx="54681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309360" y="4215384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09360" y="4215384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6583680" y="4187952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 (browser-native) in addition to VS Code extension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272784" y="4645152"/>
            <a:ext cx="5468112" cy="457200"/>
          </a:xfrm>
          <a:prstGeom prst="rect">
            <a:avLst/>
          </a:prstGeom>
          <a:solidFill>
            <a:srgbClr val="F0F5FB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309360" y="4690872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309360" y="4690872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6583680" y="466344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 + developer documentation for integration partners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272784" y="5120640"/>
            <a:ext cx="54681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309360" y="5166360"/>
            <a:ext cx="219456" cy="36576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309360" y="516636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6583680" y="5138928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· 3+ developers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94360"/>
            <a:ext cx="12188952" cy="45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"/>
            <a:ext cx="10817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&amp; Effort Summary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65760" y="603504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takes to reach enterprise-grade SaaS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91440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144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88720" y="914400"/>
            <a:ext cx="292608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914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0" y="914400"/>
            <a:ext cx="128016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914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94960" y="914400"/>
            <a:ext cx="118872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914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Size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0" y="914400"/>
            <a:ext cx="32918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Milestone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875520" y="914400"/>
            <a:ext cx="201168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21240" y="914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Weeks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1188720"/>
            <a:ext cx="91440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1887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88720" y="1188720"/>
            <a:ext cx="292608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1188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— stable extension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0" y="1188720"/>
            <a:ext cx="128016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0520" y="1188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weeks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394960" y="1188720"/>
            <a:ext cx="11887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1188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devs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583680" y="1188720"/>
            <a:ext cx="329184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1188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 · RTM · Session history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875520" y="1188720"/>
            <a:ext cx="201168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21240" y="1188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6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1463040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1463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188720" y="1463040"/>
            <a:ext cx="29260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34440" y="1463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Platform — backend service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14800" y="1463040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60520" y="1463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8–12 weeks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394960" y="1463040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40680" y="1463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devs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583680" y="1463040"/>
            <a:ext cx="3291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1463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· Async · Analytics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9875520" y="1463040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2124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18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1737360"/>
            <a:ext cx="91440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1737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188720" y="1737360"/>
            <a:ext cx="292608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34440" y="1737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— RBAC + cloud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114800" y="1737360"/>
            <a:ext cx="128016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60520" y="1737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12–16 weeks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394960" y="1737360"/>
            <a:ext cx="11887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40680" y="1737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devs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583680" y="1737360"/>
            <a:ext cx="329184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29400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· SSO · Multi-tenant · Cloud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9875520" y="1737360"/>
            <a:ext cx="201168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921240" y="1737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34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4320" y="2011680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20116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188720" y="2011680"/>
            <a:ext cx="29260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234440" y="20116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Governance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114800" y="2011680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60520" y="2011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8–10 weeks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394960" y="2011680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40680" y="2011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devs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583680" y="2011680"/>
            <a:ext cx="3291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2940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registry · Model eval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9875520" y="2011680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92124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44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74320" y="2286000"/>
            <a:ext cx="91440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0040" y="22860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1188720" y="2286000"/>
            <a:ext cx="292608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234440" y="22860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&amp; Compliance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114800" y="2286000"/>
            <a:ext cx="128016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60520" y="2286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5394960" y="2286000"/>
            <a:ext cx="11887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4068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 devs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583680" y="2286000"/>
            <a:ext cx="329184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629400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SOC2 · Kubernetes · Web app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9875520" y="2286000"/>
            <a:ext cx="201168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92124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45+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274320" y="37490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270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274320" y="3749040"/>
            <a:ext cx="2651760" cy="54864"/>
          </a:xfrm>
          <a:prstGeom prst="roundRect">
            <a:avLst>
              <a:gd name="adj" fmla="val 16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4320" y="385876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~32–34 weeks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274320" y="4480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Phase 3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(Enterprise Ready)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3273552" y="37490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blurRad="1270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3273552" y="3749040"/>
            <a:ext cx="2651760" cy="54864"/>
          </a:xfrm>
          <a:prstGeom prst="roundRect">
            <a:avLst>
              <a:gd name="adj" fmla="val 16666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273552" y="385876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~44 weeks</a:t>
            </a:r>
            <a:endParaRPr lang="en-US" sz="1800" dirty="0"/>
          </a:p>
        </p:txBody>
      </p:sp>
      <p:sp>
        <p:nvSpPr>
          <p:cNvPr id="86" name="Text 84"/>
          <p:cNvSpPr/>
          <p:nvPr/>
        </p:nvSpPr>
        <p:spPr>
          <a:xfrm>
            <a:off x="3273552" y="4480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Phase 4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 Governance)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6272784" y="37490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6C3483"/>
            </a:solidFill>
            <a:prstDash val="solid"/>
          </a:ln>
          <a:effectLst>
            <a:outerShdw blurRad="1270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272784" y="3749040"/>
            <a:ext cx="2651760" cy="54864"/>
          </a:xfrm>
          <a:prstGeom prst="roundRect">
            <a:avLst>
              <a:gd name="adj" fmla="val 166667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272784" y="385876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34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6–8 developers</a:t>
            </a:r>
            <a:endParaRPr lang="en-US" sz="1800" dirty="0"/>
          </a:p>
        </p:txBody>
      </p:sp>
      <p:sp>
        <p:nvSpPr>
          <p:cNvPr id="90" name="Text 88"/>
          <p:cNvSpPr/>
          <p:nvPr/>
        </p:nvSpPr>
        <p:spPr>
          <a:xfrm>
            <a:off x="6272784" y="4480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team needed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all phases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9272016" y="37490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1270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9272016" y="3749040"/>
            <a:ext cx="2651760" cy="54864"/>
          </a:xfrm>
          <a:prstGeom prst="roundRect">
            <a:avLst>
              <a:gd name="adj" fmla="val 16666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272016" y="385876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only</a:t>
            </a:r>
            <a:endParaRPr lang="en-US" sz="1800" dirty="0"/>
          </a:p>
        </p:txBody>
      </p:sp>
      <p:sp>
        <p:nvSpPr>
          <p:cNvPr id="94" name="Text 92"/>
          <p:cNvSpPr/>
          <p:nvPr/>
        </p:nvSpPr>
        <p:spPr>
          <a:xfrm>
            <a:off x="9272016" y="4480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Deployable 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weeks today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274320" y="5349240"/>
            <a:ext cx="11612880" cy="1234440"/>
          </a:xfrm>
          <a:prstGeom prst="roundRect">
            <a:avLst>
              <a:gd name="adj" fmla="val 5926"/>
            </a:avLst>
          </a:prstGeom>
          <a:solidFill>
            <a:srgbClr val="24355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48640" y="5440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INVESTMENT PRINCIPLE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548640" y="57424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is the highest ROI investment: 15 person-days of work removes the 4 most critical blockers (no audit log, data loss, no approval gate, no traceability). Every subsequent phase builds on this foundation. Skipping Phase 1 makes Phases 2–5 significantly riskier and more expensive.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94360"/>
            <a:ext cx="12188952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"/>
            <a:ext cx="10817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65760" y="603504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risks and mitigations by phase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347472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14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49040" y="914400"/>
            <a:ext cx="7772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91440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26280" y="914400"/>
            <a:ext cx="10058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914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32120" y="914400"/>
            <a:ext cx="118872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914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Fix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20840" y="914400"/>
            <a:ext cx="516636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91440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188720"/>
            <a:ext cx="34747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188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loss on VS Code uninstall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49040" y="1188720"/>
            <a:ext cx="77724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11887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26280" y="1188720"/>
            <a:ext cx="100584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1188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532120" y="1188720"/>
            <a:ext cx="11887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1188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720840" y="1188720"/>
            <a:ext cx="516636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11887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history + persistent export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1463040"/>
            <a:ext cx="3474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1463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audit log — compliance failure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749040" y="1463040"/>
            <a:ext cx="777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94760" y="146304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26280" y="1463040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1463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532120" y="1463040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1463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20840" y="1463040"/>
            <a:ext cx="5166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14630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2-day implementation removes this entirely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1737360"/>
            <a:ext cx="34747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 via malicious document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749040" y="1737360"/>
            <a:ext cx="77724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94760" y="173736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26280" y="1737360"/>
            <a:ext cx="100584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532120" y="1737360"/>
            <a:ext cx="11887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77840" y="1737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720840" y="1737360"/>
            <a:ext cx="516636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66560" y="173736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sanitization before LLM calls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74320" y="2011680"/>
            <a:ext cx="3474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2011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cost overrun — no budget cap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749040" y="2011680"/>
            <a:ext cx="777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94760" y="20116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526280" y="2011680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0" y="2011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532120" y="2011680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77840" y="2011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1–4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720840" y="2011680"/>
            <a:ext cx="5166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66560" y="201168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token display. Phase 4: org budget enforcement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74320" y="2286000"/>
            <a:ext cx="34747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2286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rejection — no SSO/RBAC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749040" y="2286000"/>
            <a:ext cx="77724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94760" y="228600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526280" y="2286000"/>
            <a:ext cx="100584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532120" y="2286000"/>
            <a:ext cx="11887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57784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720840" y="2286000"/>
            <a:ext cx="516636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66560" y="228600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+ SAML SSO is Phase 3 deliverable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74320" y="2560320"/>
            <a:ext cx="3474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0040" y="2560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releases AI generation feature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749040" y="2560320"/>
            <a:ext cx="777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94760" y="25603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526280" y="2560320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5532120" y="2560320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577840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720840" y="2560320"/>
            <a:ext cx="5166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766560" y="25603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 RTM + collaboration to widen lead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274320" y="2834640"/>
            <a:ext cx="34747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0040" y="2834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TraceLMPanel regression during refactor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3749040" y="2834640"/>
            <a:ext cx="77724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794760" y="283464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4526280" y="2834640"/>
            <a:ext cx="100584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57200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5532120" y="2834640"/>
            <a:ext cx="11887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577840" y="2834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6720840" y="2834640"/>
            <a:ext cx="516636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766560" y="28346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integration tests before decomposition starts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274320" y="3108960"/>
            <a:ext cx="3474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20040" y="3108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quality regression on prompt changes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3749040" y="3108960"/>
            <a:ext cx="777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794760" y="310896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4526280" y="3108960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572000" y="3108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5532120" y="3108960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577840" y="3108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6720840" y="3108960"/>
            <a:ext cx="5166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766560" y="310896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Registry + regression test suite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274320" y="3383280"/>
            <a:ext cx="34747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20040" y="3383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audit fails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3749040" y="3383280"/>
            <a:ext cx="77724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794760" y="33832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4526280" y="3383280"/>
            <a:ext cx="100584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572000" y="3383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5532120" y="3383280"/>
            <a:ext cx="118872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577840" y="3383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1–3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6720840" y="3383280"/>
            <a:ext cx="516636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766560" y="338328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 (Ph1) + RBAC (Ph3) + pen test (Ph5)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274320" y="3657600"/>
            <a:ext cx="3474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20040" y="3657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Single-tenant architecture blocks growth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3749040" y="3657600"/>
            <a:ext cx="777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794760" y="365760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4526280" y="3657600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572000" y="3657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5532120" y="3657600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577840" y="3657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6720840" y="3657600"/>
            <a:ext cx="5166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766560" y="365760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PostgreSQL RLS migration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43556"/>
          </a:solidFill>
          <a:ln w="12700">
            <a:solidFill>
              <a:srgbClr val="2435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45936"/>
            <a:ext cx="12188952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&amp; Ask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2004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1E3A5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88720"/>
            <a:ext cx="365760" cy="1097280"/>
          </a:xfrm>
          <a:prstGeom prst="roundRect">
            <a:avLst>
              <a:gd name="adj" fmla="val 20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188720"/>
            <a:ext cx="182880" cy="10972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8016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1261872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Phase 1 immediately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1627632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person-days. Removes 4 critical risks. Can start this sprint. No new infrastructure required.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1E3A5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23160"/>
            <a:ext cx="365760" cy="109728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423160"/>
            <a:ext cx="18288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1460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2496312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 Phase 2 budget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862072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developers for 8–12 weeks. Delivers the backend foundation every future feature depends 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1E3A5A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657600"/>
            <a:ext cx="365760" cy="109728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657600"/>
            <a:ext cx="182880" cy="10972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4904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3730752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to Phase 3 roadmap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4096512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+ SSO + cloud deployment. This is the gate to enterprise sales. Needed within 34 weeks.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89204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1E3A5A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892040"/>
            <a:ext cx="365760" cy="1097280"/>
          </a:xfrm>
          <a:prstGeom prst="roundRect">
            <a:avLst>
              <a:gd name="adj" fmla="val 20000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892040"/>
            <a:ext cx="182880" cy="10972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98348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0120" y="4965192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 the AI differentiation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" y="5330952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TraceLM's AI stack is unique in the market. Invest in the Prompt Registry and evaluation framework to protect that lead.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419088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2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vision is strong. The architecture needs to catch up to it. Phase 1 starts that journey.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01568"/>
            <a:ext cx="12188952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TraceLM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2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AI-Powered Extension to Enterprise Test Intelligence Platform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3246120"/>
            <a:ext cx="576072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4290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6309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  ·  Principal Architect Assessment  ·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2388</Words>
  <Application>Microsoft Office PowerPoint</Application>
  <PresentationFormat>Widescreen</PresentationFormat>
  <Paragraphs>550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Ariel Cesar Abaoag</cp:lastModifiedBy>
  <cp:revision>3</cp:revision>
  <dcterms:created xsi:type="dcterms:W3CDTF">2026-06-23T05:46:38Z</dcterms:created>
  <dcterms:modified xsi:type="dcterms:W3CDTF">2026-06-23T05:48:59Z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ab519c6-9f13-416b-ad6c-a79673c31c3f_Enabled">
    <vt:lpwstr>true</vt:lpwstr>
  </property>
  <property fmtid="{D5CDD505-2E9C-101B-9397-08002B2CF9AE}" pid="3" name="MSIP_Label_1ab519c6-9f13-416b-ad6c-a79673c31c3f_SetDate">
    <vt:lpwstr>2026-06-23T05:47:43Z</vt:lpwstr>
  </property>
  <property fmtid="{D5CDD505-2E9C-101B-9397-08002B2CF9AE}" pid="4" name="MSIP_Label_1ab519c6-9f13-416b-ad6c-a79673c31c3f_Method">
    <vt:lpwstr>Privileged</vt:lpwstr>
  </property>
  <property fmtid="{D5CDD505-2E9C-101B-9397-08002B2CF9AE}" pid="5" name="MSIP_Label_1ab519c6-9f13-416b-ad6c-a79673c31c3f_Name">
    <vt:lpwstr>Company Confidential External Use</vt:lpwstr>
  </property>
  <property fmtid="{D5CDD505-2E9C-101B-9397-08002B2CF9AE}" pid="6" name="MSIP_Label_1ab519c6-9f13-416b-ad6c-a79673c31c3f_SiteId">
    <vt:lpwstr>edf442f5-b994-4c86-a131-b42b03a16c95</vt:lpwstr>
  </property>
  <property fmtid="{D5CDD505-2E9C-101B-9397-08002B2CF9AE}" pid="7" name="MSIP_Label_1ab519c6-9f13-416b-ad6c-a79673c31c3f_ActionId">
    <vt:lpwstr>6561369c-d612-41e2-b9f9-25c1ef5f6da6</vt:lpwstr>
  </property>
  <property fmtid="{D5CDD505-2E9C-101B-9397-08002B2CF9AE}" pid="8" name="MSIP_Label_1ab519c6-9f13-416b-ad6c-a79673c31c3f_ContentBits">
    <vt:lpwstr>0</vt:lpwstr>
  </property>
</Properties>
</file>